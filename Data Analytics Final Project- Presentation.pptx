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sldIdLst>
    <p:sldId id="256" r:id="rId12"/>
    <p:sldId id="257" r:id="rId13"/>
    <p:sldId id="258" r:id="rId14"/>
    <p:sldId id="259" r:id="rId15"/>
    <p:sldId id="260" r:id="rId16"/>
    <p:sldId id="261" r:id="rId17"/>
    <p:sldId id="262" r:id="rId18"/>
    <p:sldId id="263" r:id="rId19"/>
    <p:sldId id="264" r:id="rId20"/>
    <p:sldId id="265" r:id="rId21"/>
    <p:sldId id="266" r:id="rId22"/>
    <p:sldId id="268" r:id="rId23"/>
    <p:sldId id="269" r:id="rId24"/>
    <p:sldId id="271" r:id="rId25"/>
    <p:sldId id="272" r:id="rId26"/>
    <p:sldId id="270" r:id="rId27"/>
    <p:sldId id="273" r:id="rId28"/>
    <p:sldId id="274" r:id="rId29"/>
    <p:sldId id="267" r:id="rId30"/>
    <p:sldId id="275" r:id="rId31"/>
    <p:sldId id="276" r:id="rId32"/>
    <p:sldId id="277" r:id="rId33"/>
  </p:sldIdLst>
  <p:sldSz cx="18288000" cy="10287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21" Type="http://schemas.openxmlformats.org/officeDocument/2006/relationships/slide" Target="slides/slide10.xml"/><Relationship Id="rId34"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5" name="PlaceHolder 2"/>
          <p:cNvSpPr>
            <a:spLocks noGrp="1"/>
          </p:cNvSpPr>
          <p:nvPr>
            <p:ph type="subTitle"/>
          </p:nvPr>
        </p:nvSpPr>
        <p:spPr>
          <a:xfrm>
            <a:off x="914400" y="2406960"/>
            <a:ext cx="16458840" cy="596592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2" name="PlaceHolder 3"/>
          <p:cNvSpPr>
            <a:spLocks noGrp="1"/>
          </p:cNvSpPr>
          <p:nvPr>
            <p:ph type="ftr" idx="2"/>
          </p:nvPr>
        </p:nvSpPr>
        <p:spPr/>
        <p:txBody>
          <a:bodyPr/>
          <a:lstStyle/>
          <a:p>
            <a:r>
              <a:t>Footer</a:t>
            </a:r>
          </a:p>
        </p:txBody>
      </p:sp>
      <p:sp>
        <p:nvSpPr>
          <p:cNvPr id="3" name="PlaceHolder 4"/>
          <p:cNvSpPr>
            <a:spLocks noGrp="1"/>
          </p:cNvSpPr>
          <p:nvPr>
            <p:ph type="sldNum" idx="3"/>
          </p:nvPr>
        </p:nvSpPr>
        <p:spPr/>
        <p:txBody>
          <a:bodyPr/>
          <a:lstStyle/>
          <a:p>
            <a:fld id="{1E220F46-B2F9-4518-8DF8-8C6CD99F5B92}"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84F7564F-4C7E-425E-9BCD-E8F6BE90CCF2}"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2FDB8EEC-16C7-47C5-87CD-A0CC4E770A03}"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22" name="PlaceHolder 2"/>
          <p:cNvSpPr>
            <a:spLocks noGrp="1"/>
          </p:cNvSpPr>
          <p:nvPr>
            <p:ph/>
          </p:nvPr>
        </p:nvSpPr>
        <p:spPr>
          <a:xfrm>
            <a:off x="914400" y="2406960"/>
            <a:ext cx="1645884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chemeClr val="dk1"/>
              </a:solidFill>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A4A41462-885C-4E6A-8AA7-80A1C1586173}"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lstStyle/>
          <a:p>
            <a:r>
              <a:t>Footer</a:t>
            </a:r>
          </a:p>
        </p:txBody>
      </p:sp>
      <p:sp>
        <p:nvSpPr>
          <p:cNvPr id="3" name="PlaceHolder 2"/>
          <p:cNvSpPr>
            <a:spLocks noGrp="1"/>
          </p:cNvSpPr>
          <p:nvPr>
            <p:ph type="sldNum" idx="15"/>
          </p:nvPr>
        </p:nvSpPr>
        <p:spPr/>
        <p:txBody>
          <a:bodyPr/>
          <a:lstStyle/>
          <a:p>
            <a:fld id="{498C4725-0E4C-47E0-BF51-34E106C45E16}" type="slidenum">
              <a:t>‹#›</a:t>
            </a:fld>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5" name="PlaceHolder 2"/>
          <p:cNvSpPr>
            <a:spLocks noGrp="1"/>
          </p:cNvSpPr>
          <p:nvPr>
            <p:ph/>
          </p:nvPr>
        </p:nvSpPr>
        <p:spPr>
          <a:xfrm>
            <a:off x="914400" y="2406960"/>
            <a:ext cx="803160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chemeClr val="dk1"/>
              </a:solidFill>
              <a:latin typeface="Calibri"/>
            </a:endParaRPr>
          </a:p>
        </p:txBody>
      </p:sp>
      <p:sp>
        <p:nvSpPr>
          <p:cNvPr id="36" name="PlaceHolder 3"/>
          <p:cNvSpPr>
            <a:spLocks noGrp="1"/>
          </p:cNvSpPr>
          <p:nvPr>
            <p:ph/>
          </p:nvPr>
        </p:nvSpPr>
        <p:spPr>
          <a:xfrm>
            <a:off x="9348120" y="2406960"/>
            <a:ext cx="803160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chemeClr val="dk1"/>
              </a:solidFill>
              <a:latin typeface="Calibri"/>
            </a:endParaRPr>
          </a:p>
        </p:txBody>
      </p:sp>
      <p:sp>
        <p:nvSpPr>
          <p:cNvPr id="5" name="PlaceHolder 4"/>
          <p:cNvSpPr>
            <a:spLocks noGrp="1"/>
          </p:cNvSpPr>
          <p:nvPr>
            <p:ph type="ftr" idx="17"/>
          </p:nvPr>
        </p:nvSpPr>
        <p:spPr/>
        <p:txBody>
          <a:bodyPr/>
          <a:lstStyle/>
          <a:p>
            <a:r>
              <a:t>Footer</a:t>
            </a:r>
          </a:p>
        </p:txBody>
      </p:sp>
      <p:sp>
        <p:nvSpPr>
          <p:cNvPr id="6" name="PlaceHolder 5"/>
          <p:cNvSpPr>
            <a:spLocks noGrp="1"/>
          </p:cNvSpPr>
          <p:nvPr>
            <p:ph type="sldNum" idx="18"/>
          </p:nvPr>
        </p:nvSpPr>
        <p:spPr/>
        <p:txBody>
          <a:bodyPr/>
          <a:lstStyle/>
          <a:p>
            <a:fld id="{2ACF1628-A7EF-48C0-9238-EB1B2E4C62DF}" type="slidenum">
              <a:t>‹#›</a:t>
            </a:fld>
            <a:endParaRPr/>
          </a:p>
        </p:txBody>
      </p:sp>
      <p:sp>
        <p:nvSpPr>
          <p:cNvPr id="7" name="PlaceHolder 6"/>
          <p:cNvSpPr>
            <a:spLocks noGrp="1"/>
          </p:cNvSpPr>
          <p:nvPr>
            <p:ph type="dt" idx="16"/>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lstStyle/>
          <a:p>
            <a:r>
              <a:t>Footer</a:t>
            </a:r>
          </a:p>
        </p:txBody>
      </p:sp>
      <p:sp>
        <p:nvSpPr>
          <p:cNvPr id="3" name="PlaceHolder 2"/>
          <p:cNvSpPr>
            <a:spLocks noGrp="1"/>
          </p:cNvSpPr>
          <p:nvPr>
            <p:ph type="sldNum" idx="21"/>
          </p:nvPr>
        </p:nvSpPr>
        <p:spPr/>
        <p:txBody>
          <a:bodyPr/>
          <a:lstStyle/>
          <a:p>
            <a:fld id="{0FAD4436-D33B-4223-84A8-BA236676372E}" type="slidenum">
              <a:t>‹#›</a:t>
            </a:fld>
            <a:endParaRPr/>
          </a:p>
        </p:txBody>
      </p:sp>
      <p:sp>
        <p:nvSpPr>
          <p:cNvPr id="4" name="PlaceHolder 3"/>
          <p:cNvSpPr>
            <a:spLocks noGrp="1"/>
          </p:cNvSpPr>
          <p:nvPr>
            <p:ph type="dt" idx="19"/>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 name="PlaceHolder 2"/>
          <p:cNvSpPr>
            <a:spLocks noGrp="1"/>
          </p:cNvSpPr>
          <p:nvPr>
            <p:ph type="ftr" idx="23"/>
          </p:nvPr>
        </p:nvSpPr>
        <p:spPr/>
        <p:txBody>
          <a:bodyPr/>
          <a:lstStyle/>
          <a:p>
            <a:r>
              <a:t>Footer</a:t>
            </a:r>
          </a:p>
        </p:txBody>
      </p:sp>
      <p:sp>
        <p:nvSpPr>
          <p:cNvPr id="4" name="PlaceHolder 3"/>
          <p:cNvSpPr>
            <a:spLocks noGrp="1"/>
          </p:cNvSpPr>
          <p:nvPr>
            <p:ph type="sldNum" idx="24"/>
          </p:nvPr>
        </p:nvSpPr>
        <p:spPr/>
        <p:txBody>
          <a:bodyPr/>
          <a:lstStyle/>
          <a:p>
            <a:fld id="{B999C790-282F-409D-9944-EA332438C335}" type="slidenum">
              <a:t>‹#›</a:t>
            </a:fld>
            <a:endParaRPr/>
          </a:p>
        </p:txBody>
      </p:sp>
      <p:sp>
        <p:nvSpPr>
          <p:cNvPr id="5" name="PlaceHolder 4"/>
          <p:cNvSpPr>
            <a:spLocks noGrp="1"/>
          </p:cNvSpPr>
          <p:nvPr>
            <p:ph type="dt" idx="22"/>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5AC149A3-B43A-4892-B5F1-790E64972976}" type="slidenum">
              <a:t>‹#›</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lstStyle/>
          <a:p>
            <a:r>
              <a:t>Footer</a:t>
            </a:r>
          </a:p>
        </p:txBody>
      </p:sp>
      <p:sp>
        <p:nvSpPr>
          <p:cNvPr id="3" name="PlaceHolder 2"/>
          <p:cNvSpPr>
            <a:spLocks noGrp="1"/>
          </p:cNvSpPr>
          <p:nvPr>
            <p:ph type="sldNum" idx="30"/>
          </p:nvPr>
        </p:nvSpPr>
        <p:spPr/>
        <p:txBody>
          <a:bodyPr/>
          <a:lstStyle/>
          <a:p>
            <a:fld id="{AAAD9E38-E3C6-4A17-8822-D27BF5C3598B}" type="slidenum">
              <a:t>‹#›</a:t>
            </a:fld>
            <a:endParaRPr/>
          </a:p>
        </p:txBody>
      </p:sp>
      <p:sp>
        <p:nvSpPr>
          <p:cNvPr id="4" name="PlaceHolder 3"/>
          <p:cNvSpPr>
            <a:spLocks noGrp="1"/>
          </p:cNvSpPr>
          <p:nvPr>
            <p:ph type="dt" idx="28"/>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lstStyle/>
          <a:p>
            <a:r>
              <a:t>Footer</a:t>
            </a:r>
          </a:p>
        </p:txBody>
      </p:sp>
      <p:sp>
        <p:nvSpPr>
          <p:cNvPr id="3" name="PlaceHolder 2"/>
          <p:cNvSpPr>
            <a:spLocks noGrp="1"/>
          </p:cNvSpPr>
          <p:nvPr>
            <p:ph type="sldNum" idx="33"/>
          </p:nvPr>
        </p:nvSpPr>
        <p:spPr/>
        <p:txBody>
          <a:bodyPr/>
          <a:lstStyle/>
          <a:p>
            <a:fld id="{0265D65E-C067-401A-ACB5-E57D7032DDB6}" type="slidenum">
              <a:t>‹#›</a:t>
            </a:fld>
            <a:endParaRPr/>
          </a:p>
        </p:txBody>
      </p:sp>
      <p:sp>
        <p:nvSpPr>
          <p:cNvPr id="4" name="PlaceHolder 3"/>
          <p:cNvSpPr>
            <a:spLocks noGrp="1"/>
          </p:cNvSpPr>
          <p:nvPr>
            <p:ph type="dt" idx="3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5"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E6F87225-2FD2-4B07-A575-62C4DDF05270}"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9144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65FAA6E8-2BE4-41B4-ADB4-276AE4813AAF}"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9144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FF874C07-A042-4E05-ACBD-228145BF7C6C}"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9144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CCC45742-DD08-4E52-B935-F5209E11FBB8}"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p>
            <a:pPr indent="0" defTabSz="914400">
              <a:lnSpc>
                <a:spcPct val="100000"/>
              </a:lnSpc>
              <a:buNone/>
            </a:pPr>
            <a:r>
              <a:rPr lang="en-US" sz="4000" b="1" strike="noStrike" cap="all" spc="-1">
                <a:solidFill>
                  <a:schemeClr val="dk1"/>
                </a:solidFill>
                <a:latin typeface="Calibri"/>
              </a:rPr>
              <a:t>Click to edit Master title style</a:t>
            </a:r>
            <a:endParaRPr lang="en-US" sz="4000" b="0" strike="noStrike" spc="-1">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p>
            <a:pPr indent="0" defTabSz="914400">
              <a:lnSpc>
                <a:spcPct val="100000"/>
              </a:lnSpc>
              <a:spcBef>
                <a:spcPts val="400"/>
              </a:spcBef>
              <a:buNone/>
              <a:tabLst>
                <a:tab pos="0" algn="l"/>
              </a:tabLst>
            </a:pPr>
            <a:r>
              <a:rPr lang="en-US" sz="2000" b="0" strike="noStrike" spc="-1">
                <a:solidFill>
                  <a:schemeClr val="dk1">
                    <a:tint val="75000"/>
                  </a:schemeClr>
                </a:solidFill>
                <a:latin typeface="Calibri"/>
              </a:rPr>
              <a:t>Click to edit Master text styles</a:t>
            </a:r>
            <a:endParaRPr lang="en-US" sz="2000" b="0" strike="noStrike" spc="-1">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3822D1DA-D74E-4BEA-B38B-6A60E86D1376}"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p>
            <a:pPr marL="343080" indent="-343080" defTabSz="914400">
              <a:lnSpc>
                <a:spcPct val="100000"/>
              </a:lnSpc>
              <a:spcBef>
                <a:spcPts val="561"/>
              </a:spcBef>
              <a:buClr>
                <a:srgbClr val="000000"/>
              </a:buClr>
              <a:buFont typeface="Arial"/>
              <a:buChar char="•"/>
            </a:pPr>
            <a:r>
              <a:rPr lang="en-US" sz="2800" b="0" strike="noStrike" spc="-1">
                <a:solidFill>
                  <a:schemeClr val="dk1"/>
                </a:solidFill>
                <a:latin typeface="Calibri"/>
              </a:rPr>
              <a:t>Click to edit Master text styles</a:t>
            </a:r>
          </a:p>
          <a:p>
            <a:pPr marL="743040" lvl="1" indent="-285840" defTabSz="914400">
              <a:lnSpc>
                <a:spcPct val="100000"/>
              </a:lnSpc>
              <a:spcBef>
                <a:spcPts val="479"/>
              </a:spcBef>
              <a:buClr>
                <a:srgbClr val="000000"/>
              </a:buClr>
              <a:buFont typeface="Arial"/>
              <a:buChar char="–"/>
            </a:pPr>
            <a:r>
              <a:rPr lang="en-US" sz="2400" b="0" strike="noStrike" spc="-1">
                <a:solidFill>
                  <a:schemeClr val="dk1"/>
                </a:solidFill>
                <a:latin typeface="Calibri"/>
              </a:rPr>
              <a:t>Second level</a:t>
            </a:r>
          </a:p>
          <a:p>
            <a:pPr marL="1143000" lvl="2"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Third level</a:t>
            </a:r>
          </a:p>
          <a:p>
            <a:pPr marL="1600200" lvl="3"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Fourth level</a:t>
            </a:r>
          </a:p>
          <a:p>
            <a:pPr marL="2057400" lvl="4"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Fifth level</a:t>
            </a: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p>
            <a:pPr marL="343080" indent="-343080" defTabSz="914400">
              <a:lnSpc>
                <a:spcPct val="100000"/>
              </a:lnSpc>
              <a:spcBef>
                <a:spcPts val="561"/>
              </a:spcBef>
              <a:buClr>
                <a:srgbClr val="000000"/>
              </a:buClr>
              <a:buFont typeface="Arial"/>
              <a:buChar char="•"/>
            </a:pPr>
            <a:r>
              <a:rPr lang="en-US" sz="2800" b="0" strike="noStrike" spc="-1">
                <a:solidFill>
                  <a:schemeClr val="dk1"/>
                </a:solidFill>
                <a:latin typeface="Calibri"/>
              </a:rPr>
              <a:t>Click to edit Master text styles</a:t>
            </a:r>
          </a:p>
          <a:p>
            <a:pPr marL="743040" lvl="1" indent="-285840" defTabSz="914400">
              <a:lnSpc>
                <a:spcPct val="100000"/>
              </a:lnSpc>
              <a:spcBef>
                <a:spcPts val="479"/>
              </a:spcBef>
              <a:buClr>
                <a:srgbClr val="000000"/>
              </a:buClr>
              <a:buFont typeface="Arial"/>
              <a:buChar char="–"/>
            </a:pPr>
            <a:r>
              <a:rPr lang="en-US" sz="2400" b="0" strike="noStrike" spc="-1">
                <a:solidFill>
                  <a:schemeClr val="dk1"/>
                </a:solidFill>
                <a:latin typeface="Calibri"/>
              </a:rPr>
              <a:t>Second level</a:t>
            </a:r>
          </a:p>
          <a:p>
            <a:pPr marL="1143000" lvl="2"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Third level</a:t>
            </a:r>
          </a:p>
          <a:p>
            <a:pPr marL="1600200" lvl="3"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Fourth level</a:t>
            </a:r>
          </a:p>
          <a:p>
            <a:pPr marL="2057400" lvl="4"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Fifth level</a:t>
            </a: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45EBB2B1-30A8-4251-925B-78E53B4FF9F2}"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p>
            <a:pPr indent="0" defTabSz="914400">
              <a:lnSpc>
                <a:spcPct val="100000"/>
              </a:lnSpc>
              <a:spcBef>
                <a:spcPts val="479"/>
              </a:spcBef>
              <a:buNone/>
              <a:tabLst>
                <a:tab pos="0" algn="l"/>
              </a:tabLst>
            </a:pPr>
            <a:r>
              <a:rPr lang="en-US" sz="2400" b="1" strike="noStrike" spc="-1">
                <a:solidFill>
                  <a:schemeClr val="dk1"/>
                </a:solidFill>
                <a:latin typeface="Calibri"/>
              </a:rPr>
              <a:t>Click to edit Master text styles</a:t>
            </a:r>
            <a:endParaRPr lang="en-US" sz="2400" b="0" strike="noStrike" spc="-1">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p>
            <a:pPr marL="343080" indent="-343080" defTabSz="914400">
              <a:lnSpc>
                <a:spcPct val="100000"/>
              </a:lnSpc>
              <a:spcBef>
                <a:spcPts val="479"/>
              </a:spcBef>
              <a:buClr>
                <a:srgbClr val="000000"/>
              </a:buClr>
              <a:buFont typeface="Arial"/>
              <a:buChar char="•"/>
            </a:pPr>
            <a:r>
              <a:rPr lang="en-US" sz="2400" b="0" strike="noStrike" spc="-1">
                <a:solidFill>
                  <a:schemeClr val="dk1"/>
                </a:solidFill>
                <a:latin typeface="Calibri"/>
              </a:rPr>
              <a:t>Click to edit Master text styles</a:t>
            </a:r>
          </a:p>
          <a:p>
            <a:pPr marL="743040" lvl="1" indent="-285840" defTabSz="914400">
              <a:lnSpc>
                <a:spcPct val="100000"/>
              </a:lnSpc>
              <a:spcBef>
                <a:spcPts val="400"/>
              </a:spcBef>
              <a:buClr>
                <a:srgbClr val="000000"/>
              </a:buClr>
              <a:buFont typeface="Arial"/>
              <a:buChar char="–"/>
            </a:pPr>
            <a:r>
              <a:rPr lang="en-US" sz="2000" b="0" strike="noStrike" spc="-1">
                <a:solidFill>
                  <a:schemeClr val="dk1"/>
                </a:solidFill>
                <a:latin typeface="Calibri"/>
              </a:rPr>
              <a:t>Second level</a:t>
            </a:r>
          </a:p>
          <a:p>
            <a:pPr marL="1143000" lvl="2"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Third level</a:t>
            </a:r>
          </a:p>
          <a:p>
            <a:pPr marL="1600200" lvl="3" indent="-228600" defTabSz="914400">
              <a:lnSpc>
                <a:spcPct val="100000"/>
              </a:lnSpc>
              <a:spcBef>
                <a:spcPts val="320"/>
              </a:spcBef>
              <a:buClr>
                <a:srgbClr val="000000"/>
              </a:buClr>
              <a:buFont typeface="Arial"/>
              <a:buChar char="–"/>
            </a:pPr>
            <a:r>
              <a:rPr lang="en-US" sz="1600" b="0" strike="noStrike" spc="-1">
                <a:solidFill>
                  <a:schemeClr val="dk1"/>
                </a:solidFill>
                <a:latin typeface="Calibri"/>
              </a:rPr>
              <a:t>Fourth level</a:t>
            </a:r>
          </a:p>
          <a:p>
            <a:pPr marL="2057400" lvl="4" indent="-228600" defTabSz="914400">
              <a:lnSpc>
                <a:spcPct val="100000"/>
              </a:lnSpc>
              <a:spcBef>
                <a:spcPts val="320"/>
              </a:spcBef>
              <a:buClr>
                <a:srgbClr val="000000"/>
              </a:buClr>
              <a:buFont typeface="Arial"/>
              <a:buChar char="»"/>
            </a:pPr>
            <a:r>
              <a:rPr lang="en-US" sz="1600" b="0" strike="noStrike" spc="-1">
                <a:solidFill>
                  <a:schemeClr val="dk1"/>
                </a:solidFill>
                <a:latin typeface="Calibri"/>
              </a:rPr>
              <a:t>Fifth level</a:t>
            </a: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p>
            <a:pPr indent="0" defTabSz="914400">
              <a:lnSpc>
                <a:spcPct val="100000"/>
              </a:lnSpc>
              <a:spcBef>
                <a:spcPts val="479"/>
              </a:spcBef>
              <a:buNone/>
              <a:tabLst>
                <a:tab pos="0" algn="l"/>
              </a:tabLst>
            </a:pPr>
            <a:r>
              <a:rPr lang="en-US" sz="2400" b="1" strike="noStrike" spc="-1">
                <a:solidFill>
                  <a:schemeClr val="dk1"/>
                </a:solidFill>
                <a:latin typeface="Calibri"/>
              </a:rPr>
              <a:t>Click to edit Master text styles</a:t>
            </a:r>
            <a:endParaRPr lang="en-US" sz="2400" b="0" strike="noStrike" spc="-1">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p>
            <a:pPr marL="343080" indent="-343080" defTabSz="914400">
              <a:lnSpc>
                <a:spcPct val="100000"/>
              </a:lnSpc>
              <a:spcBef>
                <a:spcPts val="479"/>
              </a:spcBef>
              <a:buClr>
                <a:srgbClr val="000000"/>
              </a:buClr>
              <a:buFont typeface="Arial"/>
              <a:buChar char="•"/>
            </a:pPr>
            <a:r>
              <a:rPr lang="en-US" sz="2400" b="0" strike="noStrike" spc="-1">
                <a:solidFill>
                  <a:schemeClr val="dk1"/>
                </a:solidFill>
                <a:latin typeface="Calibri"/>
              </a:rPr>
              <a:t>Click to edit Master text styles</a:t>
            </a:r>
          </a:p>
          <a:p>
            <a:pPr marL="743040" lvl="1" indent="-285840" defTabSz="914400">
              <a:lnSpc>
                <a:spcPct val="100000"/>
              </a:lnSpc>
              <a:spcBef>
                <a:spcPts val="400"/>
              </a:spcBef>
              <a:buClr>
                <a:srgbClr val="000000"/>
              </a:buClr>
              <a:buFont typeface="Arial"/>
              <a:buChar char="–"/>
            </a:pPr>
            <a:r>
              <a:rPr lang="en-US" sz="2000" b="0" strike="noStrike" spc="-1">
                <a:solidFill>
                  <a:schemeClr val="dk1"/>
                </a:solidFill>
                <a:latin typeface="Calibri"/>
              </a:rPr>
              <a:t>Second level</a:t>
            </a:r>
          </a:p>
          <a:p>
            <a:pPr marL="1143000" lvl="2"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Third level</a:t>
            </a:r>
          </a:p>
          <a:p>
            <a:pPr marL="1600200" lvl="3" indent="-228600" defTabSz="914400">
              <a:lnSpc>
                <a:spcPct val="100000"/>
              </a:lnSpc>
              <a:spcBef>
                <a:spcPts val="320"/>
              </a:spcBef>
              <a:buClr>
                <a:srgbClr val="000000"/>
              </a:buClr>
              <a:buFont typeface="Arial"/>
              <a:buChar char="–"/>
            </a:pPr>
            <a:r>
              <a:rPr lang="en-US" sz="1600" b="0" strike="noStrike" spc="-1">
                <a:solidFill>
                  <a:schemeClr val="dk1"/>
                </a:solidFill>
                <a:latin typeface="Calibri"/>
              </a:rPr>
              <a:t>Fourth level</a:t>
            </a:r>
          </a:p>
          <a:p>
            <a:pPr marL="2057400" lvl="4" indent="-228600" defTabSz="914400">
              <a:lnSpc>
                <a:spcPct val="100000"/>
              </a:lnSpc>
              <a:spcBef>
                <a:spcPts val="320"/>
              </a:spcBef>
              <a:buClr>
                <a:srgbClr val="000000"/>
              </a:buClr>
              <a:buFont typeface="Arial"/>
              <a:buChar char="»"/>
            </a:pPr>
            <a:r>
              <a:rPr lang="en-US" sz="1600" b="0" strike="noStrike" spc="-1">
                <a:solidFill>
                  <a:schemeClr val="dk1"/>
                </a:solidFill>
                <a:latin typeface="Calibri"/>
              </a:rPr>
              <a:t>Fifth level</a:t>
            </a: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D65BCB40-73CE-4556-827E-DC6D55630EDD}"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3ACD47CA-3A79-4980-BFB2-E2BF6412F545}"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FCF24764-ACCE-401D-AB6B-21EAAE861A2C}"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53" name="PlaceHolder 4"/>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54"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p>
            <a:pPr indent="0" defTabSz="914400">
              <a:lnSpc>
                <a:spcPct val="100000"/>
              </a:lnSpc>
              <a:buNone/>
            </a:pPr>
            <a:r>
              <a:rPr lang="en-US" sz="2000" b="1" strike="noStrike" spc="-1">
                <a:solidFill>
                  <a:schemeClr val="dk1"/>
                </a:solidFill>
                <a:latin typeface="Calibri"/>
              </a:rPr>
              <a:t>Click to edit Master title style</a:t>
            </a:r>
            <a:endParaRPr lang="en-US" sz="2000" b="0" strike="noStrike" spc="-1">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9144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p>
            <a:pPr indent="0" defTabSz="914400">
              <a:lnSpc>
                <a:spcPct val="100000"/>
              </a:lnSpc>
              <a:spcBef>
                <a:spcPts val="281"/>
              </a:spcBef>
              <a:buNone/>
              <a:tabLst>
                <a:tab pos="0" algn="l"/>
              </a:tabLst>
            </a:pPr>
            <a:r>
              <a:rPr lang="en-US" sz="1400" b="0" strike="noStrike" spc="-1">
                <a:solidFill>
                  <a:schemeClr val="dk1"/>
                </a:solidFill>
                <a:latin typeface="Calibri"/>
              </a:rPr>
              <a:t>Click to edit Master text styles</a:t>
            </a: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ABD9F957-42B5-465E-96C4-60987D7F2122}"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p>
            <a:pPr indent="0" defTabSz="914400">
              <a:lnSpc>
                <a:spcPct val="100000"/>
              </a:lnSpc>
              <a:buNone/>
            </a:pPr>
            <a:r>
              <a:rPr lang="en-US" sz="2000" b="1" strike="noStrike" spc="-1">
                <a:solidFill>
                  <a:schemeClr val="dk1"/>
                </a:solidFill>
                <a:latin typeface="Calibri"/>
              </a:rPr>
              <a:t>Click to edit Master title style</a:t>
            </a:r>
            <a:endParaRPr lang="en-US" sz="2000" b="0" strike="noStrike" spc="-1">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32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32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32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32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32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3200" b="0" strike="noStrike" spc="-1">
                <a:solidFill>
                  <a:schemeClr val="dk1"/>
                </a:solidFill>
                <a:latin typeface="Calibri"/>
              </a:rPr>
              <a:t>Seventh Outline Level</a:t>
            </a: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p>
            <a:pPr indent="0" defTabSz="914400">
              <a:lnSpc>
                <a:spcPct val="100000"/>
              </a:lnSpc>
              <a:spcBef>
                <a:spcPts val="281"/>
              </a:spcBef>
              <a:buNone/>
              <a:tabLst>
                <a:tab pos="0" algn="l"/>
              </a:tabLst>
            </a:pPr>
            <a:r>
              <a:rPr lang="en-US" sz="1400" b="0" strike="noStrike" spc="-1">
                <a:solidFill>
                  <a:schemeClr val="dk1"/>
                </a:solidFill>
                <a:latin typeface="Calibri"/>
              </a:rPr>
              <a:t>Click to edit Master text styles</a:t>
            </a: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F3F8B498-902F-4008-A3D7-C671592AD132}"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9.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9.xml"/><Relationship Id="rId4" Type="http://schemas.openxmlformats.org/officeDocument/2006/relationships/hyperlink" Target="https://www.kaggle.com/datasets/mahmoudelhemaly/students-grading-dataset/data?utm_sourc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9.xml"/><Relationship Id="rId5" Type="http://schemas.openxmlformats.org/officeDocument/2006/relationships/image" Target="../media/image12.sv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sp>
        <p:nvSpPr>
          <p:cNvPr id="67" name="Freeform 2"/>
          <p:cNvSpPr/>
          <p:nvPr/>
        </p:nvSpPr>
        <p:spPr>
          <a:xfrm>
            <a:off x="10746000" y="2264760"/>
            <a:ext cx="1833480" cy="1820160"/>
          </a:xfrm>
          <a:custGeom>
            <a:avLst/>
            <a:gdLst>
              <a:gd name="textAreaLeft" fmla="*/ 0 w 1833480"/>
              <a:gd name="textAreaRight" fmla="*/ 1833840 w 1833480"/>
              <a:gd name="textAreaTop" fmla="*/ 0 h 1820160"/>
              <a:gd name="textAreaBottom" fmla="*/ 1820520 h 1820160"/>
            </a:gdLst>
            <a:ahLst/>
            <a:cxnLst/>
            <a:rect l="textAreaLeft" t="textAreaTop" r="textAreaRight" b="textAreaBottom"/>
            <a:pathLst>
              <a:path w="1833707" h="1820370">
                <a:moveTo>
                  <a:pt x="0" y="0"/>
                </a:moveTo>
                <a:lnTo>
                  <a:pt x="1833706" y="0"/>
                </a:lnTo>
                <a:lnTo>
                  <a:pt x="1833706" y="1820371"/>
                </a:lnTo>
                <a:lnTo>
                  <a:pt x="0" y="182037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8" name="Freeform 3"/>
          <p:cNvSpPr/>
          <p:nvPr/>
        </p:nvSpPr>
        <p:spPr>
          <a:xfrm>
            <a:off x="-1486800" y="7592400"/>
            <a:ext cx="2206800" cy="2206800"/>
          </a:xfrm>
          <a:custGeom>
            <a:avLst/>
            <a:gdLst>
              <a:gd name="textAreaLeft" fmla="*/ 0 w 2206800"/>
              <a:gd name="textAreaRight" fmla="*/ 2207160 w 2206800"/>
              <a:gd name="textAreaTop" fmla="*/ 0 h 2206800"/>
              <a:gd name="textAreaBottom" fmla="*/ 2207160 h 2206800"/>
            </a:gdLst>
            <a:ahLst/>
            <a:cxnLst/>
            <a:rect l="textAreaLeft" t="textAreaTop" r="textAreaRight" b="textAreaBottom"/>
            <a:pathLst>
              <a:path w="2207184" h="2207184">
                <a:moveTo>
                  <a:pt x="0" y="0"/>
                </a:moveTo>
                <a:lnTo>
                  <a:pt x="2207184" y="0"/>
                </a:lnTo>
                <a:lnTo>
                  <a:pt x="2207184" y="2207183"/>
                </a:lnTo>
                <a:lnTo>
                  <a:pt x="0" y="2207183"/>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69" name="Group 4"/>
          <p:cNvGrpSpPr/>
          <p:nvPr/>
        </p:nvGrpSpPr>
        <p:grpSpPr>
          <a:xfrm>
            <a:off x="1038960" y="4862880"/>
            <a:ext cx="16230240" cy="4395240"/>
            <a:chOff x="1038960" y="4862880"/>
            <a:chExt cx="16230240" cy="4395240"/>
          </a:xfrm>
        </p:grpSpPr>
        <p:sp>
          <p:nvSpPr>
            <p:cNvPr id="70" name="Freeform 5"/>
            <p:cNvSpPr/>
            <p:nvPr/>
          </p:nvSpPr>
          <p:spPr>
            <a:xfrm>
              <a:off x="1038960" y="4862880"/>
              <a:ext cx="16230240" cy="4395240"/>
            </a:xfrm>
            <a:custGeom>
              <a:avLst/>
              <a:gdLst>
                <a:gd name="textAreaLeft" fmla="*/ 0 w 16230240"/>
                <a:gd name="textAreaRight" fmla="*/ 16230600 w 16230240"/>
                <a:gd name="textAreaTop" fmla="*/ 0 h 4395240"/>
                <a:gd name="textAreaBottom" fmla="*/ 4395600 h 4395240"/>
              </a:gdLst>
              <a:ahLst/>
              <a:cxnLst/>
              <a:rect l="textAreaLeft" t="textAreaTop" r="textAreaRight" b="textAreaBottom"/>
              <a:pathLst>
                <a:path w="2514545" h="680976">
                  <a:moveTo>
                    <a:pt x="0" y="0"/>
                  </a:moveTo>
                  <a:lnTo>
                    <a:pt x="2514545" y="0"/>
                  </a:lnTo>
                  <a:lnTo>
                    <a:pt x="2514545" y="680976"/>
                  </a:lnTo>
                  <a:lnTo>
                    <a:pt x="0" y="680976"/>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sp>
        <p:nvSpPr>
          <p:cNvPr id="71" name="Freeform 6"/>
          <p:cNvSpPr/>
          <p:nvPr/>
        </p:nvSpPr>
        <p:spPr>
          <a:xfrm>
            <a:off x="1028880" y="1053000"/>
            <a:ext cx="510480" cy="510480"/>
          </a:xfrm>
          <a:custGeom>
            <a:avLst/>
            <a:gdLst>
              <a:gd name="textAreaLeft" fmla="*/ 0 w 510480"/>
              <a:gd name="textAreaRight" fmla="*/ 510840 w 510480"/>
              <a:gd name="textAreaTop" fmla="*/ 0 h 510480"/>
              <a:gd name="textAreaBottom" fmla="*/ 510840 h 510480"/>
            </a:gdLst>
            <a:ahLst/>
            <a:cxnLst/>
            <a:rect l="textAreaLeft" t="textAreaTop" r="textAreaRight" b="textAreaBottom"/>
            <a:pathLst>
              <a:path w="510691" h="510691">
                <a:moveTo>
                  <a:pt x="0" y="0"/>
                </a:moveTo>
                <a:lnTo>
                  <a:pt x="510691" y="0"/>
                </a:lnTo>
                <a:lnTo>
                  <a:pt x="510691" y="510691"/>
                </a:lnTo>
                <a:lnTo>
                  <a:pt x="0" y="510691"/>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2" name="TextBox 7"/>
          <p:cNvSpPr/>
          <p:nvPr/>
        </p:nvSpPr>
        <p:spPr>
          <a:xfrm>
            <a:off x="1038960" y="1418400"/>
            <a:ext cx="9789120" cy="519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0441"/>
              </a:lnSpc>
            </a:pPr>
            <a:r>
              <a:rPr lang="en-US" sz="14600" b="0" strike="noStrike" spc="-1">
                <a:solidFill>
                  <a:srgbClr val="112C16"/>
                </a:solidFill>
                <a:latin typeface="Anton"/>
                <a:ea typeface="Anton"/>
              </a:rPr>
              <a:t>Final Project</a:t>
            </a:r>
            <a:endParaRPr lang="en-US" sz="14600" b="0" strike="noStrike" spc="-1">
              <a:solidFill>
                <a:srgbClr val="000000"/>
              </a:solidFill>
              <a:latin typeface="Arial"/>
            </a:endParaRPr>
          </a:p>
        </p:txBody>
      </p:sp>
      <p:sp>
        <p:nvSpPr>
          <p:cNvPr id="73" name="TextBox 8"/>
          <p:cNvSpPr/>
          <p:nvPr/>
        </p:nvSpPr>
        <p:spPr>
          <a:xfrm>
            <a:off x="1028880" y="3838320"/>
            <a:ext cx="9799560" cy="99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a:solidFill>
                  <a:srgbClr val="112C16"/>
                </a:solidFill>
                <a:latin typeface="Glacial Indifference"/>
                <a:ea typeface="Glacial Indifference"/>
              </a:rPr>
              <a:t>Turning raw data into actionable insights using Data Analytics</a:t>
            </a:r>
            <a:endParaRPr lang="en-US" sz="2800" b="0" strike="noStrike" spc="-1">
              <a:solidFill>
                <a:srgbClr val="000000"/>
              </a:solidFill>
              <a:latin typeface="Arial"/>
            </a:endParaRPr>
          </a:p>
        </p:txBody>
      </p:sp>
      <p:sp>
        <p:nvSpPr>
          <p:cNvPr id="74" name="TextBox 9"/>
          <p:cNvSpPr/>
          <p:nvPr/>
        </p:nvSpPr>
        <p:spPr>
          <a:xfrm>
            <a:off x="1623600" y="1072080"/>
            <a:ext cx="22485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DATA ANALYTICS</a:t>
            </a:r>
            <a:endParaRPr lang="en-US" sz="2400" b="0" strike="noStrike" spc="-1">
              <a:solidFill>
                <a:srgbClr val="000000"/>
              </a:solidFill>
              <a:latin typeface="Arial"/>
            </a:endParaRPr>
          </a:p>
        </p:txBody>
      </p:sp>
      <p:sp>
        <p:nvSpPr>
          <p:cNvPr id="75" name="Freeform 10"/>
          <p:cNvSpPr/>
          <p:nvPr/>
        </p:nvSpPr>
        <p:spPr>
          <a:xfrm>
            <a:off x="17485920" y="4545000"/>
            <a:ext cx="2206800" cy="2206800"/>
          </a:xfrm>
          <a:custGeom>
            <a:avLst/>
            <a:gdLst>
              <a:gd name="textAreaLeft" fmla="*/ 0 w 2206800"/>
              <a:gd name="textAreaRight" fmla="*/ 2207160 w 2206800"/>
              <a:gd name="textAreaTop" fmla="*/ 0 h 2206800"/>
              <a:gd name="textAreaBottom" fmla="*/ 2207160 h 2206800"/>
            </a:gdLst>
            <a:ahLst/>
            <a:cxnLst/>
            <a:rect l="textAreaLeft" t="textAreaTop" r="textAreaRight" b="textAreaBottom"/>
            <a:pathLst>
              <a:path w="2207184" h="2207184">
                <a:moveTo>
                  <a:pt x="0" y="0"/>
                </a:moveTo>
                <a:lnTo>
                  <a:pt x="2207184" y="0"/>
                </a:lnTo>
                <a:lnTo>
                  <a:pt x="2207184" y="2207184"/>
                </a:lnTo>
                <a:lnTo>
                  <a:pt x="0" y="220718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sp>
        <p:nvSpPr>
          <p:cNvPr id="76" name="Freeform 2"/>
          <p:cNvSpPr/>
          <p:nvPr/>
        </p:nvSpPr>
        <p:spPr>
          <a:xfrm>
            <a:off x="-1486800" y="7592400"/>
            <a:ext cx="2206800" cy="2206800"/>
          </a:xfrm>
          <a:custGeom>
            <a:avLst/>
            <a:gdLst>
              <a:gd name="textAreaLeft" fmla="*/ 0 w 2206800"/>
              <a:gd name="textAreaRight" fmla="*/ 2207160 w 2206800"/>
              <a:gd name="textAreaTop" fmla="*/ 0 h 2206800"/>
              <a:gd name="textAreaBottom" fmla="*/ 2207160 h 2206800"/>
            </a:gdLst>
            <a:ahLst/>
            <a:cxnLst/>
            <a:rect l="textAreaLeft" t="textAreaTop" r="textAreaRight" b="textAreaBottom"/>
            <a:pathLst>
              <a:path w="2207184" h="2207184">
                <a:moveTo>
                  <a:pt x="0" y="0"/>
                </a:moveTo>
                <a:lnTo>
                  <a:pt x="2207184" y="0"/>
                </a:lnTo>
                <a:lnTo>
                  <a:pt x="2207184" y="2207183"/>
                </a:lnTo>
                <a:lnTo>
                  <a:pt x="0" y="2207183"/>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7" name="Freeform 3"/>
          <p:cNvSpPr/>
          <p:nvPr/>
        </p:nvSpPr>
        <p:spPr>
          <a:xfrm>
            <a:off x="1028880" y="1053000"/>
            <a:ext cx="510480" cy="510480"/>
          </a:xfrm>
          <a:custGeom>
            <a:avLst/>
            <a:gdLst>
              <a:gd name="textAreaLeft" fmla="*/ 0 w 510480"/>
              <a:gd name="textAreaRight" fmla="*/ 510840 w 510480"/>
              <a:gd name="textAreaTop" fmla="*/ 0 h 510480"/>
              <a:gd name="textAreaBottom" fmla="*/ 510840 h 510480"/>
            </a:gdLst>
            <a:ahLst/>
            <a:cxnLst/>
            <a:rect l="textAreaLeft" t="textAreaTop" r="textAreaRight" b="textAreaBottom"/>
            <a:pathLst>
              <a:path w="510691" h="510691">
                <a:moveTo>
                  <a:pt x="0" y="0"/>
                </a:moveTo>
                <a:lnTo>
                  <a:pt x="510691" y="0"/>
                </a:lnTo>
                <a:lnTo>
                  <a:pt x="510691" y="510691"/>
                </a:lnTo>
                <a:lnTo>
                  <a:pt x="0" y="510691"/>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8" name="TextBox 4"/>
          <p:cNvSpPr/>
          <p:nvPr/>
        </p:nvSpPr>
        <p:spPr>
          <a:xfrm>
            <a:off x="1028880" y="1878120"/>
            <a:ext cx="16921440" cy="31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2322"/>
              </a:lnSpc>
            </a:pPr>
            <a:r>
              <a:rPr lang="en-US" sz="8800" b="0" strike="noStrike" spc="-1">
                <a:solidFill>
                  <a:srgbClr val="112C16"/>
                </a:solidFill>
                <a:latin typeface="Anton"/>
                <a:ea typeface="Anton"/>
              </a:rPr>
              <a:t>STUDENT PERFORMANCE &amp; </a:t>
            </a:r>
            <a:endParaRPr lang="en-US" sz="8800" b="0" strike="noStrike" spc="-1">
              <a:solidFill>
                <a:srgbClr val="000000"/>
              </a:solidFill>
              <a:latin typeface="Arial"/>
            </a:endParaRPr>
          </a:p>
          <a:p>
            <a:pPr algn="ctr" defTabSz="914400">
              <a:lnSpc>
                <a:spcPts val="12322"/>
              </a:lnSpc>
            </a:pPr>
            <a:r>
              <a:rPr lang="en-US" sz="8800" b="0" strike="noStrike" spc="-1">
                <a:solidFill>
                  <a:srgbClr val="112C16"/>
                </a:solidFill>
                <a:latin typeface="Anton"/>
                <a:ea typeface="Anton"/>
              </a:rPr>
              <a:t>BEHAVIOR ANALYSIS</a:t>
            </a:r>
            <a:endParaRPr lang="en-US" sz="8800" b="0" strike="noStrike" spc="-1">
              <a:solidFill>
                <a:srgbClr val="000000"/>
              </a:solidFill>
              <a:latin typeface="Arial"/>
            </a:endParaRPr>
          </a:p>
        </p:txBody>
      </p:sp>
      <p:sp>
        <p:nvSpPr>
          <p:cNvPr id="79" name="Freeform 5"/>
          <p:cNvSpPr/>
          <p:nvPr/>
        </p:nvSpPr>
        <p:spPr>
          <a:xfrm>
            <a:off x="17485920" y="4545000"/>
            <a:ext cx="2206800" cy="2206800"/>
          </a:xfrm>
          <a:custGeom>
            <a:avLst/>
            <a:gdLst>
              <a:gd name="textAreaLeft" fmla="*/ 0 w 2206800"/>
              <a:gd name="textAreaRight" fmla="*/ 2207160 w 2206800"/>
              <a:gd name="textAreaTop" fmla="*/ 0 h 2206800"/>
              <a:gd name="textAreaBottom" fmla="*/ 2207160 h 2206800"/>
            </a:gdLst>
            <a:ahLst/>
            <a:cxnLst/>
            <a:rect l="textAreaLeft" t="textAreaTop" r="textAreaRight" b="textAreaBottom"/>
            <a:pathLst>
              <a:path w="2207184" h="2207184">
                <a:moveTo>
                  <a:pt x="0" y="0"/>
                </a:moveTo>
                <a:lnTo>
                  <a:pt x="2207184" y="0"/>
                </a:lnTo>
                <a:lnTo>
                  <a:pt x="2207184" y="2207184"/>
                </a:lnTo>
                <a:lnTo>
                  <a:pt x="0" y="2207184"/>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0" name="Freeform 6"/>
          <p:cNvSpPr/>
          <p:nvPr/>
        </p:nvSpPr>
        <p:spPr>
          <a:xfrm>
            <a:off x="0" y="6004080"/>
            <a:ext cx="4336920" cy="4282560"/>
          </a:xfrm>
          <a:custGeom>
            <a:avLst/>
            <a:gdLst>
              <a:gd name="textAreaLeft" fmla="*/ 0 w 4336920"/>
              <a:gd name="textAreaRight" fmla="*/ 4337280 w 4336920"/>
              <a:gd name="textAreaTop" fmla="*/ 0 h 4282560"/>
              <a:gd name="textAreaBottom" fmla="*/ 4282920 h 4282560"/>
            </a:gdLst>
            <a:ahLst/>
            <a:cxnLst/>
            <a:rect l="textAreaLeft" t="textAreaTop" r="textAreaRight" b="textAreaBottom"/>
            <a:pathLst>
              <a:path w="4337313" h="4282752">
                <a:moveTo>
                  <a:pt x="0" y="0"/>
                </a:moveTo>
                <a:lnTo>
                  <a:pt x="4337313" y="0"/>
                </a:lnTo>
                <a:lnTo>
                  <a:pt x="4337313" y="4282752"/>
                </a:lnTo>
                <a:lnTo>
                  <a:pt x="0" y="4282752"/>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1" name="TextBox 7"/>
          <p:cNvSpPr/>
          <p:nvPr/>
        </p:nvSpPr>
        <p:spPr>
          <a:xfrm>
            <a:off x="4244040" y="5369760"/>
            <a:ext cx="9799560" cy="99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920"/>
              </a:lnSpc>
            </a:pPr>
            <a:r>
              <a:rPr lang="en-US" sz="2800" b="0" strike="noStrike" spc="-1">
                <a:solidFill>
                  <a:srgbClr val="112C16"/>
                </a:solidFill>
                <a:latin typeface="Glacial Indifference"/>
                <a:ea typeface="Glacial Indifference"/>
              </a:rPr>
              <a:t>Python-Based Data Analytics Project to Explore the factors associated with academic performance</a:t>
            </a:r>
            <a:endParaRPr lang="en-US" sz="2800" b="0" strike="noStrike" spc="-1">
              <a:solidFill>
                <a:srgbClr val="000000"/>
              </a:solidFill>
              <a:latin typeface="Arial"/>
            </a:endParaRPr>
          </a:p>
        </p:txBody>
      </p:sp>
      <p:sp>
        <p:nvSpPr>
          <p:cNvPr id="82" name="TextBox 8"/>
          <p:cNvSpPr/>
          <p:nvPr/>
        </p:nvSpPr>
        <p:spPr>
          <a:xfrm>
            <a:off x="1623600" y="1072080"/>
            <a:ext cx="224856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PROJECT TITLE</a:t>
            </a:r>
            <a:endParaRPr lang="en-US" sz="2400" b="0" strike="noStrike" spc="-1">
              <a:solidFill>
                <a:srgbClr val="000000"/>
              </a:solidFill>
              <a:latin typeface="Arial"/>
            </a:endParaRPr>
          </a:p>
        </p:txBody>
      </p:sp>
      <p:sp>
        <p:nvSpPr>
          <p:cNvPr id="83" name="TextBox 9"/>
          <p:cNvSpPr/>
          <p:nvPr/>
        </p:nvSpPr>
        <p:spPr>
          <a:xfrm>
            <a:off x="4379760" y="7256160"/>
            <a:ext cx="9799560" cy="99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920"/>
              </a:lnSpc>
            </a:pPr>
            <a:r>
              <a:rPr lang="en-US" sz="2800" b="0" strike="noStrike" spc="-1">
                <a:solidFill>
                  <a:srgbClr val="112C16"/>
                </a:solidFill>
                <a:latin typeface="Glacial Indifference"/>
                <a:ea typeface="Glacial Indifference"/>
              </a:rPr>
              <a:t>Presented by - Arya R</a:t>
            </a:r>
            <a:endParaRPr lang="en-US" sz="2800" b="0" strike="noStrike" spc="-1">
              <a:solidFill>
                <a:srgbClr val="000000"/>
              </a:solidFill>
              <a:latin typeface="Arial"/>
            </a:endParaRPr>
          </a:p>
          <a:p>
            <a:pPr algn="ctr" defTabSz="914400">
              <a:lnSpc>
                <a:spcPts val="3920"/>
              </a:lnSpc>
            </a:pPr>
            <a:r>
              <a:rPr lang="en-US" sz="2800" b="0" strike="noStrike" spc="-1">
                <a:solidFill>
                  <a:srgbClr val="112C16"/>
                </a:solidFill>
                <a:latin typeface="Glacial Indifference"/>
                <a:ea typeface="Glacial Indifference"/>
              </a:rPr>
              <a:t>Tools: Python | Pandas | NumPy | Matplotlib | Seaborn</a:t>
            </a:r>
            <a:endParaRPr lang="en-US" sz="28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84" name="Group 2"/>
          <p:cNvGrpSpPr/>
          <p:nvPr/>
        </p:nvGrpSpPr>
        <p:grpSpPr>
          <a:xfrm>
            <a:off x="1028880" y="884160"/>
            <a:ext cx="16230240" cy="1728000"/>
            <a:chOff x="1028880" y="884160"/>
            <a:chExt cx="16230240" cy="1728000"/>
          </a:xfrm>
        </p:grpSpPr>
        <p:sp>
          <p:nvSpPr>
            <p:cNvPr id="85" name="Freeform 3"/>
            <p:cNvSpPr/>
            <p:nvPr/>
          </p:nvSpPr>
          <p:spPr>
            <a:xfrm>
              <a:off x="1028880" y="1028880"/>
              <a:ext cx="16230240" cy="1583280"/>
            </a:xfrm>
            <a:custGeom>
              <a:avLst/>
              <a:gdLst>
                <a:gd name="textAreaLeft" fmla="*/ 0 w 16230240"/>
                <a:gd name="textAreaRight" fmla="*/ 16230600 w 16230240"/>
                <a:gd name="textAreaTop" fmla="*/ 0 h 1583280"/>
                <a:gd name="textAreaBottom" fmla="*/ 1583640 h 1583280"/>
              </a:gdLst>
              <a:ahLst/>
              <a:cxnLst/>
              <a:rect l="textAreaLeft" t="textAreaTop" r="textAreaRight" b="textAreaBottom"/>
              <a:pathLst>
                <a:path w="4274726" h="417097">
                  <a:moveTo>
                    <a:pt x="47700" y="0"/>
                  </a:moveTo>
                  <a:lnTo>
                    <a:pt x="4227026" y="0"/>
                  </a:lnTo>
                  <a:cubicBezTo>
                    <a:pt x="4239677" y="0"/>
                    <a:pt x="4251809" y="5025"/>
                    <a:pt x="4260755" y="13971"/>
                  </a:cubicBezTo>
                  <a:cubicBezTo>
                    <a:pt x="4269700" y="22916"/>
                    <a:pt x="4274726" y="35049"/>
                    <a:pt x="4274726" y="47700"/>
                  </a:cubicBezTo>
                  <a:lnTo>
                    <a:pt x="4274726" y="369397"/>
                  </a:lnTo>
                  <a:cubicBezTo>
                    <a:pt x="4274726" y="382048"/>
                    <a:pt x="4269700" y="394181"/>
                    <a:pt x="4260755" y="403126"/>
                  </a:cubicBezTo>
                  <a:cubicBezTo>
                    <a:pt x="4251809" y="412071"/>
                    <a:pt x="4239677" y="417097"/>
                    <a:pt x="4227026" y="417097"/>
                  </a:cubicBezTo>
                  <a:lnTo>
                    <a:pt x="47700" y="417097"/>
                  </a:lnTo>
                  <a:cubicBezTo>
                    <a:pt x="35049" y="417097"/>
                    <a:pt x="22916" y="412071"/>
                    <a:pt x="13971" y="403126"/>
                  </a:cubicBezTo>
                  <a:cubicBezTo>
                    <a:pt x="5025" y="394181"/>
                    <a:pt x="0" y="382048"/>
                    <a:pt x="0" y="369397"/>
                  </a:cubicBezTo>
                  <a:lnTo>
                    <a:pt x="0" y="47700"/>
                  </a:lnTo>
                  <a:cubicBezTo>
                    <a:pt x="0" y="35049"/>
                    <a:pt x="5025" y="22916"/>
                    <a:pt x="13971" y="13971"/>
                  </a:cubicBezTo>
                  <a:cubicBezTo>
                    <a:pt x="22916" y="5025"/>
                    <a:pt x="35049" y="0"/>
                    <a:pt x="477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6" name="TextBox 4"/>
            <p:cNvSpPr/>
            <p:nvPr/>
          </p:nvSpPr>
          <p:spPr>
            <a:xfrm>
              <a:off x="1028880" y="884160"/>
              <a:ext cx="16230240" cy="1728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87" name="Group 5"/>
          <p:cNvGrpSpPr/>
          <p:nvPr/>
        </p:nvGrpSpPr>
        <p:grpSpPr>
          <a:xfrm>
            <a:off x="1028880" y="3079080"/>
            <a:ext cx="596880" cy="596880"/>
            <a:chOff x="1028880" y="3079080"/>
            <a:chExt cx="596880" cy="596880"/>
          </a:xfrm>
        </p:grpSpPr>
        <p:sp>
          <p:nvSpPr>
            <p:cNvPr id="88" name="Freeform 6"/>
            <p:cNvSpPr/>
            <p:nvPr/>
          </p:nvSpPr>
          <p:spPr>
            <a:xfrm>
              <a:off x="102888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9" name="TextBox 7"/>
            <p:cNvSpPr/>
            <p:nvPr/>
          </p:nvSpPr>
          <p:spPr>
            <a:xfrm>
              <a:off x="108468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90" name="Group 8"/>
          <p:cNvGrpSpPr/>
          <p:nvPr/>
        </p:nvGrpSpPr>
        <p:grpSpPr>
          <a:xfrm>
            <a:off x="1028880" y="4142880"/>
            <a:ext cx="596880" cy="596880"/>
            <a:chOff x="1028880" y="4142880"/>
            <a:chExt cx="596880" cy="596880"/>
          </a:xfrm>
        </p:grpSpPr>
        <p:sp>
          <p:nvSpPr>
            <p:cNvPr id="91" name="Freeform 9"/>
            <p:cNvSpPr/>
            <p:nvPr/>
          </p:nvSpPr>
          <p:spPr>
            <a:xfrm>
              <a:off x="1028880" y="41428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2" name="TextBox 10"/>
            <p:cNvSpPr/>
            <p:nvPr/>
          </p:nvSpPr>
          <p:spPr>
            <a:xfrm>
              <a:off x="1084680" y="41709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93" name="Group 11"/>
          <p:cNvGrpSpPr/>
          <p:nvPr/>
        </p:nvGrpSpPr>
        <p:grpSpPr>
          <a:xfrm>
            <a:off x="1028880" y="5207040"/>
            <a:ext cx="596880" cy="596880"/>
            <a:chOff x="1028880" y="5207040"/>
            <a:chExt cx="596880" cy="596880"/>
          </a:xfrm>
        </p:grpSpPr>
        <p:sp>
          <p:nvSpPr>
            <p:cNvPr id="94" name="Freeform 12"/>
            <p:cNvSpPr/>
            <p:nvPr/>
          </p:nvSpPr>
          <p:spPr>
            <a:xfrm>
              <a:off x="1028880" y="520704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5" name="TextBox 13"/>
            <p:cNvSpPr/>
            <p:nvPr/>
          </p:nvSpPr>
          <p:spPr>
            <a:xfrm>
              <a:off x="1084680" y="523512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96" name="Group 14"/>
          <p:cNvGrpSpPr/>
          <p:nvPr/>
        </p:nvGrpSpPr>
        <p:grpSpPr>
          <a:xfrm>
            <a:off x="1028880" y="6271200"/>
            <a:ext cx="596880" cy="596880"/>
            <a:chOff x="1028880" y="6271200"/>
            <a:chExt cx="596880" cy="596880"/>
          </a:xfrm>
        </p:grpSpPr>
        <p:sp>
          <p:nvSpPr>
            <p:cNvPr id="97" name="Freeform 15"/>
            <p:cNvSpPr/>
            <p:nvPr/>
          </p:nvSpPr>
          <p:spPr>
            <a:xfrm>
              <a:off x="1028880" y="627120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8" name="TextBox 16"/>
            <p:cNvSpPr/>
            <p:nvPr/>
          </p:nvSpPr>
          <p:spPr>
            <a:xfrm>
              <a:off x="1084680" y="629892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99" name="Group 17"/>
          <p:cNvGrpSpPr/>
          <p:nvPr/>
        </p:nvGrpSpPr>
        <p:grpSpPr>
          <a:xfrm>
            <a:off x="1028880" y="7335000"/>
            <a:ext cx="596880" cy="596880"/>
            <a:chOff x="1028880" y="7335000"/>
            <a:chExt cx="596880" cy="596880"/>
          </a:xfrm>
        </p:grpSpPr>
        <p:sp>
          <p:nvSpPr>
            <p:cNvPr id="100" name="Freeform 18"/>
            <p:cNvSpPr/>
            <p:nvPr/>
          </p:nvSpPr>
          <p:spPr>
            <a:xfrm>
              <a:off x="1028880" y="733500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1" name="TextBox 19"/>
            <p:cNvSpPr/>
            <p:nvPr/>
          </p:nvSpPr>
          <p:spPr>
            <a:xfrm>
              <a:off x="1084680" y="736308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02" name="Group 20"/>
          <p:cNvGrpSpPr/>
          <p:nvPr/>
        </p:nvGrpSpPr>
        <p:grpSpPr>
          <a:xfrm>
            <a:off x="1028880" y="8512996"/>
            <a:ext cx="596880" cy="596880"/>
            <a:chOff x="1028880" y="8399160"/>
            <a:chExt cx="596880" cy="596880"/>
          </a:xfrm>
        </p:grpSpPr>
        <p:sp>
          <p:nvSpPr>
            <p:cNvPr id="103" name="Freeform 21"/>
            <p:cNvSpPr/>
            <p:nvPr/>
          </p:nvSpPr>
          <p:spPr>
            <a:xfrm>
              <a:off x="1028880" y="839916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4" name="TextBox 22"/>
            <p:cNvSpPr/>
            <p:nvPr/>
          </p:nvSpPr>
          <p:spPr>
            <a:xfrm>
              <a:off x="1084680" y="842688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05" name="Group 23"/>
          <p:cNvGrpSpPr/>
          <p:nvPr/>
        </p:nvGrpSpPr>
        <p:grpSpPr>
          <a:xfrm>
            <a:off x="7357500" y="3098880"/>
            <a:ext cx="596880" cy="596880"/>
            <a:chOff x="9144000" y="3079080"/>
            <a:chExt cx="596880" cy="596880"/>
          </a:xfrm>
        </p:grpSpPr>
        <p:sp>
          <p:nvSpPr>
            <p:cNvPr id="106" name="Freeform 24"/>
            <p:cNvSpPr/>
            <p:nvPr/>
          </p:nvSpPr>
          <p:spPr>
            <a:xfrm>
              <a:off x="914400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7" name="TextBox 25"/>
            <p:cNvSpPr/>
            <p:nvPr/>
          </p:nvSpPr>
          <p:spPr>
            <a:xfrm>
              <a:off x="920016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08" name="Group 26"/>
          <p:cNvGrpSpPr/>
          <p:nvPr/>
        </p:nvGrpSpPr>
        <p:grpSpPr>
          <a:xfrm>
            <a:off x="7357500" y="4166100"/>
            <a:ext cx="596880" cy="596880"/>
            <a:chOff x="9144000" y="4142880"/>
            <a:chExt cx="596880" cy="596880"/>
          </a:xfrm>
        </p:grpSpPr>
        <p:sp>
          <p:nvSpPr>
            <p:cNvPr id="109" name="Freeform 27"/>
            <p:cNvSpPr/>
            <p:nvPr/>
          </p:nvSpPr>
          <p:spPr>
            <a:xfrm>
              <a:off x="9144000" y="41428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0" name="TextBox 28"/>
            <p:cNvSpPr/>
            <p:nvPr/>
          </p:nvSpPr>
          <p:spPr>
            <a:xfrm>
              <a:off x="9200160" y="41709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11" name="Group 29"/>
          <p:cNvGrpSpPr/>
          <p:nvPr/>
        </p:nvGrpSpPr>
        <p:grpSpPr>
          <a:xfrm>
            <a:off x="7357500" y="5326200"/>
            <a:ext cx="596880" cy="596880"/>
            <a:chOff x="9144000" y="5207040"/>
            <a:chExt cx="596880" cy="596880"/>
          </a:xfrm>
        </p:grpSpPr>
        <p:sp>
          <p:nvSpPr>
            <p:cNvPr id="112" name="Freeform 30"/>
            <p:cNvSpPr/>
            <p:nvPr/>
          </p:nvSpPr>
          <p:spPr>
            <a:xfrm>
              <a:off x="9144000" y="520704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3" name="TextBox 31"/>
            <p:cNvSpPr/>
            <p:nvPr/>
          </p:nvSpPr>
          <p:spPr>
            <a:xfrm>
              <a:off x="9200160" y="523512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114" name="Freeform 32"/>
          <p:cNvSpPr/>
          <p:nvPr/>
        </p:nvSpPr>
        <p:spPr>
          <a:xfrm rot="5400000">
            <a:off x="15465240" y="1154880"/>
            <a:ext cx="896760" cy="1330560"/>
          </a:xfrm>
          <a:custGeom>
            <a:avLst/>
            <a:gdLst>
              <a:gd name="textAreaLeft" fmla="*/ 0 w 896760"/>
              <a:gd name="textAreaRight" fmla="*/ 897120 w 896760"/>
              <a:gd name="textAreaTop" fmla="*/ 0 h 1330560"/>
              <a:gd name="textAreaBottom" fmla="*/ 1330920 h 1330560"/>
            </a:gdLst>
            <a:ahLst/>
            <a:cxnLst/>
            <a:rect l="textAreaLeft" t="textAreaTop" r="textAreaRight" b="textAreaBottom"/>
            <a:pathLst>
              <a:path w="897156" h="1330892">
                <a:moveTo>
                  <a:pt x="0" y="0"/>
                </a:moveTo>
                <a:lnTo>
                  <a:pt x="897157" y="0"/>
                </a:lnTo>
                <a:lnTo>
                  <a:pt x="897157" y="1330892"/>
                </a:lnTo>
                <a:lnTo>
                  <a:pt x="0" y="1330892"/>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5" name="TextBox 33"/>
          <p:cNvSpPr/>
          <p:nvPr/>
        </p:nvSpPr>
        <p:spPr>
          <a:xfrm>
            <a:off x="4683960" y="828720"/>
            <a:ext cx="8919720" cy="177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4000"/>
              </a:lnSpc>
            </a:pPr>
            <a:r>
              <a:rPr lang="en-US" sz="10000" b="0" strike="noStrike" spc="-1">
                <a:solidFill>
                  <a:srgbClr val="F1F0E7"/>
                </a:solidFill>
                <a:latin typeface="Anton"/>
                <a:ea typeface="Anton"/>
              </a:rPr>
              <a:t>Agenda Slide</a:t>
            </a:r>
            <a:endParaRPr lang="en-US" sz="10000" b="0" strike="noStrike" spc="-1">
              <a:solidFill>
                <a:srgbClr val="000000"/>
              </a:solidFill>
              <a:latin typeface="Arial"/>
            </a:endParaRPr>
          </a:p>
        </p:txBody>
      </p:sp>
      <p:sp>
        <p:nvSpPr>
          <p:cNvPr id="116" name="TextBox 34"/>
          <p:cNvSpPr/>
          <p:nvPr/>
        </p:nvSpPr>
        <p:spPr>
          <a:xfrm>
            <a:off x="1816560" y="3098880"/>
            <a:ext cx="4757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a:solidFill>
                  <a:srgbClr val="112C16"/>
                </a:solidFill>
                <a:latin typeface="Glacial Indifference"/>
                <a:ea typeface="Glacial Indifference"/>
              </a:rPr>
              <a:t>Project Objectives</a:t>
            </a:r>
            <a:endParaRPr lang="en-US" sz="2800" b="0" strike="noStrike" spc="-1">
              <a:solidFill>
                <a:srgbClr val="000000"/>
              </a:solidFill>
              <a:latin typeface="Arial"/>
            </a:endParaRPr>
          </a:p>
        </p:txBody>
      </p:sp>
      <p:sp>
        <p:nvSpPr>
          <p:cNvPr id="117" name="TextBox 35"/>
          <p:cNvSpPr/>
          <p:nvPr/>
        </p:nvSpPr>
        <p:spPr>
          <a:xfrm>
            <a:off x="1816560" y="4162680"/>
            <a:ext cx="4757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a:solidFill>
                  <a:srgbClr val="112C16"/>
                </a:solidFill>
                <a:latin typeface="Glacial Indifference"/>
                <a:ea typeface="Glacial Indifference"/>
              </a:rPr>
              <a:t>Data Sources &amp; Collection</a:t>
            </a:r>
            <a:endParaRPr lang="en-US" sz="2800" b="0" strike="noStrike" spc="-1">
              <a:solidFill>
                <a:srgbClr val="000000"/>
              </a:solidFill>
              <a:latin typeface="Arial"/>
            </a:endParaRPr>
          </a:p>
        </p:txBody>
      </p:sp>
      <p:sp>
        <p:nvSpPr>
          <p:cNvPr id="118" name="TextBox 36"/>
          <p:cNvSpPr/>
          <p:nvPr/>
        </p:nvSpPr>
        <p:spPr>
          <a:xfrm>
            <a:off x="1816560" y="5226840"/>
            <a:ext cx="563472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a:solidFill>
                  <a:srgbClr val="112C16"/>
                </a:solidFill>
                <a:latin typeface="Glacial Indifference"/>
                <a:ea typeface="Glacial Indifference"/>
              </a:rPr>
              <a:t>Dataset Overview</a:t>
            </a:r>
            <a:endParaRPr lang="en-US" sz="2800" b="0" strike="noStrike" spc="-1">
              <a:solidFill>
                <a:srgbClr val="000000"/>
              </a:solidFill>
              <a:latin typeface="Arial"/>
            </a:endParaRPr>
          </a:p>
        </p:txBody>
      </p:sp>
      <p:sp>
        <p:nvSpPr>
          <p:cNvPr id="119" name="TextBox 37"/>
          <p:cNvSpPr/>
          <p:nvPr/>
        </p:nvSpPr>
        <p:spPr>
          <a:xfrm>
            <a:off x="1816560" y="6291000"/>
            <a:ext cx="5065560" cy="99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a:solidFill>
                  <a:srgbClr val="112C16"/>
                </a:solidFill>
                <a:latin typeface="Glacial Indifference"/>
                <a:ea typeface="Glacial Indifference"/>
              </a:rPr>
              <a:t>Data Cleaning &amp; Preprocessing</a:t>
            </a:r>
            <a:endParaRPr lang="en-US" sz="2800" b="0" strike="noStrike" spc="-1">
              <a:solidFill>
                <a:srgbClr val="000000"/>
              </a:solidFill>
              <a:latin typeface="Arial"/>
            </a:endParaRPr>
          </a:p>
        </p:txBody>
      </p:sp>
      <p:sp>
        <p:nvSpPr>
          <p:cNvPr id="120" name="TextBox 38"/>
          <p:cNvSpPr/>
          <p:nvPr/>
        </p:nvSpPr>
        <p:spPr>
          <a:xfrm>
            <a:off x="1816560" y="7414578"/>
            <a:ext cx="4757400" cy="99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dirty="0">
                <a:solidFill>
                  <a:srgbClr val="112C16"/>
                </a:solidFill>
                <a:latin typeface="Glacial Indifference"/>
                <a:ea typeface="Glacial Indifference"/>
              </a:rPr>
              <a:t>Data Pre-Processing Overview</a:t>
            </a:r>
            <a:endParaRPr lang="en-US" sz="2800" b="0" strike="noStrike" spc="-1" dirty="0">
              <a:solidFill>
                <a:srgbClr val="000000"/>
              </a:solidFill>
              <a:latin typeface="Arial"/>
            </a:endParaRPr>
          </a:p>
        </p:txBody>
      </p:sp>
      <p:sp>
        <p:nvSpPr>
          <p:cNvPr id="121" name="TextBox 39"/>
          <p:cNvSpPr/>
          <p:nvPr/>
        </p:nvSpPr>
        <p:spPr>
          <a:xfrm>
            <a:off x="1816560" y="8538156"/>
            <a:ext cx="4757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dirty="0">
                <a:solidFill>
                  <a:srgbClr val="112C16"/>
                </a:solidFill>
                <a:latin typeface="Glacial Indifference"/>
                <a:ea typeface="Glacial Indifference"/>
              </a:rPr>
              <a:t>Derived columns</a:t>
            </a:r>
            <a:endParaRPr lang="en-US" sz="2800" b="0" strike="noStrike" spc="-1" dirty="0">
              <a:solidFill>
                <a:srgbClr val="000000"/>
              </a:solidFill>
              <a:latin typeface="Arial"/>
            </a:endParaRPr>
          </a:p>
        </p:txBody>
      </p:sp>
      <p:sp>
        <p:nvSpPr>
          <p:cNvPr id="122" name="TextBox 40"/>
          <p:cNvSpPr/>
          <p:nvPr/>
        </p:nvSpPr>
        <p:spPr>
          <a:xfrm>
            <a:off x="8179080" y="3085448"/>
            <a:ext cx="622728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dirty="0">
                <a:solidFill>
                  <a:srgbClr val="112C16"/>
                </a:solidFill>
                <a:latin typeface="Glacial Indifference"/>
                <a:ea typeface="Glacial Indifference"/>
              </a:rPr>
              <a:t>Filtering Data</a:t>
            </a:r>
            <a:endParaRPr lang="en-US" sz="2800" b="0" strike="noStrike" spc="-1" dirty="0">
              <a:solidFill>
                <a:srgbClr val="000000"/>
              </a:solidFill>
              <a:latin typeface="Arial"/>
            </a:endParaRPr>
          </a:p>
        </p:txBody>
      </p:sp>
      <p:sp>
        <p:nvSpPr>
          <p:cNvPr id="123" name="TextBox 41"/>
          <p:cNvSpPr/>
          <p:nvPr/>
        </p:nvSpPr>
        <p:spPr>
          <a:xfrm>
            <a:off x="8179080" y="4162680"/>
            <a:ext cx="4757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dirty="0">
                <a:solidFill>
                  <a:srgbClr val="112C16"/>
                </a:solidFill>
                <a:latin typeface="Glacial Indifference"/>
                <a:ea typeface="Glacial Indifference"/>
              </a:rPr>
              <a:t>Aggregating Data</a:t>
            </a:r>
            <a:endParaRPr lang="en-US" sz="2800" b="0" strike="noStrike" spc="-1" dirty="0">
              <a:solidFill>
                <a:srgbClr val="000000"/>
              </a:solidFill>
              <a:latin typeface="Arial"/>
            </a:endParaRPr>
          </a:p>
        </p:txBody>
      </p:sp>
      <p:sp>
        <p:nvSpPr>
          <p:cNvPr id="124" name="TextBox 42"/>
          <p:cNvSpPr/>
          <p:nvPr/>
        </p:nvSpPr>
        <p:spPr>
          <a:xfrm>
            <a:off x="8179560" y="5309382"/>
            <a:ext cx="5315760" cy="46711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spc="-1" dirty="0">
                <a:solidFill>
                  <a:srgbClr val="112C16"/>
                </a:solidFill>
                <a:latin typeface="Glacial Indifference"/>
              </a:rPr>
              <a:t>Exploratory Data Analysis</a:t>
            </a:r>
            <a:endParaRPr lang="en-US" sz="2800" b="0" strike="noStrike" spc="-1" dirty="0">
              <a:solidFill>
                <a:srgbClr val="000000"/>
              </a:solidFill>
              <a:latin typeface="Arial"/>
            </a:endParaRPr>
          </a:p>
        </p:txBody>
      </p:sp>
      <p:sp>
        <p:nvSpPr>
          <p:cNvPr id="125" name="Freeform 43"/>
          <p:cNvSpPr/>
          <p:nvPr/>
        </p:nvSpPr>
        <p:spPr>
          <a:xfrm rot="5400000" flipH="1" flipV="1">
            <a:off x="1843200" y="1154160"/>
            <a:ext cx="896760" cy="1330560"/>
          </a:xfrm>
          <a:custGeom>
            <a:avLst/>
            <a:gdLst>
              <a:gd name="textAreaLeft" fmla="*/ -360 w 896760"/>
              <a:gd name="textAreaRight" fmla="*/ 896760 w 896760"/>
              <a:gd name="textAreaTop" fmla="*/ 360 h 1330560"/>
              <a:gd name="textAreaBottom" fmla="*/ 1331280 h 1330560"/>
            </a:gdLst>
            <a:ahLst/>
            <a:cxnLst/>
            <a:rect l="textAreaLeft" t="textAreaTop" r="textAreaRight" b="textAreaBottom"/>
            <a:pathLst>
              <a:path w="897156" h="1330892">
                <a:moveTo>
                  <a:pt x="897156" y="1330892"/>
                </a:moveTo>
                <a:lnTo>
                  <a:pt x="0" y="1330892"/>
                </a:lnTo>
                <a:lnTo>
                  <a:pt x="0" y="0"/>
                </a:lnTo>
                <a:lnTo>
                  <a:pt x="897156" y="0"/>
                </a:lnTo>
                <a:lnTo>
                  <a:pt x="897156" y="1330892"/>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4" name="Group 29">
            <a:extLst>
              <a:ext uri="{FF2B5EF4-FFF2-40B4-BE49-F238E27FC236}">
                <a16:creationId xmlns:a16="http://schemas.microsoft.com/office/drawing/2014/main" id="{B610BEE4-2619-4B4A-8849-DE406CCD5F16}"/>
              </a:ext>
            </a:extLst>
          </p:cNvPr>
          <p:cNvGrpSpPr/>
          <p:nvPr/>
        </p:nvGrpSpPr>
        <p:grpSpPr>
          <a:xfrm>
            <a:off x="7357500" y="7460640"/>
            <a:ext cx="596880" cy="596880"/>
            <a:chOff x="9144000" y="5207040"/>
            <a:chExt cx="596880" cy="596880"/>
          </a:xfrm>
        </p:grpSpPr>
        <p:sp>
          <p:nvSpPr>
            <p:cNvPr id="5" name="Freeform 30">
              <a:extLst>
                <a:ext uri="{FF2B5EF4-FFF2-40B4-BE49-F238E27FC236}">
                  <a16:creationId xmlns:a16="http://schemas.microsoft.com/office/drawing/2014/main" id="{C3151334-59A5-5DDB-03D3-F7ADB6417BFB}"/>
                </a:ext>
              </a:extLst>
            </p:cNvPr>
            <p:cNvSpPr/>
            <p:nvPr/>
          </p:nvSpPr>
          <p:spPr>
            <a:xfrm>
              <a:off x="9144000" y="520704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 name="TextBox 31">
              <a:extLst>
                <a:ext uri="{FF2B5EF4-FFF2-40B4-BE49-F238E27FC236}">
                  <a16:creationId xmlns:a16="http://schemas.microsoft.com/office/drawing/2014/main" id="{CA688495-52F2-E112-58EC-A00671C6C738}"/>
                </a:ext>
              </a:extLst>
            </p:cNvPr>
            <p:cNvSpPr/>
            <p:nvPr/>
          </p:nvSpPr>
          <p:spPr>
            <a:xfrm>
              <a:off x="9200160" y="523512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12" name="TextBox 11">
            <a:extLst>
              <a:ext uri="{FF2B5EF4-FFF2-40B4-BE49-F238E27FC236}">
                <a16:creationId xmlns:a16="http://schemas.microsoft.com/office/drawing/2014/main" id="{E7C36B98-77B8-0140-18A6-8DEE6C8FEDF5}"/>
              </a:ext>
            </a:extLst>
          </p:cNvPr>
          <p:cNvSpPr txBox="1"/>
          <p:nvPr/>
        </p:nvSpPr>
        <p:spPr>
          <a:xfrm>
            <a:off x="8122979" y="6393420"/>
            <a:ext cx="2938881" cy="523220"/>
          </a:xfrm>
          <a:prstGeom prst="rect">
            <a:avLst/>
          </a:prstGeom>
          <a:noFill/>
        </p:spPr>
        <p:txBody>
          <a:bodyPr wrap="none" rtlCol="0">
            <a:spAutoFit/>
          </a:bodyPr>
          <a:lstStyle/>
          <a:p>
            <a:r>
              <a:rPr lang="en-US" sz="2800" dirty="0">
                <a:latin typeface="Glacial Indifference"/>
              </a:rPr>
              <a:t>Univariate Analysis</a:t>
            </a:r>
            <a:endParaRPr lang="en-IN" sz="2800" dirty="0">
              <a:latin typeface="Glacial Indifference"/>
            </a:endParaRPr>
          </a:p>
        </p:txBody>
      </p:sp>
      <p:grpSp>
        <p:nvGrpSpPr>
          <p:cNvPr id="14" name="Group 29">
            <a:extLst>
              <a:ext uri="{FF2B5EF4-FFF2-40B4-BE49-F238E27FC236}">
                <a16:creationId xmlns:a16="http://schemas.microsoft.com/office/drawing/2014/main" id="{DAD3AED6-D31D-D4D4-FC78-478DA18C57E9}"/>
              </a:ext>
            </a:extLst>
          </p:cNvPr>
          <p:cNvGrpSpPr/>
          <p:nvPr/>
        </p:nvGrpSpPr>
        <p:grpSpPr>
          <a:xfrm>
            <a:off x="7357500" y="8568796"/>
            <a:ext cx="596880" cy="596880"/>
            <a:chOff x="9144000" y="5207040"/>
            <a:chExt cx="596880" cy="596880"/>
          </a:xfrm>
        </p:grpSpPr>
        <p:sp>
          <p:nvSpPr>
            <p:cNvPr id="15" name="Freeform 30">
              <a:extLst>
                <a:ext uri="{FF2B5EF4-FFF2-40B4-BE49-F238E27FC236}">
                  <a16:creationId xmlns:a16="http://schemas.microsoft.com/office/drawing/2014/main" id="{F824C3CC-A9E4-D550-EB13-139792A88EF6}"/>
                </a:ext>
              </a:extLst>
            </p:cNvPr>
            <p:cNvSpPr/>
            <p:nvPr/>
          </p:nvSpPr>
          <p:spPr>
            <a:xfrm>
              <a:off x="9144000" y="520704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6" name="TextBox 31">
              <a:extLst>
                <a:ext uri="{FF2B5EF4-FFF2-40B4-BE49-F238E27FC236}">
                  <a16:creationId xmlns:a16="http://schemas.microsoft.com/office/drawing/2014/main" id="{04FDC3D2-D646-E6B2-B290-38D372B72145}"/>
                </a:ext>
              </a:extLst>
            </p:cNvPr>
            <p:cNvSpPr/>
            <p:nvPr/>
          </p:nvSpPr>
          <p:spPr>
            <a:xfrm>
              <a:off x="9200160" y="523512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7" name="Group 29">
            <a:extLst>
              <a:ext uri="{FF2B5EF4-FFF2-40B4-BE49-F238E27FC236}">
                <a16:creationId xmlns:a16="http://schemas.microsoft.com/office/drawing/2014/main" id="{9083482E-C6B8-DEAF-441F-F7D4A703BF2D}"/>
              </a:ext>
            </a:extLst>
          </p:cNvPr>
          <p:cNvGrpSpPr/>
          <p:nvPr/>
        </p:nvGrpSpPr>
        <p:grpSpPr>
          <a:xfrm>
            <a:off x="7357500" y="6393420"/>
            <a:ext cx="596880" cy="596880"/>
            <a:chOff x="9144000" y="5207040"/>
            <a:chExt cx="596880" cy="596880"/>
          </a:xfrm>
        </p:grpSpPr>
        <p:sp>
          <p:nvSpPr>
            <p:cNvPr id="18" name="Freeform 30">
              <a:extLst>
                <a:ext uri="{FF2B5EF4-FFF2-40B4-BE49-F238E27FC236}">
                  <a16:creationId xmlns:a16="http://schemas.microsoft.com/office/drawing/2014/main" id="{1D3C4EAC-3691-1445-A3E0-B0931BFC7EBB}"/>
                </a:ext>
              </a:extLst>
            </p:cNvPr>
            <p:cNvSpPr/>
            <p:nvPr/>
          </p:nvSpPr>
          <p:spPr>
            <a:xfrm>
              <a:off x="9144000" y="520704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9" name="TextBox 31">
              <a:extLst>
                <a:ext uri="{FF2B5EF4-FFF2-40B4-BE49-F238E27FC236}">
                  <a16:creationId xmlns:a16="http://schemas.microsoft.com/office/drawing/2014/main" id="{C9C06A18-0674-E304-57E8-4936F7331F27}"/>
                </a:ext>
              </a:extLst>
            </p:cNvPr>
            <p:cNvSpPr/>
            <p:nvPr/>
          </p:nvSpPr>
          <p:spPr>
            <a:xfrm>
              <a:off x="9200160" y="523512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22" name="TextBox 21">
            <a:extLst>
              <a:ext uri="{FF2B5EF4-FFF2-40B4-BE49-F238E27FC236}">
                <a16:creationId xmlns:a16="http://schemas.microsoft.com/office/drawing/2014/main" id="{36730947-C387-034F-6BA8-D4CEFFDD4369}"/>
              </a:ext>
            </a:extLst>
          </p:cNvPr>
          <p:cNvSpPr txBox="1"/>
          <p:nvPr/>
        </p:nvSpPr>
        <p:spPr>
          <a:xfrm>
            <a:off x="8100411" y="7484240"/>
            <a:ext cx="2714461" cy="523220"/>
          </a:xfrm>
          <a:prstGeom prst="rect">
            <a:avLst/>
          </a:prstGeom>
          <a:noFill/>
        </p:spPr>
        <p:txBody>
          <a:bodyPr wrap="none" rtlCol="0">
            <a:spAutoFit/>
          </a:bodyPr>
          <a:lstStyle/>
          <a:p>
            <a:r>
              <a:rPr lang="en-US" sz="2800" dirty="0">
                <a:latin typeface="Glacial Indifference"/>
              </a:rPr>
              <a:t>Bivariate Analysis</a:t>
            </a:r>
            <a:endParaRPr lang="en-IN" sz="2800" dirty="0">
              <a:latin typeface="Glacial Indifference"/>
            </a:endParaRPr>
          </a:p>
        </p:txBody>
      </p:sp>
      <p:sp>
        <p:nvSpPr>
          <p:cNvPr id="23" name="TextBox 22">
            <a:extLst>
              <a:ext uri="{FF2B5EF4-FFF2-40B4-BE49-F238E27FC236}">
                <a16:creationId xmlns:a16="http://schemas.microsoft.com/office/drawing/2014/main" id="{1FE42D1C-4940-DA71-FD84-AFDC4D1D94F4}"/>
              </a:ext>
            </a:extLst>
          </p:cNvPr>
          <p:cNvSpPr txBox="1"/>
          <p:nvPr/>
        </p:nvSpPr>
        <p:spPr>
          <a:xfrm>
            <a:off x="8074916" y="8549826"/>
            <a:ext cx="3217804" cy="523220"/>
          </a:xfrm>
          <a:prstGeom prst="rect">
            <a:avLst/>
          </a:prstGeom>
          <a:noFill/>
        </p:spPr>
        <p:txBody>
          <a:bodyPr wrap="none" rtlCol="0">
            <a:spAutoFit/>
          </a:bodyPr>
          <a:lstStyle/>
          <a:p>
            <a:r>
              <a:rPr lang="en-US" sz="2800" dirty="0">
                <a:latin typeface="Glacial Indifference"/>
              </a:rPr>
              <a:t>Multivariate Analysis</a:t>
            </a:r>
            <a:endParaRPr lang="en-IN" sz="2800" dirty="0">
              <a:latin typeface="Glacial Indifference"/>
            </a:endParaRPr>
          </a:p>
        </p:txBody>
      </p:sp>
      <p:grpSp>
        <p:nvGrpSpPr>
          <p:cNvPr id="24" name="Group 23">
            <a:extLst>
              <a:ext uri="{FF2B5EF4-FFF2-40B4-BE49-F238E27FC236}">
                <a16:creationId xmlns:a16="http://schemas.microsoft.com/office/drawing/2014/main" id="{C9C9437E-2BDA-B35E-52BB-908209CC5681}"/>
              </a:ext>
            </a:extLst>
          </p:cNvPr>
          <p:cNvGrpSpPr/>
          <p:nvPr/>
        </p:nvGrpSpPr>
        <p:grpSpPr>
          <a:xfrm>
            <a:off x="12381080" y="3084788"/>
            <a:ext cx="596880" cy="596880"/>
            <a:chOff x="9144000" y="3079080"/>
            <a:chExt cx="596880" cy="596880"/>
          </a:xfrm>
        </p:grpSpPr>
        <p:sp>
          <p:nvSpPr>
            <p:cNvPr id="25" name="Freeform 24">
              <a:extLst>
                <a:ext uri="{FF2B5EF4-FFF2-40B4-BE49-F238E27FC236}">
                  <a16:creationId xmlns:a16="http://schemas.microsoft.com/office/drawing/2014/main" id="{7EA34707-C179-277D-E7E5-C35E7E60517E}"/>
                </a:ext>
              </a:extLst>
            </p:cNvPr>
            <p:cNvSpPr/>
            <p:nvPr/>
          </p:nvSpPr>
          <p:spPr>
            <a:xfrm>
              <a:off x="914400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6" name="TextBox 25">
              <a:extLst>
                <a:ext uri="{FF2B5EF4-FFF2-40B4-BE49-F238E27FC236}">
                  <a16:creationId xmlns:a16="http://schemas.microsoft.com/office/drawing/2014/main" id="{2DB47CE0-EEC0-6415-5AE8-7057F17B5F7A}"/>
                </a:ext>
              </a:extLst>
            </p:cNvPr>
            <p:cNvSpPr/>
            <p:nvPr/>
          </p:nvSpPr>
          <p:spPr>
            <a:xfrm>
              <a:off x="920016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27" name="Group 23">
            <a:extLst>
              <a:ext uri="{FF2B5EF4-FFF2-40B4-BE49-F238E27FC236}">
                <a16:creationId xmlns:a16="http://schemas.microsoft.com/office/drawing/2014/main" id="{5F86A9AD-F1CF-F7D0-B9F9-3F3345F3B4D4}"/>
              </a:ext>
            </a:extLst>
          </p:cNvPr>
          <p:cNvGrpSpPr/>
          <p:nvPr/>
        </p:nvGrpSpPr>
        <p:grpSpPr>
          <a:xfrm>
            <a:off x="12381080" y="4215780"/>
            <a:ext cx="596880" cy="596880"/>
            <a:chOff x="9144000" y="3079080"/>
            <a:chExt cx="596880" cy="596880"/>
          </a:xfrm>
        </p:grpSpPr>
        <p:sp>
          <p:nvSpPr>
            <p:cNvPr id="28" name="Freeform 24">
              <a:extLst>
                <a:ext uri="{FF2B5EF4-FFF2-40B4-BE49-F238E27FC236}">
                  <a16:creationId xmlns:a16="http://schemas.microsoft.com/office/drawing/2014/main" id="{E70AAEE7-6BD0-6891-5D08-05D66D40BC8B}"/>
                </a:ext>
              </a:extLst>
            </p:cNvPr>
            <p:cNvSpPr/>
            <p:nvPr/>
          </p:nvSpPr>
          <p:spPr>
            <a:xfrm>
              <a:off x="914400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9" name="TextBox 25">
              <a:extLst>
                <a:ext uri="{FF2B5EF4-FFF2-40B4-BE49-F238E27FC236}">
                  <a16:creationId xmlns:a16="http://schemas.microsoft.com/office/drawing/2014/main" id="{B2593077-44D6-34BB-3354-11DD3956E55E}"/>
                </a:ext>
              </a:extLst>
            </p:cNvPr>
            <p:cNvSpPr/>
            <p:nvPr/>
          </p:nvSpPr>
          <p:spPr>
            <a:xfrm>
              <a:off x="920016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30" name="Group 23">
            <a:extLst>
              <a:ext uri="{FF2B5EF4-FFF2-40B4-BE49-F238E27FC236}">
                <a16:creationId xmlns:a16="http://schemas.microsoft.com/office/drawing/2014/main" id="{626CBD26-496C-A3B5-8179-419FF10E8AE1}"/>
              </a:ext>
            </a:extLst>
          </p:cNvPr>
          <p:cNvGrpSpPr/>
          <p:nvPr/>
        </p:nvGrpSpPr>
        <p:grpSpPr>
          <a:xfrm>
            <a:off x="12381080" y="5284668"/>
            <a:ext cx="596880" cy="596880"/>
            <a:chOff x="9144000" y="3079080"/>
            <a:chExt cx="596880" cy="596880"/>
          </a:xfrm>
        </p:grpSpPr>
        <p:sp>
          <p:nvSpPr>
            <p:cNvPr id="31" name="Freeform 24">
              <a:extLst>
                <a:ext uri="{FF2B5EF4-FFF2-40B4-BE49-F238E27FC236}">
                  <a16:creationId xmlns:a16="http://schemas.microsoft.com/office/drawing/2014/main" id="{922099FD-715A-AF41-A9C9-38A4A5461E77}"/>
                </a:ext>
              </a:extLst>
            </p:cNvPr>
            <p:cNvSpPr/>
            <p:nvPr/>
          </p:nvSpPr>
          <p:spPr>
            <a:xfrm>
              <a:off x="914400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2" name="TextBox 25">
              <a:extLst>
                <a:ext uri="{FF2B5EF4-FFF2-40B4-BE49-F238E27FC236}">
                  <a16:creationId xmlns:a16="http://schemas.microsoft.com/office/drawing/2014/main" id="{C0F8DEF5-34E5-10F1-B338-8CFCDFBC401A}"/>
                </a:ext>
              </a:extLst>
            </p:cNvPr>
            <p:cNvSpPr/>
            <p:nvPr/>
          </p:nvSpPr>
          <p:spPr>
            <a:xfrm>
              <a:off x="920016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33" name="Group 23">
            <a:extLst>
              <a:ext uri="{FF2B5EF4-FFF2-40B4-BE49-F238E27FC236}">
                <a16:creationId xmlns:a16="http://schemas.microsoft.com/office/drawing/2014/main" id="{13E1946C-0229-F602-15CE-FECCCDCC5532}"/>
              </a:ext>
            </a:extLst>
          </p:cNvPr>
          <p:cNvGrpSpPr/>
          <p:nvPr/>
        </p:nvGrpSpPr>
        <p:grpSpPr>
          <a:xfrm>
            <a:off x="12381080" y="6356590"/>
            <a:ext cx="596880" cy="596880"/>
            <a:chOff x="9144000" y="3079080"/>
            <a:chExt cx="596880" cy="596880"/>
          </a:xfrm>
        </p:grpSpPr>
        <p:sp>
          <p:nvSpPr>
            <p:cNvPr id="34" name="Freeform 24">
              <a:extLst>
                <a:ext uri="{FF2B5EF4-FFF2-40B4-BE49-F238E27FC236}">
                  <a16:creationId xmlns:a16="http://schemas.microsoft.com/office/drawing/2014/main" id="{E16D8984-EDC8-D6A5-0424-CBA688D80B89}"/>
                </a:ext>
              </a:extLst>
            </p:cNvPr>
            <p:cNvSpPr/>
            <p:nvPr/>
          </p:nvSpPr>
          <p:spPr>
            <a:xfrm>
              <a:off x="914400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5" name="TextBox 25">
              <a:extLst>
                <a:ext uri="{FF2B5EF4-FFF2-40B4-BE49-F238E27FC236}">
                  <a16:creationId xmlns:a16="http://schemas.microsoft.com/office/drawing/2014/main" id="{879444D8-CBA4-545A-C966-2CC675FDB8C0}"/>
                </a:ext>
              </a:extLst>
            </p:cNvPr>
            <p:cNvSpPr/>
            <p:nvPr/>
          </p:nvSpPr>
          <p:spPr>
            <a:xfrm>
              <a:off x="920016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36" name="Group 23">
            <a:extLst>
              <a:ext uri="{FF2B5EF4-FFF2-40B4-BE49-F238E27FC236}">
                <a16:creationId xmlns:a16="http://schemas.microsoft.com/office/drawing/2014/main" id="{C71A7C7B-B982-7395-7380-ECF76AEC81D4}"/>
              </a:ext>
            </a:extLst>
          </p:cNvPr>
          <p:cNvGrpSpPr/>
          <p:nvPr/>
        </p:nvGrpSpPr>
        <p:grpSpPr>
          <a:xfrm>
            <a:off x="12395320" y="7492292"/>
            <a:ext cx="596880" cy="596880"/>
            <a:chOff x="9144000" y="3079080"/>
            <a:chExt cx="596880" cy="596880"/>
          </a:xfrm>
        </p:grpSpPr>
        <p:sp>
          <p:nvSpPr>
            <p:cNvPr id="37" name="Freeform 24">
              <a:extLst>
                <a:ext uri="{FF2B5EF4-FFF2-40B4-BE49-F238E27FC236}">
                  <a16:creationId xmlns:a16="http://schemas.microsoft.com/office/drawing/2014/main" id="{74060346-E777-06D3-BAB9-4C457DE932FD}"/>
                </a:ext>
              </a:extLst>
            </p:cNvPr>
            <p:cNvSpPr/>
            <p:nvPr/>
          </p:nvSpPr>
          <p:spPr>
            <a:xfrm>
              <a:off x="914400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8" name="TextBox 25">
              <a:extLst>
                <a:ext uri="{FF2B5EF4-FFF2-40B4-BE49-F238E27FC236}">
                  <a16:creationId xmlns:a16="http://schemas.microsoft.com/office/drawing/2014/main" id="{51C7E47B-FB12-DC4C-1D5C-65723F53D568}"/>
                </a:ext>
              </a:extLst>
            </p:cNvPr>
            <p:cNvSpPr/>
            <p:nvPr/>
          </p:nvSpPr>
          <p:spPr>
            <a:xfrm>
              <a:off x="920016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39" name="Group 23">
            <a:extLst>
              <a:ext uri="{FF2B5EF4-FFF2-40B4-BE49-F238E27FC236}">
                <a16:creationId xmlns:a16="http://schemas.microsoft.com/office/drawing/2014/main" id="{FA1716CE-7D3C-0610-68D1-8564EF11B081}"/>
              </a:ext>
            </a:extLst>
          </p:cNvPr>
          <p:cNvGrpSpPr/>
          <p:nvPr/>
        </p:nvGrpSpPr>
        <p:grpSpPr>
          <a:xfrm>
            <a:off x="12395320" y="8582656"/>
            <a:ext cx="596880" cy="596880"/>
            <a:chOff x="9144000" y="3079080"/>
            <a:chExt cx="596880" cy="596880"/>
          </a:xfrm>
        </p:grpSpPr>
        <p:sp>
          <p:nvSpPr>
            <p:cNvPr id="40" name="Freeform 24">
              <a:extLst>
                <a:ext uri="{FF2B5EF4-FFF2-40B4-BE49-F238E27FC236}">
                  <a16:creationId xmlns:a16="http://schemas.microsoft.com/office/drawing/2014/main" id="{01327571-9A26-4CB4-447A-87E8F92D2E45}"/>
                </a:ext>
              </a:extLst>
            </p:cNvPr>
            <p:cNvSpPr/>
            <p:nvPr/>
          </p:nvSpPr>
          <p:spPr>
            <a:xfrm>
              <a:off x="914400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1" name="TextBox 25">
              <a:extLst>
                <a:ext uri="{FF2B5EF4-FFF2-40B4-BE49-F238E27FC236}">
                  <a16:creationId xmlns:a16="http://schemas.microsoft.com/office/drawing/2014/main" id="{1B7CDD1E-BC64-B49E-E72F-71CB43D889F2}"/>
                </a:ext>
              </a:extLst>
            </p:cNvPr>
            <p:cNvSpPr/>
            <p:nvPr/>
          </p:nvSpPr>
          <p:spPr>
            <a:xfrm>
              <a:off x="920016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43" name="TextBox 42">
            <a:extLst>
              <a:ext uri="{FF2B5EF4-FFF2-40B4-BE49-F238E27FC236}">
                <a16:creationId xmlns:a16="http://schemas.microsoft.com/office/drawing/2014/main" id="{CACA19DC-2007-5CFB-0A92-18BEF599496D}"/>
              </a:ext>
            </a:extLst>
          </p:cNvPr>
          <p:cNvSpPr txBox="1"/>
          <p:nvPr/>
        </p:nvSpPr>
        <p:spPr>
          <a:xfrm>
            <a:off x="13107309" y="3073180"/>
            <a:ext cx="3047501" cy="523220"/>
          </a:xfrm>
          <a:prstGeom prst="rect">
            <a:avLst/>
          </a:prstGeom>
          <a:noFill/>
        </p:spPr>
        <p:txBody>
          <a:bodyPr wrap="none" rtlCol="0">
            <a:spAutoFit/>
          </a:bodyPr>
          <a:lstStyle/>
          <a:p>
            <a:r>
              <a:rPr lang="en-US" sz="2800" dirty="0">
                <a:latin typeface="Glacial Indifference"/>
              </a:rPr>
              <a:t>Statistical Summary</a:t>
            </a:r>
            <a:endParaRPr lang="en-IN" sz="2800" dirty="0">
              <a:latin typeface="Glacial Indifference"/>
            </a:endParaRPr>
          </a:p>
        </p:txBody>
      </p:sp>
      <p:sp>
        <p:nvSpPr>
          <p:cNvPr id="44" name="TextBox 43">
            <a:extLst>
              <a:ext uri="{FF2B5EF4-FFF2-40B4-BE49-F238E27FC236}">
                <a16:creationId xmlns:a16="http://schemas.microsoft.com/office/drawing/2014/main" id="{C7485049-8B37-FEBF-0ED7-62B9A91A61EA}"/>
              </a:ext>
            </a:extLst>
          </p:cNvPr>
          <p:cNvSpPr txBox="1"/>
          <p:nvPr/>
        </p:nvSpPr>
        <p:spPr>
          <a:xfrm>
            <a:off x="13107309" y="4216231"/>
            <a:ext cx="3326360" cy="523220"/>
          </a:xfrm>
          <a:prstGeom prst="rect">
            <a:avLst/>
          </a:prstGeom>
          <a:noFill/>
        </p:spPr>
        <p:txBody>
          <a:bodyPr wrap="none" rtlCol="0">
            <a:spAutoFit/>
          </a:bodyPr>
          <a:lstStyle/>
          <a:p>
            <a:r>
              <a:rPr lang="en-US" sz="2800" dirty="0">
                <a:latin typeface="Glacial Indifference"/>
              </a:rPr>
              <a:t>Correlational Analysis</a:t>
            </a:r>
            <a:endParaRPr lang="en-IN" sz="2800" dirty="0">
              <a:latin typeface="Glacial Indifference"/>
            </a:endParaRPr>
          </a:p>
        </p:txBody>
      </p:sp>
      <p:sp>
        <p:nvSpPr>
          <p:cNvPr id="45" name="TextBox 44">
            <a:extLst>
              <a:ext uri="{FF2B5EF4-FFF2-40B4-BE49-F238E27FC236}">
                <a16:creationId xmlns:a16="http://schemas.microsoft.com/office/drawing/2014/main" id="{D5F504EC-2677-D45A-497D-A30666A1E949}"/>
              </a:ext>
            </a:extLst>
          </p:cNvPr>
          <p:cNvSpPr txBox="1"/>
          <p:nvPr/>
        </p:nvSpPr>
        <p:spPr>
          <a:xfrm>
            <a:off x="13107309" y="5331240"/>
            <a:ext cx="2159887" cy="523220"/>
          </a:xfrm>
          <a:prstGeom prst="rect">
            <a:avLst/>
          </a:prstGeom>
          <a:noFill/>
        </p:spPr>
        <p:txBody>
          <a:bodyPr wrap="none" rtlCol="0">
            <a:spAutoFit/>
          </a:bodyPr>
          <a:lstStyle/>
          <a:p>
            <a:r>
              <a:rPr lang="en-US" sz="2800">
                <a:latin typeface="Glacial Indifference"/>
              </a:rPr>
              <a:t>Visualizations</a:t>
            </a:r>
            <a:endParaRPr lang="en-IN" sz="2800" dirty="0">
              <a:latin typeface="Glacial Indifference"/>
            </a:endParaRPr>
          </a:p>
        </p:txBody>
      </p:sp>
      <p:sp>
        <p:nvSpPr>
          <p:cNvPr id="48" name="TextBox 47">
            <a:extLst>
              <a:ext uri="{FF2B5EF4-FFF2-40B4-BE49-F238E27FC236}">
                <a16:creationId xmlns:a16="http://schemas.microsoft.com/office/drawing/2014/main" id="{C3D4C705-8CF7-10E0-14F4-B467C4D2E6B5}"/>
              </a:ext>
            </a:extLst>
          </p:cNvPr>
          <p:cNvSpPr txBox="1"/>
          <p:nvPr/>
        </p:nvSpPr>
        <p:spPr>
          <a:xfrm>
            <a:off x="13107309" y="6379560"/>
            <a:ext cx="2307683" cy="523220"/>
          </a:xfrm>
          <a:prstGeom prst="rect">
            <a:avLst/>
          </a:prstGeom>
          <a:noFill/>
        </p:spPr>
        <p:txBody>
          <a:bodyPr wrap="none" rtlCol="0">
            <a:spAutoFit/>
          </a:bodyPr>
          <a:lstStyle/>
          <a:p>
            <a:r>
              <a:rPr lang="en-US" sz="2800" dirty="0">
                <a:latin typeface="Glacial Indifference"/>
              </a:rPr>
              <a:t>Project phases</a:t>
            </a:r>
            <a:endParaRPr lang="en-IN" sz="2800" dirty="0">
              <a:latin typeface="Glacial Indifference"/>
            </a:endParaRPr>
          </a:p>
        </p:txBody>
      </p:sp>
      <p:sp>
        <p:nvSpPr>
          <p:cNvPr id="49" name="TextBox 48">
            <a:extLst>
              <a:ext uri="{FF2B5EF4-FFF2-40B4-BE49-F238E27FC236}">
                <a16:creationId xmlns:a16="http://schemas.microsoft.com/office/drawing/2014/main" id="{AF9B1329-A4A2-40DB-A80F-4579FFCBCB11}"/>
              </a:ext>
            </a:extLst>
          </p:cNvPr>
          <p:cNvSpPr txBox="1"/>
          <p:nvPr/>
        </p:nvSpPr>
        <p:spPr>
          <a:xfrm>
            <a:off x="13107309" y="7520372"/>
            <a:ext cx="1900585" cy="523220"/>
          </a:xfrm>
          <a:prstGeom prst="rect">
            <a:avLst/>
          </a:prstGeom>
          <a:noFill/>
        </p:spPr>
        <p:txBody>
          <a:bodyPr wrap="none" rtlCol="0">
            <a:spAutoFit/>
          </a:bodyPr>
          <a:lstStyle/>
          <a:p>
            <a:r>
              <a:rPr lang="en-US" sz="2800" dirty="0">
                <a:latin typeface="Glacial Indifference"/>
              </a:rPr>
              <a:t>Key Insights</a:t>
            </a:r>
            <a:endParaRPr lang="en-IN" sz="2800" dirty="0">
              <a:latin typeface="Glacial Indifference"/>
            </a:endParaRPr>
          </a:p>
        </p:txBody>
      </p:sp>
      <p:sp>
        <p:nvSpPr>
          <p:cNvPr id="53" name="TextBox 52">
            <a:extLst>
              <a:ext uri="{FF2B5EF4-FFF2-40B4-BE49-F238E27FC236}">
                <a16:creationId xmlns:a16="http://schemas.microsoft.com/office/drawing/2014/main" id="{DCE74EE8-DA67-A7AB-FDC9-4D07CDFCCC05}"/>
              </a:ext>
            </a:extLst>
          </p:cNvPr>
          <p:cNvSpPr txBox="1"/>
          <p:nvPr/>
        </p:nvSpPr>
        <p:spPr>
          <a:xfrm>
            <a:off x="13071251" y="8619486"/>
            <a:ext cx="5216749" cy="523220"/>
          </a:xfrm>
          <a:prstGeom prst="rect">
            <a:avLst/>
          </a:prstGeom>
          <a:noFill/>
        </p:spPr>
        <p:txBody>
          <a:bodyPr wrap="none" rtlCol="0">
            <a:spAutoFit/>
          </a:bodyPr>
          <a:lstStyle/>
          <a:p>
            <a:r>
              <a:rPr lang="en-US" sz="2800" dirty="0">
                <a:latin typeface="Glacial Indifference"/>
              </a:rPr>
              <a:t>Recommendations and Conclusion</a:t>
            </a:r>
            <a:endParaRPr lang="en-IN" sz="2800" dirty="0">
              <a:latin typeface="Glacial Indifferenc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126" name="Group 2"/>
          <p:cNvGrpSpPr/>
          <p:nvPr/>
        </p:nvGrpSpPr>
        <p:grpSpPr>
          <a:xfrm>
            <a:off x="1028880" y="884160"/>
            <a:ext cx="16230240" cy="1360440"/>
            <a:chOff x="1028880" y="884160"/>
            <a:chExt cx="16230240" cy="1360440"/>
          </a:xfrm>
        </p:grpSpPr>
        <p:sp>
          <p:nvSpPr>
            <p:cNvPr id="127"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8"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29" name="Group 5"/>
          <p:cNvGrpSpPr/>
          <p:nvPr/>
        </p:nvGrpSpPr>
        <p:grpSpPr>
          <a:xfrm>
            <a:off x="1028880" y="2612520"/>
            <a:ext cx="4839840" cy="1340640"/>
            <a:chOff x="1028880" y="2612520"/>
            <a:chExt cx="4839840" cy="1340640"/>
          </a:xfrm>
        </p:grpSpPr>
        <p:sp>
          <p:nvSpPr>
            <p:cNvPr id="130" name="Freeform 6"/>
            <p:cNvSpPr/>
            <p:nvPr/>
          </p:nvSpPr>
          <p:spPr>
            <a:xfrm>
              <a:off x="1028880" y="2865600"/>
              <a:ext cx="4839840" cy="1087200"/>
            </a:xfrm>
            <a:custGeom>
              <a:avLst/>
              <a:gdLst>
                <a:gd name="textAreaLeft" fmla="*/ 0 w 4839840"/>
                <a:gd name="textAreaRight" fmla="*/ 4840200 w 4839840"/>
                <a:gd name="textAreaTop" fmla="*/ 0 h 1087200"/>
                <a:gd name="textAreaBottom" fmla="*/ 1087560 h 1087200"/>
              </a:gdLst>
              <a:ahLst/>
              <a:cxnLst/>
              <a:rect l="textAreaLeft" t="textAreaTop" r="textAreaRight" b="textAreaBottom"/>
              <a:pathLst>
                <a:path w="1274764" h="286467">
                  <a:moveTo>
                    <a:pt x="81576" y="0"/>
                  </a:moveTo>
                  <a:lnTo>
                    <a:pt x="1193188" y="0"/>
                  </a:lnTo>
                  <a:cubicBezTo>
                    <a:pt x="1238241" y="0"/>
                    <a:pt x="1274764" y="36523"/>
                    <a:pt x="1274764" y="81576"/>
                  </a:cubicBezTo>
                  <a:lnTo>
                    <a:pt x="1274764" y="204891"/>
                  </a:lnTo>
                  <a:cubicBezTo>
                    <a:pt x="1274764" y="249944"/>
                    <a:pt x="1238241" y="286467"/>
                    <a:pt x="1193188" y="286467"/>
                  </a:cubicBezTo>
                  <a:lnTo>
                    <a:pt x="81576" y="286467"/>
                  </a:lnTo>
                  <a:cubicBezTo>
                    <a:pt x="59941" y="286467"/>
                    <a:pt x="39192" y="277872"/>
                    <a:pt x="23893" y="262574"/>
                  </a:cubicBezTo>
                  <a:cubicBezTo>
                    <a:pt x="8595" y="247275"/>
                    <a:pt x="0" y="226526"/>
                    <a:pt x="0" y="204891"/>
                  </a:cubicBezTo>
                  <a:lnTo>
                    <a:pt x="0" y="81576"/>
                  </a:lnTo>
                  <a:cubicBezTo>
                    <a:pt x="0" y="59941"/>
                    <a:pt x="8595" y="39192"/>
                    <a:pt x="23893" y="23893"/>
                  </a:cubicBezTo>
                  <a:cubicBezTo>
                    <a:pt x="39192" y="8595"/>
                    <a:pt x="59941" y="0"/>
                    <a:pt x="81576" y="0"/>
                  </a:cubicBezTo>
                  <a:close/>
                </a:path>
              </a:pathLst>
            </a:custGeom>
            <a:noFill/>
            <a:ln w="47625"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1" name="TextBox 7"/>
            <p:cNvSpPr/>
            <p:nvPr/>
          </p:nvSpPr>
          <p:spPr>
            <a:xfrm>
              <a:off x="1028880" y="2612520"/>
              <a:ext cx="4839840" cy="1340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5040"/>
                </a:lnSpc>
              </a:pPr>
              <a:endParaRPr lang="en-US" sz="1800" b="0" strike="noStrike" spc="-1">
                <a:solidFill>
                  <a:schemeClr val="dk1"/>
                </a:solidFill>
                <a:latin typeface="Calibri"/>
              </a:endParaRPr>
            </a:p>
          </p:txBody>
        </p:sp>
      </p:grpSp>
      <p:sp>
        <p:nvSpPr>
          <p:cNvPr id="132" name="Freeform 8"/>
          <p:cNvSpPr/>
          <p:nvPr/>
        </p:nvSpPr>
        <p:spPr>
          <a:xfrm>
            <a:off x="8509320" y="5520600"/>
            <a:ext cx="4547520" cy="3737160"/>
          </a:xfrm>
          <a:custGeom>
            <a:avLst/>
            <a:gdLst>
              <a:gd name="textAreaLeft" fmla="*/ 0 w 4547520"/>
              <a:gd name="textAreaRight" fmla="*/ 4547880 w 4547520"/>
              <a:gd name="textAreaTop" fmla="*/ 0 h 3737160"/>
              <a:gd name="textAreaBottom" fmla="*/ 3737520 h 3737160"/>
            </a:gdLst>
            <a:ahLst/>
            <a:cxnLst/>
            <a:rect l="textAreaLeft" t="textAreaTop" r="textAreaRight" b="textAreaBottom"/>
            <a:pathLst>
              <a:path w="4548045" h="3737666">
                <a:moveTo>
                  <a:pt x="0" y="0"/>
                </a:moveTo>
                <a:lnTo>
                  <a:pt x="4548045" y="0"/>
                </a:lnTo>
                <a:lnTo>
                  <a:pt x="4548045" y="3737666"/>
                </a:lnTo>
                <a:lnTo>
                  <a:pt x="0" y="3737666"/>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3" name="TextBox 9"/>
          <p:cNvSpPr/>
          <p:nvPr/>
        </p:nvSpPr>
        <p:spPr>
          <a:xfrm>
            <a:off x="150264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8960"/>
              </a:lnSpc>
            </a:pPr>
            <a:r>
              <a:rPr lang="en-US" sz="6400" b="0" strike="noStrike" spc="-1">
                <a:solidFill>
                  <a:srgbClr val="F1F0E7"/>
                </a:solidFill>
                <a:latin typeface="Anton"/>
                <a:ea typeface="Anton"/>
              </a:rPr>
              <a:t>Project  Objectives</a:t>
            </a:r>
            <a:endParaRPr lang="en-US" sz="6400" b="0" strike="noStrike" spc="-1">
              <a:solidFill>
                <a:srgbClr val="000000"/>
              </a:solidFill>
              <a:latin typeface="Arial"/>
            </a:endParaRPr>
          </a:p>
        </p:txBody>
      </p:sp>
      <p:sp>
        <p:nvSpPr>
          <p:cNvPr id="134" name="TextBox 10"/>
          <p:cNvSpPr/>
          <p:nvPr/>
        </p:nvSpPr>
        <p:spPr>
          <a:xfrm>
            <a:off x="1028880" y="2910240"/>
            <a:ext cx="4838760" cy="138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640"/>
              </a:lnSpc>
            </a:pPr>
            <a:r>
              <a:rPr lang="en-US" sz="2600" b="0" strike="noStrike" spc="-1">
                <a:solidFill>
                  <a:srgbClr val="000000"/>
                </a:solidFill>
                <a:latin typeface="Glacial Indifference"/>
                <a:ea typeface="Glacial Indifference"/>
              </a:rPr>
              <a:t>Understand the structure and quality of the student dataset</a:t>
            </a:r>
            <a:endParaRPr lang="en-US" sz="2600" b="0" strike="noStrike" spc="-1">
              <a:solidFill>
                <a:srgbClr val="000000"/>
              </a:solidFill>
              <a:latin typeface="Arial"/>
            </a:endParaRPr>
          </a:p>
        </p:txBody>
      </p:sp>
      <p:grpSp>
        <p:nvGrpSpPr>
          <p:cNvPr id="135" name="Group 11"/>
          <p:cNvGrpSpPr/>
          <p:nvPr/>
        </p:nvGrpSpPr>
        <p:grpSpPr>
          <a:xfrm>
            <a:off x="1001160" y="5750640"/>
            <a:ext cx="4839840" cy="1340640"/>
            <a:chOff x="1001160" y="5750640"/>
            <a:chExt cx="4839840" cy="1340640"/>
          </a:xfrm>
        </p:grpSpPr>
        <p:sp>
          <p:nvSpPr>
            <p:cNvPr id="136" name="Freeform 12"/>
            <p:cNvSpPr/>
            <p:nvPr/>
          </p:nvSpPr>
          <p:spPr>
            <a:xfrm>
              <a:off x="1001160" y="6003720"/>
              <a:ext cx="4839840" cy="1087200"/>
            </a:xfrm>
            <a:custGeom>
              <a:avLst/>
              <a:gdLst>
                <a:gd name="textAreaLeft" fmla="*/ 0 w 4839840"/>
                <a:gd name="textAreaRight" fmla="*/ 4840200 w 4839840"/>
                <a:gd name="textAreaTop" fmla="*/ 0 h 1087200"/>
                <a:gd name="textAreaBottom" fmla="*/ 1087560 h 1087200"/>
              </a:gdLst>
              <a:ahLst/>
              <a:cxnLst/>
              <a:rect l="textAreaLeft" t="textAreaTop" r="textAreaRight" b="textAreaBottom"/>
              <a:pathLst>
                <a:path w="1274764" h="286467">
                  <a:moveTo>
                    <a:pt x="81576" y="0"/>
                  </a:moveTo>
                  <a:lnTo>
                    <a:pt x="1193188" y="0"/>
                  </a:lnTo>
                  <a:cubicBezTo>
                    <a:pt x="1238241" y="0"/>
                    <a:pt x="1274764" y="36523"/>
                    <a:pt x="1274764" y="81576"/>
                  </a:cubicBezTo>
                  <a:lnTo>
                    <a:pt x="1274764" y="204891"/>
                  </a:lnTo>
                  <a:cubicBezTo>
                    <a:pt x="1274764" y="249944"/>
                    <a:pt x="1238241" y="286467"/>
                    <a:pt x="1193188" y="286467"/>
                  </a:cubicBezTo>
                  <a:lnTo>
                    <a:pt x="81576" y="286467"/>
                  </a:lnTo>
                  <a:cubicBezTo>
                    <a:pt x="59941" y="286467"/>
                    <a:pt x="39192" y="277872"/>
                    <a:pt x="23893" y="262574"/>
                  </a:cubicBezTo>
                  <a:cubicBezTo>
                    <a:pt x="8595" y="247275"/>
                    <a:pt x="0" y="226526"/>
                    <a:pt x="0" y="204891"/>
                  </a:cubicBezTo>
                  <a:lnTo>
                    <a:pt x="0" y="81576"/>
                  </a:lnTo>
                  <a:cubicBezTo>
                    <a:pt x="0" y="59941"/>
                    <a:pt x="8595" y="39192"/>
                    <a:pt x="23893" y="23893"/>
                  </a:cubicBezTo>
                  <a:cubicBezTo>
                    <a:pt x="39192" y="8595"/>
                    <a:pt x="59941" y="0"/>
                    <a:pt x="81576" y="0"/>
                  </a:cubicBezTo>
                  <a:close/>
                </a:path>
              </a:pathLst>
            </a:custGeom>
            <a:noFill/>
            <a:ln w="47625"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7" name="TextBox 13"/>
            <p:cNvSpPr/>
            <p:nvPr/>
          </p:nvSpPr>
          <p:spPr>
            <a:xfrm>
              <a:off x="1001160" y="5750640"/>
              <a:ext cx="4839840" cy="1340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5040"/>
                </a:lnSpc>
              </a:pPr>
              <a:endParaRPr lang="en-US" sz="1800" b="0" strike="noStrike" spc="-1">
                <a:solidFill>
                  <a:schemeClr val="dk1"/>
                </a:solidFill>
                <a:latin typeface="Calibri"/>
              </a:endParaRPr>
            </a:p>
          </p:txBody>
        </p:sp>
      </p:grpSp>
      <p:sp>
        <p:nvSpPr>
          <p:cNvPr id="138" name="TextBox 14"/>
          <p:cNvSpPr/>
          <p:nvPr/>
        </p:nvSpPr>
        <p:spPr>
          <a:xfrm>
            <a:off x="1029600" y="6066360"/>
            <a:ext cx="4838760" cy="138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640"/>
              </a:lnSpc>
            </a:pPr>
            <a:r>
              <a:rPr lang="en-US" sz="2600" b="0" strike="noStrike" spc="-1">
                <a:solidFill>
                  <a:srgbClr val="000000"/>
                </a:solidFill>
                <a:latin typeface="Glacial Indifference"/>
                <a:ea typeface="Glacial Indifference"/>
              </a:rPr>
              <a:t>Explore demographic, academic and behavioral patterns </a:t>
            </a:r>
            <a:endParaRPr lang="en-US" sz="2600" b="0" strike="noStrike" spc="-1">
              <a:solidFill>
                <a:srgbClr val="000000"/>
              </a:solidFill>
              <a:latin typeface="Arial"/>
            </a:endParaRPr>
          </a:p>
        </p:txBody>
      </p:sp>
      <p:grpSp>
        <p:nvGrpSpPr>
          <p:cNvPr id="139" name="Group 15"/>
          <p:cNvGrpSpPr/>
          <p:nvPr/>
        </p:nvGrpSpPr>
        <p:grpSpPr>
          <a:xfrm>
            <a:off x="1001160" y="7390800"/>
            <a:ext cx="4839840" cy="1340640"/>
            <a:chOff x="1001160" y="7390800"/>
            <a:chExt cx="4839840" cy="1340640"/>
          </a:xfrm>
        </p:grpSpPr>
        <p:sp>
          <p:nvSpPr>
            <p:cNvPr id="140" name="Freeform 16"/>
            <p:cNvSpPr/>
            <p:nvPr/>
          </p:nvSpPr>
          <p:spPr>
            <a:xfrm>
              <a:off x="1001160" y="7643880"/>
              <a:ext cx="4839840" cy="1087200"/>
            </a:xfrm>
            <a:custGeom>
              <a:avLst/>
              <a:gdLst>
                <a:gd name="textAreaLeft" fmla="*/ 0 w 4839840"/>
                <a:gd name="textAreaRight" fmla="*/ 4840200 w 4839840"/>
                <a:gd name="textAreaTop" fmla="*/ 0 h 1087200"/>
                <a:gd name="textAreaBottom" fmla="*/ 1087560 h 1087200"/>
              </a:gdLst>
              <a:ahLst/>
              <a:cxnLst/>
              <a:rect l="textAreaLeft" t="textAreaTop" r="textAreaRight" b="textAreaBottom"/>
              <a:pathLst>
                <a:path w="1274764" h="286467">
                  <a:moveTo>
                    <a:pt x="81576" y="0"/>
                  </a:moveTo>
                  <a:lnTo>
                    <a:pt x="1193188" y="0"/>
                  </a:lnTo>
                  <a:cubicBezTo>
                    <a:pt x="1238241" y="0"/>
                    <a:pt x="1274764" y="36523"/>
                    <a:pt x="1274764" y="81576"/>
                  </a:cubicBezTo>
                  <a:lnTo>
                    <a:pt x="1274764" y="204891"/>
                  </a:lnTo>
                  <a:cubicBezTo>
                    <a:pt x="1274764" y="249944"/>
                    <a:pt x="1238241" y="286467"/>
                    <a:pt x="1193188" y="286467"/>
                  </a:cubicBezTo>
                  <a:lnTo>
                    <a:pt x="81576" y="286467"/>
                  </a:lnTo>
                  <a:cubicBezTo>
                    <a:pt x="59941" y="286467"/>
                    <a:pt x="39192" y="277872"/>
                    <a:pt x="23893" y="262574"/>
                  </a:cubicBezTo>
                  <a:cubicBezTo>
                    <a:pt x="8595" y="247275"/>
                    <a:pt x="0" y="226526"/>
                    <a:pt x="0" y="204891"/>
                  </a:cubicBezTo>
                  <a:lnTo>
                    <a:pt x="0" y="81576"/>
                  </a:lnTo>
                  <a:cubicBezTo>
                    <a:pt x="0" y="59941"/>
                    <a:pt x="8595" y="39192"/>
                    <a:pt x="23893" y="23893"/>
                  </a:cubicBezTo>
                  <a:cubicBezTo>
                    <a:pt x="39192" y="8595"/>
                    <a:pt x="59941" y="0"/>
                    <a:pt x="81576" y="0"/>
                  </a:cubicBezTo>
                  <a:close/>
                </a:path>
              </a:pathLst>
            </a:custGeom>
            <a:noFill/>
            <a:ln w="47625"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41" name="TextBox 17"/>
            <p:cNvSpPr/>
            <p:nvPr/>
          </p:nvSpPr>
          <p:spPr>
            <a:xfrm>
              <a:off x="1001160" y="7390800"/>
              <a:ext cx="4839840" cy="1340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5040"/>
                </a:lnSpc>
              </a:pPr>
              <a:endParaRPr lang="en-US" sz="1800" b="0" strike="noStrike" spc="-1">
                <a:solidFill>
                  <a:schemeClr val="dk1"/>
                </a:solidFill>
                <a:latin typeface="Calibri"/>
              </a:endParaRPr>
            </a:p>
          </p:txBody>
        </p:sp>
      </p:grpSp>
      <p:sp>
        <p:nvSpPr>
          <p:cNvPr id="142" name="TextBox 18"/>
          <p:cNvSpPr/>
          <p:nvPr/>
        </p:nvSpPr>
        <p:spPr>
          <a:xfrm>
            <a:off x="1309680" y="7701120"/>
            <a:ext cx="4222440" cy="138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640"/>
              </a:lnSpc>
            </a:pPr>
            <a:r>
              <a:rPr lang="en-US" sz="2600" b="0" strike="noStrike" spc="-1">
                <a:solidFill>
                  <a:srgbClr val="000000"/>
                </a:solidFill>
                <a:latin typeface="Glacial Indifference"/>
                <a:ea typeface="Glacial Indifference"/>
              </a:rPr>
              <a:t>Generate actionable insights and recommendations</a:t>
            </a:r>
            <a:endParaRPr lang="en-US" sz="2600" b="0" strike="noStrike" spc="-1">
              <a:solidFill>
                <a:srgbClr val="000000"/>
              </a:solidFill>
              <a:latin typeface="Arial"/>
            </a:endParaRPr>
          </a:p>
        </p:txBody>
      </p:sp>
      <p:sp>
        <p:nvSpPr>
          <p:cNvPr id="143" name="TextBox 19"/>
          <p:cNvSpPr/>
          <p:nvPr/>
        </p:nvSpPr>
        <p:spPr>
          <a:xfrm>
            <a:off x="7847280" y="2827440"/>
            <a:ext cx="9411840" cy="3190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806"/>
              </a:lnSpc>
            </a:pPr>
            <a:r>
              <a:rPr lang="en-US" sz="2000" b="0" strike="noStrike" spc="-1">
                <a:solidFill>
                  <a:srgbClr val="112C16"/>
                </a:solidFill>
                <a:latin typeface="Glacial Indifference"/>
                <a:ea typeface="Glacial Indifference"/>
              </a:rPr>
              <a:t>Student academic performance is influenced by several factors such as study habits, attendance, previous academic performance and behavioral characteristics. This project analyzes student performance and behavioral data to identify important patterns, relationships and factors associated with academic outcomes.</a:t>
            </a:r>
            <a:endParaRPr lang="en-US" sz="2000" b="0" strike="noStrike" spc="-1">
              <a:solidFill>
                <a:srgbClr val="000000"/>
              </a:solidFill>
              <a:latin typeface="Arial"/>
            </a:endParaRPr>
          </a:p>
          <a:p>
            <a:pPr algn="just" defTabSz="914400">
              <a:lnSpc>
                <a:spcPts val="2806"/>
              </a:lnSpc>
            </a:pPr>
            <a:r>
              <a:rPr lang="en-US" sz="2000" b="0" strike="noStrike" spc="-1">
                <a:solidFill>
                  <a:srgbClr val="112C16"/>
                </a:solidFill>
                <a:latin typeface="Glacial Indifference"/>
                <a:ea typeface="Glacial Indifference"/>
              </a:rPr>
              <a:t>Using Python, Pandas, NumPy, Matplotlib, Seaborn, and Plotly, the analysis covers data cleaning, exploratory data analysis, statistical analysis, visualization and insight generation.</a:t>
            </a:r>
            <a:endParaRPr lang="en-US" sz="2000" b="0" strike="noStrike" spc="-1">
              <a:solidFill>
                <a:srgbClr val="000000"/>
              </a:solidFill>
              <a:latin typeface="Arial"/>
            </a:endParaRPr>
          </a:p>
          <a:p>
            <a:pPr algn="just" defTabSz="914400">
              <a:lnSpc>
                <a:spcPts val="2673"/>
              </a:lnSpc>
            </a:pPr>
            <a:endParaRPr lang="en-US" sz="2000" b="0" strike="noStrike" spc="-1">
              <a:solidFill>
                <a:srgbClr val="000000"/>
              </a:solidFill>
              <a:latin typeface="Arial"/>
            </a:endParaRPr>
          </a:p>
        </p:txBody>
      </p:sp>
      <p:grpSp>
        <p:nvGrpSpPr>
          <p:cNvPr id="144" name="Group 20"/>
          <p:cNvGrpSpPr/>
          <p:nvPr/>
        </p:nvGrpSpPr>
        <p:grpSpPr>
          <a:xfrm>
            <a:off x="1028880" y="4110480"/>
            <a:ext cx="4839840" cy="1340640"/>
            <a:chOff x="1028880" y="4110480"/>
            <a:chExt cx="4839840" cy="1340640"/>
          </a:xfrm>
        </p:grpSpPr>
        <p:sp>
          <p:nvSpPr>
            <p:cNvPr id="145" name="Freeform 21"/>
            <p:cNvSpPr/>
            <p:nvPr/>
          </p:nvSpPr>
          <p:spPr>
            <a:xfrm>
              <a:off x="1028880" y="4363920"/>
              <a:ext cx="4839840" cy="1087200"/>
            </a:xfrm>
            <a:custGeom>
              <a:avLst/>
              <a:gdLst>
                <a:gd name="textAreaLeft" fmla="*/ 0 w 4839840"/>
                <a:gd name="textAreaRight" fmla="*/ 4840200 w 4839840"/>
                <a:gd name="textAreaTop" fmla="*/ 0 h 1087200"/>
                <a:gd name="textAreaBottom" fmla="*/ 1087560 h 1087200"/>
              </a:gdLst>
              <a:ahLst/>
              <a:cxnLst/>
              <a:rect l="textAreaLeft" t="textAreaTop" r="textAreaRight" b="textAreaBottom"/>
              <a:pathLst>
                <a:path w="1274764" h="286467">
                  <a:moveTo>
                    <a:pt x="81576" y="0"/>
                  </a:moveTo>
                  <a:lnTo>
                    <a:pt x="1193188" y="0"/>
                  </a:lnTo>
                  <a:cubicBezTo>
                    <a:pt x="1238241" y="0"/>
                    <a:pt x="1274764" y="36523"/>
                    <a:pt x="1274764" y="81576"/>
                  </a:cubicBezTo>
                  <a:lnTo>
                    <a:pt x="1274764" y="204891"/>
                  </a:lnTo>
                  <a:cubicBezTo>
                    <a:pt x="1274764" y="249944"/>
                    <a:pt x="1238241" y="286467"/>
                    <a:pt x="1193188" y="286467"/>
                  </a:cubicBezTo>
                  <a:lnTo>
                    <a:pt x="81576" y="286467"/>
                  </a:lnTo>
                  <a:cubicBezTo>
                    <a:pt x="59941" y="286467"/>
                    <a:pt x="39192" y="277872"/>
                    <a:pt x="23893" y="262574"/>
                  </a:cubicBezTo>
                  <a:cubicBezTo>
                    <a:pt x="8595" y="247275"/>
                    <a:pt x="0" y="226526"/>
                    <a:pt x="0" y="204891"/>
                  </a:cubicBezTo>
                  <a:lnTo>
                    <a:pt x="0" y="81576"/>
                  </a:lnTo>
                  <a:cubicBezTo>
                    <a:pt x="0" y="59941"/>
                    <a:pt x="8595" y="39192"/>
                    <a:pt x="23893" y="23893"/>
                  </a:cubicBezTo>
                  <a:cubicBezTo>
                    <a:pt x="39192" y="8595"/>
                    <a:pt x="59941" y="0"/>
                    <a:pt x="81576" y="0"/>
                  </a:cubicBezTo>
                  <a:close/>
                </a:path>
              </a:pathLst>
            </a:custGeom>
            <a:noFill/>
            <a:ln w="47625"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46" name="TextBox 22"/>
            <p:cNvSpPr/>
            <p:nvPr/>
          </p:nvSpPr>
          <p:spPr>
            <a:xfrm>
              <a:off x="1028880" y="4110480"/>
              <a:ext cx="4839840" cy="1340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5040"/>
                </a:lnSpc>
              </a:pPr>
              <a:endParaRPr lang="en-US" sz="1800" b="0" strike="noStrike" spc="-1">
                <a:solidFill>
                  <a:schemeClr val="dk1"/>
                </a:solidFill>
                <a:latin typeface="Calibri"/>
              </a:endParaRPr>
            </a:p>
          </p:txBody>
        </p:sp>
      </p:grpSp>
      <p:sp>
        <p:nvSpPr>
          <p:cNvPr id="147" name="TextBox 23"/>
          <p:cNvSpPr/>
          <p:nvPr/>
        </p:nvSpPr>
        <p:spPr>
          <a:xfrm>
            <a:off x="1001160" y="4423680"/>
            <a:ext cx="4866120" cy="92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640"/>
              </a:lnSpc>
            </a:pPr>
            <a:r>
              <a:rPr lang="en-US" sz="2600" b="0" strike="noStrike" spc="-1">
                <a:solidFill>
                  <a:srgbClr val="000000"/>
                </a:solidFill>
                <a:latin typeface="Glacial Indifference"/>
                <a:ea typeface="Glacial Indifference"/>
              </a:rPr>
              <a:t>Clean and preprocess the data for reliable analysis</a:t>
            </a:r>
            <a:endParaRPr lang="en-US" sz="26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148" name="Group 2"/>
          <p:cNvGrpSpPr/>
          <p:nvPr/>
        </p:nvGrpSpPr>
        <p:grpSpPr>
          <a:xfrm>
            <a:off x="1028880" y="884160"/>
            <a:ext cx="16230240" cy="1360440"/>
            <a:chOff x="1028880" y="884160"/>
            <a:chExt cx="16230240" cy="1360440"/>
          </a:xfrm>
        </p:grpSpPr>
        <p:sp>
          <p:nvSpPr>
            <p:cNvPr id="149"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0"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51" name="Group 5"/>
          <p:cNvGrpSpPr/>
          <p:nvPr/>
        </p:nvGrpSpPr>
        <p:grpSpPr>
          <a:xfrm>
            <a:off x="1343520" y="4546080"/>
            <a:ext cx="2943360" cy="1049760"/>
            <a:chOff x="1343520" y="4546080"/>
            <a:chExt cx="2943360" cy="1049760"/>
          </a:xfrm>
        </p:grpSpPr>
        <p:sp>
          <p:nvSpPr>
            <p:cNvPr id="152" name="Freeform 6"/>
            <p:cNvSpPr/>
            <p:nvPr/>
          </p:nvSpPr>
          <p:spPr>
            <a:xfrm>
              <a:off x="1343520" y="4690800"/>
              <a:ext cx="2943360" cy="905040"/>
            </a:xfrm>
            <a:custGeom>
              <a:avLst/>
              <a:gdLst>
                <a:gd name="textAreaLeft" fmla="*/ 0 w 2943360"/>
                <a:gd name="textAreaRight" fmla="*/ 2943720 w 2943360"/>
                <a:gd name="textAreaTop" fmla="*/ 0 h 905040"/>
                <a:gd name="textAreaBottom" fmla="*/ 905400 h 905040"/>
              </a:gdLst>
              <a:ahLst/>
              <a:cxnLst/>
              <a:rect l="textAreaLeft" t="textAreaTop" r="textAreaRight" b="textAreaBottom"/>
              <a:pathLst>
                <a:path w="775343" h="238467">
                  <a:moveTo>
                    <a:pt x="119233" y="0"/>
                  </a:moveTo>
                  <a:lnTo>
                    <a:pt x="656110" y="0"/>
                  </a:lnTo>
                  <a:cubicBezTo>
                    <a:pt x="687733" y="0"/>
                    <a:pt x="718060" y="12562"/>
                    <a:pt x="740421" y="34923"/>
                  </a:cubicBezTo>
                  <a:cubicBezTo>
                    <a:pt x="762781" y="57283"/>
                    <a:pt x="775343" y="87611"/>
                    <a:pt x="775343" y="119233"/>
                  </a:cubicBezTo>
                  <a:lnTo>
                    <a:pt x="775343" y="119233"/>
                  </a:lnTo>
                  <a:cubicBezTo>
                    <a:pt x="775343" y="150856"/>
                    <a:pt x="762781" y="181183"/>
                    <a:pt x="740421" y="203544"/>
                  </a:cubicBezTo>
                  <a:cubicBezTo>
                    <a:pt x="718060" y="225905"/>
                    <a:pt x="687733" y="238467"/>
                    <a:pt x="656110" y="238467"/>
                  </a:cubicBezTo>
                  <a:lnTo>
                    <a:pt x="119233" y="238467"/>
                  </a:lnTo>
                  <a:cubicBezTo>
                    <a:pt x="87611" y="238467"/>
                    <a:pt x="57283" y="225905"/>
                    <a:pt x="34923" y="203544"/>
                  </a:cubicBezTo>
                  <a:cubicBezTo>
                    <a:pt x="12562" y="181183"/>
                    <a:pt x="0" y="150856"/>
                    <a:pt x="0" y="119233"/>
                  </a:cubicBezTo>
                  <a:lnTo>
                    <a:pt x="0" y="119233"/>
                  </a:lnTo>
                  <a:cubicBezTo>
                    <a:pt x="0" y="87611"/>
                    <a:pt x="12562" y="57283"/>
                    <a:pt x="34923" y="34923"/>
                  </a:cubicBezTo>
                  <a:cubicBezTo>
                    <a:pt x="57283" y="12562"/>
                    <a:pt x="87611" y="0"/>
                    <a:pt x="119233"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3" name="TextBox 7"/>
            <p:cNvSpPr/>
            <p:nvPr/>
          </p:nvSpPr>
          <p:spPr>
            <a:xfrm>
              <a:off x="1343520" y="4546080"/>
              <a:ext cx="2943360" cy="10497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154" name="Freeform 8"/>
          <p:cNvSpPr/>
          <p:nvPr/>
        </p:nvSpPr>
        <p:spPr>
          <a:xfrm>
            <a:off x="10806480" y="5596200"/>
            <a:ext cx="2412720" cy="2412720"/>
          </a:xfrm>
          <a:custGeom>
            <a:avLst/>
            <a:gdLst>
              <a:gd name="textAreaLeft" fmla="*/ 0 w 2412720"/>
              <a:gd name="textAreaRight" fmla="*/ 2413080 w 2412720"/>
              <a:gd name="textAreaTop" fmla="*/ 0 h 2412720"/>
              <a:gd name="textAreaBottom" fmla="*/ 2413080 h 2412720"/>
            </a:gdLst>
            <a:ahLst/>
            <a:cxnLst/>
            <a:rect l="textAreaLeft" t="textAreaTop" r="textAreaRight" b="textAreaBottom"/>
            <a:pathLst>
              <a:path w="2413088" h="2413088">
                <a:moveTo>
                  <a:pt x="0" y="0"/>
                </a:moveTo>
                <a:lnTo>
                  <a:pt x="2413088" y="0"/>
                </a:lnTo>
                <a:lnTo>
                  <a:pt x="2413088" y="2413088"/>
                </a:lnTo>
                <a:lnTo>
                  <a:pt x="0" y="2413088"/>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5" name="Freeform 9"/>
          <p:cNvSpPr/>
          <p:nvPr/>
        </p:nvSpPr>
        <p:spPr>
          <a:xfrm>
            <a:off x="16052760" y="2277720"/>
            <a:ext cx="2412720" cy="2412720"/>
          </a:xfrm>
          <a:custGeom>
            <a:avLst/>
            <a:gdLst>
              <a:gd name="textAreaLeft" fmla="*/ 0 w 2412720"/>
              <a:gd name="textAreaRight" fmla="*/ 2413080 w 2412720"/>
              <a:gd name="textAreaTop" fmla="*/ 0 h 2412720"/>
              <a:gd name="textAreaBottom" fmla="*/ 2413080 h 2412720"/>
            </a:gdLst>
            <a:ahLst/>
            <a:cxnLst/>
            <a:rect l="textAreaLeft" t="textAreaTop" r="textAreaRight" b="textAreaBottom"/>
            <a:pathLst>
              <a:path w="2413088" h="2413088">
                <a:moveTo>
                  <a:pt x="0" y="0"/>
                </a:moveTo>
                <a:lnTo>
                  <a:pt x="2413088" y="0"/>
                </a:lnTo>
                <a:lnTo>
                  <a:pt x="2413088" y="2413088"/>
                </a:lnTo>
                <a:lnTo>
                  <a:pt x="0" y="2413088"/>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156" name="Group 10"/>
          <p:cNvGrpSpPr/>
          <p:nvPr/>
        </p:nvGrpSpPr>
        <p:grpSpPr>
          <a:xfrm>
            <a:off x="12012840" y="2796480"/>
            <a:ext cx="5245920" cy="4901760"/>
            <a:chOff x="12012840" y="2796480"/>
            <a:chExt cx="5245920" cy="4901760"/>
          </a:xfrm>
        </p:grpSpPr>
        <p:sp>
          <p:nvSpPr>
            <p:cNvPr id="157" name="Freeform 11"/>
            <p:cNvSpPr/>
            <p:nvPr/>
          </p:nvSpPr>
          <p:spPr>
            <a:xfrm>
              <a:off x="12012840" y="2796480"/>
              <a:ext cx="5245920" cy="4901760"/>
            </a:xfrm>
            <a:custGeom>
              <a:avLst/>
              <a:gdLst>
                <a:gd name="textAreaLeft" fmla="*/ 0 w 5245920"/>
                <a:gd name="textAreaRight" fmla="*/ 5246280 w 5245920"/>
                <a:gd name="textAreaTop" fmla="*/ 0 h 4901760"/>
                <a:gd name="textAreaBottom" fmla="*/ 4902120 h 4901760"/>
              </a:gdLst>
              <a:ahLst/>
              <a:cxnLst/>
              <a:rect l="textAreaLeft" t="textAreaTop" r="textAreaRight" b="textAreaBottom"/>
              <a:pathLst>
                <a:path w="812800" h="759457">
                  <a:moveTo>
                    <a:pt x="44270" y="0"/>
                  </a:moveTo>
                  <a:lnTo>
                    <a:pt x="768530" y="0"/>
                  </a:lnTo>
                  <a:cubicBezTo>
                    <a:pt x="792980" y="0"/>
                    <a:pt x="812800" y="19820"/>
                    <a:pt x="812800" y="44270"/>
                  </a:cubicBezTo>
                  <a:lnTo>
                    <a:pt x="812800" y="715187"/>
                  </a:lnTo>
                  <a:cubicBezTo>
                    <a:pt x="812800" y="739637"/>
                    <a:pt x="792980" y="759457"/>
                    <a:pt x="768530" y="759457"/>
                  </a:cubicBezTo>
                  <a:lnTo>
                    <a:pt x="44270" y="759457"/>
                  </a:lnTo>
                  <a:cubicBezTo>
                    <a:pt x="32529" y="759457"/>
                    <a:pt x="21269" y="754793"/>
                    <a:pt x="12966" y="746491"/>
                  </a:cubicBezTo>
                  <a:cubicBezTo>
                    <a:pt x="4664" y="738188"/>
                    <a:pt x="0" y="726928"/>
                    <a:pt x="0" y="715187"/>
                  </a:cubicBezTo>
                  <a:lnTo>
                    <a:pt x="0" y="44270"/>
                  </a:lnTo>
                  <a:cubicBezTo>
                    <a:pt x="0" y="19820"/>
                    <a:pt x="19820" y="0"/>
                    <a:pt x="44270" y="0"/>
                  </a:cubicBezTo>
                  <a:close/>
                </a:path>
              </a:pathLst>
            </a:custGeom>
            <a:blipFill rotWithShape="0">
              <a:blip r:embed="rId3"/>
              <a:srcRect/>
              <a:stretch/>
            </a:blip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grpSp>
        <p:nvGrpSpPr>
          <p:cNvPr id="158" name="Group 12"/>
          <p:cNvGrpSpPr/>
          <p:nvPr/>
        </p:nvGrpSpPr>
        <p:grpSpPr>
          <a:xfrm>
            <a:off x="-1487160" y="8706600"/>
            <a:ext cx="21261960" cy="860040"/>
            <a:chOff x="-1487160" y="8706600"/>
            <a:chExt cx="21261960" cy="860040"/>
          </a:xfrm>
        </p:grpSpPr>
        <p:sp>
          <p:nvSpPr>
            <p:cNvPr id="159" name="Freeform 13"/>
            <p:cNvSpPr/>
            <p:nvPr/>
          </p:nvSpPr>
          <p:spPr>
            <a:xfrm>
              <a:off x="-1487160" y="8851320"/>
              <a:ext cx="21261960" cy="715320"/>
            </a:xfrm>
            <a:custGeom>
              <a:avLst/>
              <a:gdLst>
                <a:gd name="textAreaLeft" fmla="*/ 0 w 21261960"/>
                <a:gd name="textAreaRight" fmla="*/ 21262320 w 21261960"/>
                <a:gd name="textAreaTop" fmla="*/ 0 h 715320"/>
                <a:gd name="textAreaBottom" fmla="*/ 715680 h 715320"/>
              </a:gdLst>
              <a:ahLst/>
              <a:cxnLst/>
              <a:rect l="textAreaLeft" t="textAreaTop" r="textAreaRight" b="textAreaBottom"/>
              <a:pathLst>
                <a:path w="5599933" h="188463">
                  <a:moveTo>
                    <a:pt x="0" y="0"/>
                  </a:moveTo>
                  <a:lnTo>
                    <a:pt x="5599933" y="0"/>
                  </a:lnTo>
                  <a:lnTo>
                    <a:pt x="5599933" y="188463"/>
                  </a:lnTo>
                  <a:lnTo>
                    <a:pt x="0" y="188463"/>
                  </a:ln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60" name="TextBox 14"/>
            <p:cNvSpPr/>
            <p:nvPr/>
          </p:nvSpPr>
          <p:spPr>
            <a:xfrm>
              <a:off x="-1487160" y="8706600"/>
              <a:ext cx="21261960" cy="8600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161" name="TextBox 15"/>
          <p:cNvSpPr/>
          <p:nvPr/>
        </p:nvSpPr>
        <p:spPr>
          <a:xfrm>
            <a:off x="150264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8960"/>
              </a:lnSpc>
            </a:pPr>
            <a:r>
              <a:rPr lang="en-US" sz="6400" b="0" strike="noStrike" spc="-1">
                <a:solidFill>
                  <a:srgbClr val="F1F0E7"/>
                </a:solidFill>
                <a:latin typeface="Anton"/>
                <a:ea typeface="Anton"/>
              </a:rPr>
              <a:t>Data Source &amp; Collection</a:t>
            </a:r>
            <a:endParaRPr lang="en-US" sz="6400" b="0" strike="noStrike" spc="-1">
              <a:solidFill>
                <a:srgbClr val="000000"/>
              </a:solidFill>
              <a:latin typeface="Arial"/>
            </a:endParaRPr>
          </a:p>
        </p:txBody>
      </p:sp>
      <p:sp>
        <p:nvSpPr>
          <p:cNvPr id="162" name="TextBox 16"/>
          <p:cNvSpPr/>
          <p:nvPr/>
        </p:nvSpPr>
        <p:spPr>
          <a:xfrm>
            <a:off x="1028880" y="2729880"/>
            <a:ext cx="508428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1" strike="noStrike" spc="-1">
                <a:solidFill>
                  <a:srgbClr val="112C16"/>
                </a:solidFill>
                <a:latin typeface="Glacial Indifference Bold"/>
                <a:ea typeface="Glacial Indifference Bold"/>
              </a:rPr>
              <a:t> Dataset Information</a:t>
            </a:r>
            <a:endParaRPr lang="en-US" sz="2800" b="0" strike="noStrike" spc="-1">
              <a:solidFill>
                <a:srgbClr val="000000"/>
              </a:solidFill>
              <a:latin typeface="Arial"/>
            </a:endParaRPr>
          </a:p>
        </p:txBody>
      </p:sp>
      <p:sp>
        <p:nvSpPr>
          <p:cNvPr id="163" name="TextBox 17"/>
          <p:cNvSpPr/>
          <p:nvPr/>
        </p:nvSpPr>
        <p:spPr>
          <a:xfrm>
            <a:off x="1139400" y="3531240"/>
            <a:ext cx="905868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a:solidFill>
                  <a:srgbClr val="112C16"/>
                </a:solidFill>
                <a:latin typeface="Glacial Indifference"/>
                <a:ea typeface="Glacial Indifference"/>
              </a:rPr>
              <a:t>Dataset name : Students Performance Dataset </a:t>
            </a:r>
            <a:endParaRPr lang="en-US" sz="2800" b="0" strike="noStrike" spc="-1">
              <a:solidFill>
                <a:srgbClr val="000000"/>
              </a:solidFill>
              <a:latin typeface="Arial"/>
            </a:endParaRPr>
          </a:p>
        </p:txBody>
      </p:sp>
      <p:sp>
        <p:nvSpPr>
          <p:cNvPr id="164" name="TextBox 18"/>
          <p:cNvSpPr/>
          <p:nvPr/>
        </p:nvSpPr>
        <p:spPr>
          <a:xfrm>
            <a:off x="1602360" y="4801320"/>
            <a:ext cx="2425680" cy="621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4898"/>
              </a:lnSpc>
            </a:pPr>
            <a:r>
              <a:rPr lang="en-US" sz="3500" b="1" strike="noStrike" spc="-1">
                <a:solidFill>
                  <a:srgbClr val="F1F0E7"/>
                </a:solidFill>
                <a:latin typeface="Glacial Indifference Bold"/>
                <a:ea typeface="Glacial Indifference Bold"/>
              </a:rPr>
              <a:t>SOURCE</a:t>
            </a:r>
            <a:endParaRPr lang="en-US" sz="3500" b="0" strike="noStrike" spc="-1">
              <a:solidFill>
                <a:srgbClr val="000000"/>
              </a:solidFill>
              <a:latin typeface="Arial"/>
            </a:endParaRPr>
          </a:p>
        </p:txBody>
      </p:sp>
      <p:sp>
        <p:nvSpPr>
          <p:cNvPr id="165" name="TextBox 19"/>
          <p:cNvSpPr/>
          <p:nvPr/>
        </p:nvSpPr>
        <p:spPr>
          <a:xfrm>
            <a:off x="1028880" y="5777280"/>
            <a:ext cx="9023040" cy="19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604440" lvl="1" indent="-302400" defTabSz="914400">
              <a:lnSpc>
                <a:spcPts val="5179"/>
              </a:lnSpc>
              <a:buClr>
                <a:srgbClr val="112C16"/>
              </a:buClr>
              <a:buFont typeface="Arial"/>
              <a:buChar char="•"/>
            </a:pPr>
            <a:r>
              <a:rPr lang="en-US" sz="2800" b="0" strike="noStrike" spc="-1">
                <a:solidFill>
                  <a:srgbClr val="112C16"/>
                </a:solidFill>
                <a:latin typeface="Glacial Indifference"/>
                <a:ea typeface="Glacial Indifference"/>
              </a:rPr>
              <a:t>Kaggle</a:t>
            </a:r>
            <a:endParaRPr lang="en-US" sz="2800" b="0" strike="noStrike" spc="-1">
              <a:solidFill>
                <a:srgbClr val="000000"/>
              </a:solidFill>
              <a:latin typeface="Arial"/>
            </a:endParaRPr>
          </a:p>
          <a:p>
            <a:pPr marL="604440" lvl="1" indent="-302400" defTabSz="914400">
              <a:lnSpc>
                <a:spcPts val="5179"/>
              </a:lnSpc>
              <a:buClr>
                <a:srgbClr val="112C16"/>
              </a:buClr>
              <a:buFont typeface="Arial"/>
              <a:buChar char="•"/>
            </a:pPr>
            <a:r>
              <a:rPr lang="en-US" sz="2800" b="0" strike="noStrike" spc="-1">
                <a:solidFill>
                  <a:srgbClr val="112C16"/>
                </a:solidFill>
                <a:latin typeface="Glacial Indifference"/>
                <a:ea typeface="Glacial Indifference"/>
              </a:rPr>
              <a:t>Dataset Link :  </a:t>
            </a:r>
            <a:r>
              <a:rPr lang="en-US" sz="2800" b="0" u="sng" strike="noStrike" spc="-1">
                <a:solidFill>
                  <a:srgbClr val="0000FF"/>
                </a:solidFill>
                <a:uFillTx/>
                <a:latin typeface="Glacial Indifference"/>
                <a:ea typeface="Glacial Indifference"/>
                <a:hlinkClick r:id="rId4"/>
              </a:rPr>
              <a:t>https://www.kaggle.com/datasets/mahmoudelhemaly/students-grading-dataset/data?utm_source</a:t>
            </a:r>
            <a:endParaRPr lang="en-US" sz="28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166" name="Group 2"/>
          <p:cNvGrpSpPr/>
          <p:nvPr/>
        </p:nvGrpSpPr>
        <p:grpSpPr>
          <a:xfrm>
            <a:off x="1028880" y="884160"/>
            <a:ext cx="16230240" cy="1360440"/>
            <a:chOff x="1028880" y="884160"/>
            <a:chExt cx="16230240" cy="1360440"/>
          </a:xfrm>
        </p:grpSpPr>
        <p:sp>
          <p:nvSpPr>
            <p:cNvPr id="167"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8"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69" name="Group 5"/>
          <p:cNvGrpSpPr/>
          <p:nvPr/>
        </p:nvGrpSpPr>
        <p:grpSpPr>
          <a:xfrm>
            <a:off x="5605920" y="2302200"/>
            <a:ext cx="6847200" cy="2782800"/>
            <a:chOff x="5605920" y="2302200"/>
            <a:chExt cx="6847200" cy="2782800"/>
          </a:xfrm>
        </p:grpSpPr>
        <p:sp>
          <p:nvSpPr>
            <p:cNvPr id="170" name="Freeform 6"/>
            <p:cNvSpPr/>
            <p:nvPr/>
          </p:nvSpPr>
          <p:spPr>
            <a:xfrm>
              <a:off x="5605920" y="2518920"/>
              <a:ext cx="6847200" cy="2565720"/>
            </a:xfrm>
            <a:custGeom>
              <a:avLst/>
              <a:gdLst>
                <a:gd name="textAreaLeft" fmla="*/ 0 w 6847200"/>
                <a:gd name="textAreaRight" fmla="*/ 6847560 w 6847200"/>
                <a:gd name="textAreaTop" fmla="*/ 0 h 2565720"/>
                <a:gd name="textAreaBottom" fmla="*/ 2566080 h 2565720"/>
              </a:gdLst>
              <a:ahLst/>
              <a:cxnLst/>
              <a:rect l="textAreaLeft" t="textAreaTop" r="textAreaRight" b="textAreaBottom"/>
              <a:pathLst>
                <a:path w="1803511" h="675835">
                  <a:moveTo>
                    <a:pt x="57660" y="0"/>
                  </a:moveTo>
                  <a:lnTo>
                    <a:pt x="1745852" y="0"/>
                  </a:lnTo>
                  <a:cubicBezTo>
                    <a:pt x="1777696" y="0"/>
                    <a:pt x="1803511" y="25815"/>
                    <a:pt x="1803511" y="57660"/>
                  </a:cubicBezTo>
                  <a:lnTo>
                    <a:pt x="1803511" y="618175"/>
                  </a:lnTo>
                  <a:cubicBezTo>
                    <a:pt x="1803511" y="633468"/>
                    <a:pt x="1797437" y="648134"/>
                    <a:pt x="1786623" y="658947"/>
                  </a:cubicBezTo>
                  <a:cubicBezTo>
                    <a:pt x="1775810" y="669760"/>
                    <a:pt x="1761144" y="675835"/>
                    <a:pt x="1745852" y="675835"/>
                  </a:cubicBezTo>
                  <a:lnTo>
                    <a:pt x="57660" y="675835"/>
                  </a:lnTo>
                  <a:cubicBezTo>
                    <a:pt x="25815" y="675835"/>
                    <a:pt x="0" y="650020"/>
                    <a:pt x="0" y="618175"/>
                  </a:cubicBezTo>
                  <a:lnTo>
                    <a:pt x="0" y="57660"/>
                  </a:lnTo>
                  <a:cubicBezTo>
                    <a:pt x="0" y="42368"/>
                    <a:pt x="6075" y="27702"/>
                    <a:pt x="16888" y="16888"/>
                  </a:cubicBezTo>
                  <a:cubicBezTo>
                    <a:pt x="27702" y="6075"/>
                    <a:pt x="42368" y="0"/>
                    <a:pt x="57660" y="0"/>
                  </a:cubicBezTo>
                  <a:close/>
                </a:path>
              </a:pathLst>
            </a:custGeom>
            <a:solidFill>
              <a:srgbClr val="F1F0E7"/>
            </a:solid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1" name="TextBox 7"/>
            <p:cNvSpPr/>
            <p:nvPr/>
          </p:nvSpPr>
          <p:spPr>
            <a:xfrm>
              <a:off x="5605920" y="2302200"/>
              <a:ext cx="6847200" cy="27828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172" name="TextBox 8"/>
          <p:cNvSpPr/>
          <p:nvPr/>
        </p:nvSpPr>
        <p:spPr>
          <a:xfrm>
            <a:off x="150264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8960"/>
              </a:lnSpc>
            </a:pPr>
            <a:r>
              <a:rPr lang="en-US" sz="6400" b="0" strike="noStrike" spc="-1">
                <a:solidFill>
                  <a:srgbClr val="F1F0E7"/>
                </a:solidFill>
                <a:latin typeface="Anton"/>
                <a:ea typeface="Anton"/>
              </a:rPr>
              <a:t>Dataset Overview</a:t>
            </a:r>
            <a:endParaRPr lang="en-US" sz="6400" b="0" strike="noStrike" spc="-1">
              <a:solidFill>
                <a:srgbClr val="000000"/>
              </a:solidFill>
              <a:latin typeface="Arial"/>
            </a:endParaRPr>
          </a:p>
        </p:txBody>
      </p:sp>
      <p:sp>
        <p:nvSpPr>
          <p:cNvPr id="173" name="TextBox 9"/>
          <p:cNvSpPr/>
          <p:nvPr/>
        </p:nvSpPr>
        <p:spPr>
          <a:xfrm>
            <a:off x="6195600" y="2905920"/>
            <a:ext cx="5782320" cy="352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4629"/>
              </a:lnSpc>
            </a:pPr>
            <a:r>
              <a:rPr lang="en-US" sz="3309" b="0" strike="noStrike" spc="-1">
                <a:solidFill>
                  <a:srgbClr val="000000"/>
                </a:solidFill>
                <a:latin typeface="Glacial Indifference"/>
                <a:ea typeface="Glacial Indifference"/>
              </a:rPr>
              <a:t>Total number of Values  : 115000</a:t>
            </a:r>
            <a:endParaRPr lang="en-US" sz="3309" b="0" strike="noStrike" spc="-1">
              <a:solidFill>
                <a:srgbClr val="000000"/>
              </a:solidFill>
              <a:latin typeface="Arial"/>
            </a:endParaRPr>
          </a:p>
          <a:p>
            <a:pPr defTabSz="914400">
              <a:lnSpc>
                <a:spcPts val="4629"/>
              </a:lnSpc>
            </a:pPr>
            <a:r>
              <a:rPr lang="en-US" sz="3309" b="0" strike="noStrike" spc="-1">
                <a:solidFill>
                  <a:srgbClr val="000000"/>
                </a:solidFill>
                <a:latin typeface="Glacial Indifference"/>
                <a:ea typeface="Glacial Indifference"/>
              </a:rPr>
              <a:t>Number of Rows            : 5000</a:t>
            </a:r>
            <a:endParaRPr lang="en-US" sz="3309" b="0" strike="noStrike" spc="-1">
              <a:solidFill>
                <a:srgbClr val="000000"/>
              </a:solidFill>
              <a:latin typeface="Arial"/>
            </a:endParaRPr>
          </a:p>
          <a:p>
            <a:pPr defTabSz="914400">
              <a:lnSpc>
                <a:spcPts val="4629"/>
              </a:lnSpc>
            </a:pPr>
            <a:r>
              <a:rPr lang="en-US" sz="3309" b="0" strike="noStrike" spc="-1">
                <a:solidFill>
                  <a:srgbClr val="000000"/>
                </a:solidFill>
                <a:latin typeface="Glacial Indifference"/>
                <a:ea typeface="Glacial Indifference"/>
              </a:rPr>
              <a:t>Number of Columns       : 23</a:t>
            </a:r>
            <a:endParaRPr lang="en-US" sz="3309" b="0" strike="noStrike" spc="-1">
              <a:solidFill>
                <a:srgbClr val="000000"/>
              </a:solidFill>
              <a:latin typeface="Arial"/>
            </a:endParaRPr>
          </a:p>
        </p:txBody>
      </p:sp>
      <p:grpSp>
        <p:nvGrpSpPr>
          <p:cNvPr id="174" name="Group 10"/>
          <p:cNvGrpSpPr/>
          <p:nvPr/>
        </p:nvGrpSpPr>
        <p:grpSpPr>
          <a:xfrm>
            <a:off x="1730880" y="5439600"/>
            <a:ext cx="4546440" cy="4012560"/>
            <a:chOff x="1730880" y="5439600"/>
            <a:chExt cx="4546440" cy="4012560"/>
          </a:xfrm>
        </p:grpSpPr>
        <p:sp>
          <p:nvSpPr>
            <p:cNvPr id="175" name="Freeform 11"/>
            <p:cNvSpPr/>
            <p:nvPr/>
          </p:nvSpPr>
          <p:spPr>
            <a:xfrm>
              <a:off x="1730880" y="5656320"/>
              <a:ext cx="4546440" cy="3795480"/>
            </a:xfrm>
            <a:custGeom>
              <a:avLst/>
              <a:gdLst>
                <a:gd name="textAreaLeft" fmla="*/ 0 w 4546440"/>
                <a:gd name="textAreaRight" fmla="*/ 4546800 w 4546440"/>
                <a:gd name="textAreaTop" fmla="*/ 0 h 3795480"/>
                <a:gd name="textAreaBottom" fmla="*/ 3795840 h 3795480"/>
              </a:gdLst>
              <a:ahLst/>
              <a:cxnLst/>
              <a:rect l="textAreaLeft" t="textAreaTop" r="textAreaRight" b="textAreaBottom"/>
              <a:pathLst>
                <a:path w="1197543" h="999721">
                  <a:moveTo>
                    <a:pt x="44269" y="0"/>
                  </a:moveTo>
                  <a:lnTo>
                    <a:pt x="1153274" y="0"/>
                  </a:lnTo>
                  <a:cubicBezTo>
                    <a:pt x="1165015" y="0"/>
                    <a:pt x="1176275" y="4664"/>
                    <a:pt x="1184577" y="12966"/>
                  </a:cubicBezTo>
                  <a:cubicBezTo>
                    <a:pt x="1192879" y="21268"/>
                    <a:pt x="1197543" y="32528"/>
                    <a:pt x="1197543" y="44269"/>
                  </a:cubicBezTo>
                  <a:lnTo>
                    <a:pt x="1197543" y="955452"/>
                  </a:lnTo>
                  <a:cubicBezTo>
                    <a:pt x="1197543" y="979901"/>
                    <a:pt x="1177723" y="999721"/>
                    <a:pt x="1153274" y="999721"/>
                  </a:cubicBezTo>
                  <a:lnTo>
                    <a:pt x="44269" y="999721"/>
                  </a:lnTo>
                  <a:cubicBezTo>
                    <a:pt x="32528" y="999721"/>
                    <a:pt x="21268" y="995057"/>
                    <a:pt x="12966" y="986755"/>
                  </a:cubicBezTo>
                  <a:cubicBezTo>
                    <a:pt x="4664" y="978453"/>
                    <a:pt x="0" y="967193"/>
                    <a:pt x="0" y="955452"/>
                  </a:cubicBezTo>
                  <a:lnTo>
                    <a:pt x="0" y="44269"/>
                  </a:lnTo>
                  <a:cubicBezTo>
                    <a:pt x="0" y="19820"/>
                    <a:pt x="19820" y="0"/>
                    <a:pt x="44269"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6" name="TextBox 12"/>
            <p:cNvSpPr/>
            <p:nvPr/>
          </p:nvSpPr>
          <p:spPr>
            <a:xfrm>
              <a:off x="1730880" y="5439600"/>
              <a:ext cx="4546440" cy="40125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177" name="Group 13"/>
          <p:cNvGrpSpPr/>
          <p:nvPr/>
        </p:nvGrpSpPr>
        <p:grpSpPr>
          <a:xfrm>
            <a:off x="7146360" y="5439600"/>
            <a:ext cx="4546440" cy="4012560"/>
            <a:chOff x="7146360" y="5439600"/>
            <a:chExt cx="4546440" cy="4012560"/>
          </a:xfrm>
        </p:grpSpPr>
        <p:sp>
          <p:nvSpPr>
            <p:cNvPr id="178" name="Freeform 14"/>
            <p:cNvSpPr/>
            <p:nvPr/>
          </p:nvSpPr>
          <p:spPr>
            <a:xfrm>
              <a:off x="7146360" y="5656320"/>
              <a:ext cx="4546440" cy="3795480"/>
            </a:xfrm>
            <a:custGeom>
              <a:avLst/>
              <a:gdLst>
                <a:gd name="textAreaLeft" fmla="*/ 0 w 4546440"/>
                <a:gd name="textAreaRight" fmla="*/ 4546800 w 4546440"/>
                <a:gd name="textAreaTop" fmla="*/ 0 h 3795480"/>
                <a:gd name="textAreaBottom" fmla="*/ 3795840 h 3795480"/>
              </a:gdLst>
              <a:ahLst/>
              <a:cxnLst/>
              <a:rect l="textAreaLeft" t="textAreaTop" r="textAreaRight" b="textAreaBottom"/>
              <a:pathLst>
                <a:path w="1197543" h="999721">
                  <a:moveTo>
                    <a:pt x="44269" y="0"/>
                  </a:moveTo>
                  <a:lnTo>
                    <a:pt x="1153274" y="0"/>
                  </a:lnTo>
                  <a:cubicBezTo>
                    <a:pt x="1165015" y="0"/>
                    <a:pt x="1176275" y="4664"/>
                    <a:pt x="1184577" y="12966"/>
                  </a:cubicBezTo>
                  <a:cubicBezTo>
                    <a:pt x="1192879" y="21268"/>
                    <a:pt x="1197543" y="32528"/>
                    <a:pt x="1197543" y="44269"/>
                  </a:cubicBezTo>
                  <a:lnTo>
                    <a:pt x="1197543" y="955452"/>
                  </a:lnTo>
                  <a:cubicBezTo>
                    <a:pt x="1197543" y="979901"/>
                    <a:pt x="1177723" y="999721"/>
                    <a:pt x="1153274" y="999721"/>
                  </a:cubicBezTo>
                  <a:lnTo>
                    <a:pt x="44269" y="999721"/>
                  </a:lnTo>
                  <a:cubicBezTo>
                    <a:pt x="32528" y="999721"/>
                    <a:pt x="21268" y="995057"/>
                    <a:pt x="12966" y="986755"/>
                  </a:cubicBezTo>
                  <a:cubicBezTo>
                    <a:pt x="4664" y="978453"/>
                    <a:pt x="0" y="967193"/>
                    <a:pt x="0" y="955452"/>
                  </a:cubicBezTo>
                  <a:lnTo>
                    <a:pt x="0" y="44269"/>
                  </a:lnTo>
                  <a:cubicBezTo>
                    <a:pt x="0" y="19820"/>
                    <a:pt x="19820" y="0"/>
                    <a:pt x="44269"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9" name="TextBox 15"/>
            <p:cNvSpPr/>
            <p:nvPr/>
          </p:nvSpPr>
          <p:spPr>
            <a:xfrm>
              <a:off x="7146360" y="5439600"/>
              <a:ext cx="4546440" cy="40125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180" name="Group 16"/>
          <p:cNvGrpSpPr/>
          <p:nvPr/>
        </p:nvGrpSpPr>
        <p:grpSpPr>
          <a:xfrm>
            <a:off x="12560040" y="5439600"/>
            <a:ext cx="4546440" cy="4012560"/>
            <a:chOff x="12560040" y="5439600"/>
            <a:chExt cx="4546440" cy="4012560"/>
          </a:xfrm>
        </p:grpSpPr>
        <p:sp>
          <p:nvSpPr>
            <p:cNvPr id="181" name="Freeform 17"/>
            <p:cNvSpPr/>
            <p:nvPr/>
          </p:nvSpPr>
          <p:spPr>
            <a:xfrm>
              <a:off x="12560040" y="5656320"/>
              <a:ext cx="4546440" cy="3795480"/>
            </a:xfrm>
            <a:custGeom>
              <a:avLst/>
              <a:gdLst>
                <a:gd name="textAreaLeft" fmla="*/ 0 w 4546440"/>
                <a:gd name="textAreaRight" fmla="*/ 4546800 w 4546440"/>
                <a:gd name="textAreaTop" fmla="*/ 0 h 3795480"/>
                <a:gd name="textAreaBottom" fmla="*/ 3795840 h 3795480"/>
              </a:gdLst>
              <a:ahLst/>
              <a:cxnLst/>
              <a:rect l="textAreaLeft" t="textAreaTop" r="textAreaRight" b="textAreaBottom"/>
              <a:pathLst>
                <a:path w="1197543" h="999721">
                  <a:moveTo>
                    <a:pt x="44269" y="0"/>
                  </a:moveTo>
                  <a:lnTo>
                    <a:pt x="1153274" y="0"/>
                  </a:lnTo>
                  <a:cubicBezTo>
                    <a:pt x="1165015" y="0"/>
                    <a:pt x="1176275" y="4664"/>
                    <a:pt x="1184577" y="12966"/>
                  </a:cubicBezTo>
                  <a:cubicBezTo>
                    <a:pt x="1192879" y="21268"/>
                    <a:pt x="1197543" y="32528"/>
                    <a:pt x="1197543" y="44269"/>
                  </a:cubicBezTo>
                  <a:lnTo>
                    <a:pt x="1197543" y="955452"/>
                  </a:lnTo>
                  <a:cubicBezTo>
                    <a:pt x="1197543" y="979901"/>
                    <a:pt x="1177723" y="999721"/>
                    <a:pt x="1153274" y="999721"/>
                  </a:cubicBezTo>
                  <a:lnTo>
                    <a:pt x="44269" y="999721"/>
                  </a:lnTo>
                  <a:cubicBezTo>
                    <a:pt x="32528" y="999721"/>
                    <a:pt x="21268" y="995057"/>
                    <a:pt x="12966" y="986755"/>
                  </a:cubicBezTo>
                  <a:cubicBezTo>
                    <a:pt x="4664" y="978453"/>
                    <a:pt x="0" y="967193"/>
                    <a:pt x="0" y="955452"/>
                  </a:cubicBezTo>
                  <a:lnTo>
                    <a:pt x="0" y="44269"/>
                  </a:lnTo>
                  <a:cubicBezTo>
                    <a:pt x="0" y="19820"/>
                    <a:pt x="19820" y="0"/>
                    <a:pt x="44269"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82" name="TextBox 18"/>
            <p:cNvSpPr/>
            <p:nvPr/>
          </p:nvSpPr>
          <p:spPr>
            <a:xfrm>
              <a:off x="12560040" y="5439600"/>
              <a:ext cx="4546440" cy="40125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183" name="Group 19"/>
          <p:cNvGrpSpPr/>
          <p:nvPr/>
        </p:nvGrpSpPr>
        <p:grpSpPr>
          <a:xfrm>
            <a:off x="1965960" y="5743440"/>
            <a:ext cx="4076280" cy="763560"/>
            <a:chOff x="1965960" y="5743440"/>
            <a:chExt cx="4076280" cy="763560"/>
          </a:xfrm>
        </p:grpSpPr>
        <p:sp>
          <p:nvSpPr>
            <p:cNvPr id="184" name="Freeform 20"/>
            <p:cNvSpPr/>
            <p:nvPr/>
          </p:nvSpPr>
          <p:spPr>
            <a:xfrm>
              <a:off x="1965960" y="5960520"/>
              <a:ext cx="4076280" cy="546480"/>
            </a:xfrm>
            <a:custGeom>
              <a:avLst/>
              <a:gdLst>
                <a:gd name="textAreaLeft" fmla="*/ 0 w 4076280"/>
                <a:gd name="textAreaRight" fmla="*/ 4076640 w 4076280"/>
                <a:gd name="textAreaTop" fmla="*/ 0 h 546480"/>
                <a:gd name="textAreaBottom" fmla="*/ 546840 h 546480"/>
              </a:gdLst>
              <a:ahLst/>
              <a:cxnLst/>
              <a:rect l="textAreaLeft" t="textAreaTop" r="textAreaRight" b="textAreaBottom"/>
              <a:pathLst>
                <a:path w="1073643" h="144009">
                  <a:moveTo>
                    <a:pt x="49378" y="0"/>
                  </a:moveTo>
                  <a:lnTo>
                    <a:pt x="1024265" y="0"/>
                  </a:lnTo>
                  <a:cubicBezTo>
                    <a:pt x="1051536" y="0"/>
                    <a:pt x="1073643" y="22107"/>
                    <a:pt x="1073643" y="49378"/>
                  </a:cubicBezTo>
                  <a:lnTo>
                    <a:pt x="1073643" y="94631"/>
                  </a:lnTo>
                  <a:cubicBezTo>
                    <a:pt x="1073643" y="121902"/>
                    <a:pt x="1051536" y="144009"/>
                    <a:pt x="1024265" y="144009"/>
                  </a:cubicBezTo>
                  <a:lnTo>
                    <a:pt x="49378" y="144009"/>
                  </a:lnTo>
                  <a:cubicBezTo>
                    <a:pt x="22107" y="144009"/>
                    <a:pt x="0" y="121902"/>
                    <a:pt x="0" y="94631"/>
                  </a:cubicBezTo>
                  <a:lnTo>
                    <a:pt x="0" y="49378"/>
                  </a:lnTo>
                  <a:cubicBezTo>
                    <a:pt x="0" y="22107"/>
                    <a:pt x="22107" y="0"/>
                    <a:pt x="49378"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85" name="TextBox 21"/>
            <p:cNvSpPr/>
            <p:nvPr/>
          </p:nvSpPr>
          <p:spPr>
            <a:xfrm>
              <a:off x="1965960" y="5743440"/>
              <a:ext cx="4076280" cy="7635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186" name="Group 22"/>
          <p:cNvGrpSpPr/>
          <p:nvPr/>
        </p:nvGrpSpPr>
        <p:grpSpPr>
          <a:xfrm>
            <a:off x="7431840" y="5743440"/>
            <a:ext cx="4076280" cy="763560"/>
            <a:chOff x="7431840" y="5743440"/>
            <a:chExt cx="4076280" cy="763560"/>
          </a:xfrm>
        </p:grpSpPr>
        <p:sp>
          <p:nvSpPr>
            <p:cNvPr id="187" name="Freeform 23"/>
            <p:cNvSpPr/>
            <p:nvPr/>
          </p:nvSpPr>
          <p:spPr>
            <a:xfrm>
              <a:off x="7431840" y="5960520"/>
              <a:ext cx="4076280" cy="546480"/>
            </a:xfrm>
            <a:custGeom>
              <a:avLst/>
              <a:gdLst>
                <a:gd name="textAreaLeft" fmla="*/ 0 w 4076280"/>
                <a:gd name="textAreaRight" fmla="*/ 4076640 w 4076280"/>
                <a:gd name="textAreaTop" fmla="*/ 0 h 546480"/>
                <a:gd name="textAreaBottom" fmla="*/ 546840 h 546480"/>
              </a:gdLst>
              <a:ahLst/>
              <a:cxnLst/>
              <a:rect l="textAreaLeft" t="textAreaTop" r="textAreaRight" b="textAreaBottom"/>
              <a:pathLst>
                <a:path w="1073643" h="144009">
                  <a:moveTo>
                    <a:pt x="49378" y="0"/>
                  </a:moveTo>
                  <a:lnTo>
                    <a:pt x="1024265" y="0"/>
                  </a:lnTo>
                  <a:cubicBezTo>
                    <a:pt x="1051536" y="0"/>
                    <a:pt x="1073643" y="22107"/>
                    <a:pt x="1073643" y="49378"/>
                  </a:cubicBezTo>
                  <a:lnTo>
                    <a:pt x="1073643" y="94631"/>
                  </a:lnTo>
                  <a:cubicBezTo>
                    <a:pt x="1073643" y="121902"/>
                    <a:pt x="1051536" y="144009"/>
                    <a:pt x="1024265" y="144009"/>
                  </a:cubicBezTo>
                  <a:lnTo>
                    <a:pt x="49378" y="144009"/>
                  </a:lnTo>
                  <a:cubicBezTo>
                    <a:pt x="22107" y="144009"/>
                    <a:pt x="0" y="121902"/>
                    <a:pt x="0" y="94631"/>
                  </a:cubicBezTo>
                  <a:lnTo>
                    <a:pt x="0" y="49378"/>
                  </a:lnTo>
                  <a:cubicBezTo>
                    <a:pt x="0" y="22107"/>
                    <a:pt x="22107" y="0"/>
                    <a:pt x="49378"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88" name="TextBox 24"/>
            <p:cNvSpPr/>
            <p:nvPr/>
          </p:nvSpPr>
          <p:spPr>
            <a:xfrm>
              <a:off x="7431840" y="5743440"/>
              <a:ext cx="4076280" cy="7635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189" name="Group 25"/>
          <p:cNvGrpSpPr/>
          <p:nvPr/>
        </p:nvGrpSpPr>
        <p:grpSpPr>
          <a:xfrm>
            <a:off x="12731400" y="5743440"/>
            <a:ext cx="4076280" cy="763560"/>
            <a:chOff x="12731400" y="5743440"/>
            <a:chExt cx="4076280" cy="763560"/>
          </a:xfrm>
        </p:grpSpPr>
        <p:sp>
          <p:nvSpPr>
            <p:cNvPr id="190" name="Freeform 26"/>
            <p:cNvSpPr/>
            <p:nvPr/>
          </p:nvSpPr>
          <p:spPr>
            <a:xfrm>
              <a:off x="12731400" y="5960520"/>
              <a:ext cx="4076280" cy="546480"/>
            </a:xfrm>
            <a:custGeom>
              <a:avLst/>
              <a:gdLst>
                <a:gd name="textAreaLeft" fmla="*/ 0 w 4076280"/>
                <a:gd name="textAreaRight" fmla="*/ 4076640 w 4076280"/>
                <a:gd name="textAreaTop" fmla="*/ 0 h 546480"/>
                <a:gd name="textAreaBottom" fmla="*/ 546840 h 546480"/>
              </a:gdLst>
              <a:ahLst/>
              <a:cxnLst/>
              <a:rect l="textAreaLeft" t="textAreaTop" r="textAreaRight" b="textAreaBottom"/>
              <a:pathLst>
                <a:path w="1073643" h="144009">
                  <a:moveTo>
                    <a:pt x="49378" y="0"/>
                  </a:moveTo>
                  <a:lnTo>
                    <a:pt x="1024265" y="0"/>
                  </a:lnTo>
                  <a:cubicBezTo>
                    <a:pt x="1051536" y="0"/>
                    <a:pt x="1073643" y="22107"/>
                    <a:pt x="1073643" y="49378"/>
                  </a:cubicBezTo>
                  <a:lnTo>
                    <a:pt x="1073643" y="94631"/>
                  </a:lnTo>
                  <a:cubicBezTo>
                    <a:pt x="1073643" y="121902"/>
                    <a:pt x="1051536" y="144009"/>
                    <a:pt x="1024265" y="144009"/>
                  </a:cubicBezTo>
                  <a:lnTo>
                    <a:pt x="49378" y="144009"/>
                  </a:lnTo>
                  <a:cubicBezTo>
                    <a:pt x="22107" y="144009"/>
                    <a:pt x="0" y="121902"/>
                    <a:pt x="0" y="94631"/>
                  </a:cubicBezTo>
                  <a:lnTo>
                    <a:pt x="0" y="49378"/>
                  </a:lnTo>
                  <a:cubicBezTo>
                    <a:pt x="0" y="22107"/>
                    <a:pt x="22107" y="0"/>
                    <a:pt x="49378"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91" name="TextBox 27"/>
            <p:cNvSpPr/>
            <p:nvPr/>
          </p:nvSpPr>
          <p:spPr>
            <a:xfrm>
              <a:off x="12731400" y="5743440"/>
              <a:ext cx="4076280" cy="7635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192" name="TextBox 28"/>
          <p:cNvSpPr/>
          <p:nvPr/>
        </p:nvSpPr>
        <p:spPr>
          <a:xfrm>
            <a:off x="1965960" y="5997600"/>
            <a:ext cx="40762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pPr>
            <a:r>
              <a:rPr lang="en-US" sz="2400" b="1" strike="noStrike" spc="-1">
                <a:solidFill>
                  <a:srgbClr val="FFFFFF"/>
                </a:solidFill>
                <a:latin typeface="Glacial Indifference Bold"/>
                <a:ea typeface="Glacial Indifference Bold"/>
              </a:rPr>
              <a:t>Academic</a:t>
            </a:r>
            <a:endParaRPr lang="en-US" sz="2400" b="0" strike="noStrike" spc="-1">
              <a:solidFill>
                <a:srgbClr val="000000"/>
              </a:solidFill>
              <a:latin typeface="Arial"/>
            </a:endParaRPr>
          </a:p>
        </p:txBody>
      </p:sp>
      <p:sp>
        <p:nvSpPr>
          <p:cNvPr id="193" name="TextBox 29"/>
          <p:cNvSpPr/>
          <p:nvPr/>
        </p:nvSpPr>
        <p:spPr>
          <a:xfrm>
            <a:off x="7315200" y="5997600"/>
            <a:ext cx="40762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pPr>
            <a:r>
              <a:rPr lang="en-US" sz="2400" b="1" strike="noStrike" spc="-1">
                <a:solidFill>
                  <a:srgbClr val="FFFFFF"/>
                </a:solidFill>
                <a:latin typeface="Glacial Indifference Bold"/>
                <a:ea typeface="Glacial Indifference Bold"/>
              </a:rPr>
              <a:t>Behavioral</a:t>
            </a:r>
            <a:endParaRPr lang="en-US" sz="2400" b="0" strike="noStrike" spc="-1">
              <a:solidFill>
                <a:srgbClr val="000000"/>
              </a:solidFill>
              <a:latin typeface="Arial"/>
            </a:endParaRPr>
          </a:p>
        </p:txBody>
      </p:sp>
      <p:sp>
        <p:nvSpPr>
          <p:cNvPr id="194" name="TextBox 30"/>
          <p:cNvSpPr/>
          <p:nvPr/>
        </p:nvSpPr>
        <p:spPr>
          <a:xfrm>
            <a:off x="12731400" y="5997600"/>
            <a:ext cx="40762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pPr>
            <a:r>
              <a:rPr lang="en-US" sz="2400" b="1" strike="noStrike" spc="-1">
                <a:solidFill>
                  <a:srgbClr val="FFFFFF"/>
                </a:solidFill>
                <a:latin typeface="Glacial Indifference Bold"/>
                <a:ea typeface="Glacial Indifference Bold"/>
              </a:rPr>
              <a:t>Background</a:t>
            </a:r>
            <a:endParaRPr lang="en-US" sz="2400" b="0" strike="noStrike" spc="-1">
              <a:solidFill>
                <a:srgbClr val="000000"/>
              </a:solidFill>
              <a:latin typeface="Arial"/>
            </a:endParaRPr>
          </a:p>
        </p:txBody>
      </p:sp>
      <p:sp>
        <p:nvSpPr>
          <p:cNvPr id="195" name="TextBox 31"/>
          <p:cNvSpPr/>
          <p:nvPr/>
        </p:nvSpPr>
        <p:spPr>
          <a:xfrm>
            <a:off x="1730880" y="6588360"/>
            <a:ext cx="2438280" cy="255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Midterm Score</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Final Score</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Assignments</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Quizzes</a:t>
            </a:r>
            <a:endParaRPr lang="en-US" sz="2400" b="0" strike="noStrike" spc="-1">
              <a:solidFill>
                <a:srgbClr val="000000"/>
              </a:solidFill>
              <a:latin typeface="Arial"/>
            </a:endParaRPr>
          </a:p>
        </p:txBody>
      </p:sp>
      <p:sp>
        <p:nvSpPr>
          <p:cNvPr id="196" name="TextBox 32"/>
          <p:cNvSpPr/>
          <p:nvPr/>
        </p:nvSpPr>
        <p:spPr>
          <a:xfrm>
            <a:off x="3855600" y="7585560"/>
            <a:ext cx="2339640" cy="213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Projects</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Participation</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Total Score</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Grade</a:t>
            </a:r>
            <a:endParaRPr lang="en-US" sz="2400" b="0" strike="noStrike" spc="-1">
              <a:solidFill>
                <a:srgbClr val="000000"/>
              </a:solidFill>
              <a:latin typeface="Arial"/>
            </a:endParaRPr>
          </a:p>
        </p:txBody>
      </p:sp>
      <p:sp>
        <p:nvSpPr>
          <p:cNvPr id="197" name="TextBox 33"/>
          <p:cNvSpPr/>
          <p:nvPr/>
        </p:nvSpPr>
        <p:spPr>
          <a:xfrm>
            <a:off x="7250400" y="6745320"/>
            <a:ext cx="3672360" cy="255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518040" lvl="1" indent="-259200" algn="just"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Study Hours</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Attendance</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Stress</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Sleep</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Extracurricular Activities</a:t>
            </a:r>
            <a:endParaRPr lang="en-US" sz="2400" b="0" strike="noStrike" spc="-1">
              <a:solidFill>
                <a:srgbClr val="000000"/>
              </a:solidFill>
              <a:latin typeface="Arial"/>
            </a:endParaRPr>
          </a:p>
        </p:txBody>
      </p:sp>
      <p:sp>
        <p:nvSpPr>
          <p:cNvPr id="198" name="TextBox 34"/>
          <p:cNvSpPr/>
          <p:nvPr/>
        </p:nvSpPr>
        <p:spPr>
          <a:xfrm>
            <a:off x="13447800" y="6745320"/>
            <a:ext cx="2774520" cy="298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Gender</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Department</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Parent Education</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Family Income</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Internet Access</a:t>
            </a:r>
            <a:endParaRPr lang="en-US" sz="24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199" name="Group 2"/>
          <p:cNvGrpSpPr/>
          <p:nvPr/>
        </p:nvGrpSpPr>
        <p:grpSpPr>
          <a:xfrm>
            <a:off x="1028880" y="884160"/>
            <a:ext cx="16230240" cy="1360440"/>
            <a:chOff x="1028880" y="884160"/>
            <a:chExt cx="16230240" cy="1360440"/>
          </a:xfrm>
        </p:grpSpPr>
        <p:sp>
          <p:nvSpPr>
            <p:cNvPr id="200"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1"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202" name="Freeform 5"/>
          <p:cNvSpPr/>
          <p:nvPr/>
        </p:nvSpPr>
        <p:spPr>
          <a:xfrm>
            <a:off x="9144000" y="3344400"/>
            <a:ext cx="1075680" cy="1224360"/>
          </a:xfrm>
          <a:custGeom>
            <a:avLst/>
            <a:gdLst>
              <a:gd name="textAreaLeft" fmla="*/ 0 w 1075680"/>
              <a:gd name="textAreaRight" fmla="*/ 1076040 w 1075680"/>
              <a:gd name="textAreaTop" fmla="*/ 0 h 1224360"/>
              <a:gd name="textAreaBottom" fmla="*/ 1224720 h 1224360"/>
            </a:gdLst>
            <a:ahLst/>
            <a:cxnLst/>
            <a:rect l="textAreaLeft" t="textAreaTop" r="textAreaRight" b="textAreaBottom"/>
            <a:pathLst>
              <a:path w="1075865" h="1224559">
                <a:moveTo>
                  <a:pt x="0" y="0"/>
                </a:moveTo>
                <a:lnTo>
                  <a:pt x="1075865" y="0"/>
                </a:lnTo>
                <a:lnTo>
                  <a:pt x="1075865" y="1224559"/>
                </a:lnTo>
                <a:lnTo>
                  <a:pt x="0" y="1224559"/>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203" name="Group 6"/>
          <p:cNvGrpSpPr/>
          <p:nvPr/>
        </p:nvGrpSpPr>
        <p:grpSpPr>
          <a:xfrm>
            <a:off x="10472040" y="3395520"/>
            <a:ext cx="6787080" cy="977400"/>
            <a:chOff x="10472040" y="3395520"/>
            <a:chExt cx="6787080" cy="977400"/>
          </a:xfrm>
        </p:grpSpPr>
        <p:sp>
          <p:nvSpPr>
            <p:cNvPr id="204" name="Freeform 7"/>
            <p:cNvSpPr/>
            <p:nvPr/>
          </p:nvSpPr>
          <p:spPr>
            <a:xfrm>
              <a:off x="10472040" y="3540240"/>
              <a:ext cx="6787080" cy="832680"/>
            </a:xfrm>
            <a:custGeom>
              <a:avLst/>
              <a:gdLst>
                <a:gd name="textAreaLeft" fmla="*/ 0 w 6787080"/>
                <a:gd name="textAreaRight" fmla="*/ 6787440 w 6787080"/>
                <a:gd name="textAreaTop" fmla="*/ 0 h 832680"/>
                <a:gd name="textAreaBottom" fmla="*/ 833040 h 832680"/>
              </a:gdLst>
              <a:ahLst/>
              <a:cxnLst/>
              <a:rect l="textAreaLeft" t="textAreaTop" r="textAreaRight" b="textAreaBottom"/>
              <a:pathLst>
                <a:path w="1787610" h="219382">
                  <a:moveTo>
                    <a:pt x="37641" y="0"/>
                  </a:moveTo>
                  <a:lnTo>
                    <a:pt x="1749969" y="0"/>
                  </a:lnTo>
                  <a:cubicBezTo>
                    <a:pt x="1770758" y="0"/>
                    <a:pt x="1787610" y="16853"/>
                    <a:pt x="1787610" y="37641"/>
                  </a:cubicBezTo>
                  <a:lnTo>
                    <a:pt x="1787610" y="181741"/>
                  </a:lnTo>
                  <a:cubicBezTo>
                    <a:pt x="1787610" y="202530"/>
                    <a:pt x="1770758" y="219382"/>
                    <a:pt x="1749969" y="219382"/>
                  </a:cubicBezTo>
                  <a:lnTo>
                    <a:pt x="37641" y="219382"/>
                  </a:lnTo>
                  <a:cubicBezTo>
                    <a:pt x="16853" y="219382"/>
                    <a:pt x="0" y="202530"/>
                    <a:pt x="0" y="181741"/>
                  </a:cubicBezTo>
                  <a:lnTo>
                    <a:pt x="0" y="37641"/>
                  </a:lnTo>
                  <a:cubicBezTo>
                    <a:pt x="0" y="16853"/>
                    <a:pt x="16853" y="0"/>
                    <a:pt x="37641"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5" name="TextBox 8"/>
            <p:cNvSpPr/>
            <p:nvPr/>
          </p:nvSpPr>
          <p:spPr>
            <a:xfrm>
              <a:off x="10472040" y="3395520"/>
              <a:ext cx="6787080" cy="9774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206" name="Freeform 9"/>
          <p:cNvSpPr/>
          <p:nvPr/>
        </p:nvSpPr>
        <p:spPr>
          <a:xfrm>
            <a:off x="9144000" y="5360760"/>
            <a:ext cx="1075680" cy="901440"/>
          </a:xfrm>
          <a:custGeom>
            <a:avLst/>
            <a:gdLst>
              <a:gd name="textAreaLeft" fmla="*/ 0 w 1075680"/>
              <a:gd name="textAreaRight" fmla="*/ 1076040 w 1075680"/>
              <a:gd name="textAreaTop" fmla="*/ 0 h 901440"/>
              <a:gd name="textAreaBottom" fmla="*/ 901800 h 901440"/>
            </a:gdLst>
            <a:ahLst/>
            <a:cxnLst/>
            <a:rect l="textAreaLeft" t="textAreaTop" r="textAreaRight" b="textAreaBottom"/>
            <a:pathLst>
              <a:path w="1075865" h="901771">
                <a:moveTo>
                  <a:pt x="0" y="0"/>
                </a:moveTo>
                <a:lnTo>
                  <a:pt x="1075865" y="0"/>
                </a:lnTo>
                <a:lnTo>
                  <a:pt x="1075865" y="901770"/>
                </a:lnTo>
                <a:lnTo>
                  <a:pt x="0" y="901770"/>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207" name="Group 10"/>
          <p:cNvGrpSpPr/>
          <p:nvPr/>
        </p:nvGrpSpPr>
        <p:grpSpPr>
          <a:xfrm>
            <a:off x="10472040" y="5216400"/>
            <a:ext cx="6787080" cy="977400"/>
            <a:chOff x="10472040" y="5216400"/>
            <a:chExt cx="6787080" cy="977400"/>
          </a:xfrm>
        </p:grpSpPr>
        <p:sp>
          <p:nvSpPr>
            <p:cNvPr id="208" name="Freeform 11"/>
            <p:cNvSpPr/>
            <p:nvPr/>
          </p:nvSpPr>
          <p:spPr>
            <a:xfrm>
              <a:off x="10472040" y="5360760"/>
              <a:ext cx="6787080" cy="832680"/>
            </a:xfrm>
            <a:custGeom>
              <a:avLst/>
              <a:gdLst>
                <a:gd name="textAreaLeft" fmla="*/ 0 w 6787080"/>
                <a:gd name="textAreaRight" fmla="*/ 6787440 w 6787080"/>
                <a:gd name="textAreaTop" fmla="*/ 0 h 832680"/>
                <a:gd name="textAreaBottom" fmla="*/ 833040 h 832680"/>
              </a:gdLst>
              <a:ahLst/>
              <a:cxnLst/>
              <a:rect l="textAreaLeft" t="textAreaTop" r="textAreaRight" b="textAreaBottom"/>
              <a:pathLst>
                <a:path w="1787610" h="219382">
                  <a:moveTo>
                    <a:pt x="37641" y="0"/>
                  </a:moveTo>
                  <a:lnTo>
                    <a:pt x="1749969" y="0"/>
                  </a:lnTo>
                  <a:cubicBezTo>
                    <a:pt x="1770758" y="0"/>
                    <a:pt x="1787610" y="16853"/>
                    <a:pt x="1787610" y="37641"/>
                  </a:cubicBezTo>
                  <a:lnTo>
                    <a:pt x="1787610" y="181741"/>
                  </a:lnTo>
                  <a:cubicBezTo>
                    <a:pt x="1787610" y="202530"/>
                    <a:pt x="1770758" y="219382"/>
                    <a:pt x="1749969" y="219382"/>
                  </a:cubicBezTo>
                  <a:lnTo>
                    <a:pt x="37641" y="219382"/>
                  </a:lnTo>
                  <a:cubicBezTo>
                    <a:pt x="16853" y="219382"/>
                    <a:pt x="0" y="202530"/>
                    <a:pt x="0" y="181741"/>
                  </a:cubicBezTo>
                  <a:lnTo>
                    <a:pt x="0" y="37641"/>
                  </a:lnTo>
                  <a:cubicBezTo>
                    <a:pt x="0" y="16853"/>
                    <a:pt x="16853" y="0"/>
                    <a:pt x="37641"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9" name="TextBox 12"/>
            <p:cNvSpPr/>
            <p:nvPr/>
          </p:nvSpPr>
          <p:spPr>
            <a:xfrm>
              <a:off x="10472040" y="5216400"/>
              <a:ext cx="6787080" cy="9774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210" name="Freeform 13"/>
          <p:cNvSpPr/>
          <p:nvPr/>
        </p:nvSpPr>
        <p:spPr>
          <a:xfrm>
            <a:off x="9144000" y="7053120"/>
            <a:ext cx="1075680" cy="1178280"/>
          </a:xfrm>
          <a:custGeom>
            <a:avLst/>
            <a:gdLst>
              <a:gd name="textAreaLeft" fmla="*/ 0 w 1075680"/>
              <a:gd name="textAreaRight" fmla="*/ 1076040 w 1075680"/>
              <a:gd name="textAreaTop" fmla="*/ 0 h 1178280"/>
              <a:gd name="textAreaBottom" fmla="*/ 1178640 h 1178280"/>
            </a:gdLst>
            <a:ahLst/>
            <a:cxnLst/>
            <a:rect l="textAreaLeft" t="textAreaTop" r="textAreaRight" b="textAreaBottom"/>
            <a:pathLst>
              <a:path w="1075865" h="1178737">
                <a:moveTo>
                  <a:pt x="0" y="0"/>
                </a:moveTo>
                <a:lnTo>
                  <a:pt x="1075865" y="0"/>
                </a:lnTo>
                <a:lnTo>
                  <a:pt x="1075865" y="1178737"/>
                </a:lnTo>
                <a:lnTo>
                  <a:pt x="0" y="1178737"/>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211" name="Group 14"/>
          <p:cNvGrpSpPr/>
          <p:nvPr/>
        </p:nvGrpSpPr>
        <p:grpSpPr>
          <a:xfrm>
            <a:off x="10472040" y="6908760"/>
            <a:ext cx="6787080" cy="977400"/>
            <a:chOff x="10472040" y="6908760"/>
            <a:chExt cx="6787080" cy="977400"/>
          </a:xfrm>
        </p:grpSpPr>
        <p:sp>
          <p:nvSpPr>
            <p:cNvPr id="212" name="Freeform 15"/>
            <p:cNvSpPr/>
            <p:nvPr/>
          </p:nvSpPr>
          <p:spPr>
            <a:xfrm>
              <a:off x="10472040" y="7053120"/>
              <a:ext cx="6787080" cy="832680"/>
            </a:xfrm>
            <a:custGeom>
              <a:avLst/>
              <a:gdLst>
                <a:gd name="textAreaLeft" fmla="*/ 0 w 6787080"/>
                <a:gd name="textAreaRight" fmla="*/ 6787440 w 6787080"/>
                <a:gd name="textAreaTop" fmla="*/ 0 h 832680"/>
                <a:gd name="textAreaBottom" fmla="*/ 833040 h 832680"/>
              </a:gdLst>
              <a:ahLst/>
              <a:cxnLst/>
              <a:rect l="textAreaLeft" t="textAreaTop" r="textAreaRight" b="textAreaBottom"/>
              <a:pathLst>
                <a:path w="1787610" h="219382">
                  <a:moveTo>
                    <a:pt x="37641" y="0"/>
                  </a:moveTo>
                  <a:lnTo>
                    <a:pt x="1749969" y="0"/>
                  </a:lnTo>
                  <a:cubicBezTo>
                    <a:pt x="1770758" y="0"/>
                    <a:pt x="1787610" y="16853"/>
                    <a:pt x="1787610" y="37641"/>
                  </a:cubicBezTo>
                  <a:lnTo>
                    <a:pt x="1787610" y="181741"/>
                  </a:lnTo>
                  <a:cubicBezTo>
                    <a:pt x="1787610" y="202530"/>
                    <a:pt x="1770758" y="219382"/>
                    <a:pt x="1749969" y="219382"/>
                  </a:cubicBezTo>
                  <a:lnTo>
                    <a:pt x="37641" y="219382"/>
                  </a:lnTo>
                  <a:cubicBezTo>
                    <a:pt x="16853" y="219382"/>
                    <a:pt x="0" y="202530"/>
                    <a:pt x="0" y="181741"/>
                  </a:cubicBezTo>
                  <a:lnTo>
                    <a:pt x="0" y="37641"/>
                  </a:lnTo>
                  <a:cubicBezTo>
                    <a:pt x="0" y="16853"/>
                    <a:pt x="16853" y="0"/>
                    <a:pt x="37641"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3" name="TextBox 16"/>
            <p:cNvSpPr/>
            <p:nvPr/>
          </p:nvSpPr>
          <p:spPr>
            <a:xfrm>
              <a:off x="10472040" y="6908760"/>
              <a:ext cx="6787080" cy="9774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214" name="Freeform 17"/>
          <p:cNvSpPr/>
          <p:nvPr/>
        </p:nvSpPr>
        <p:spPr>
          <a:xfrm>
            <a:off x="1028880" y="7196400"/>
            <a:ext cx="2593080" cy="2458080"/>
          </a:xfrm>
          <a:custGeom>
            <a:avLst/>
            <a:gdLst>
              <a:gd name="textAreaLeft" fmla="*/ 0 w 2593080"/>
              <a:gd name="textAreaRight" fmla="*/ 2593440 w 2593080"/>
              <a:gd name="textAreaTop" fmla="*/ 0 h 2458080"/>
              <a:gd name="textAreaBottom" fmla="*/ 2458440 h 2458080"/>
            </a:gdLst>
            <a:ahLst/>
            <a:cxnLst/>
            <a:rect l="textAreaLeft" t="textAreaTop" r="textAreaRight" b="textAreaBottom"/>
            <a:pathLst>
              <a:path w="2593405" h="2458405">
                <a:moveTo>
                  <a:pt x="0" y="0"/>
                </a:moveTo>
                <a:lnTo>
                  <a:pt x="2593405" y="0"/>
                </a:lnTo>
                <a:lnTo>
                  <a:pt x="2593405" y="2458405"/>
                </a:lnTo>
                <a:lnTo>
                  <a:pt x="0" y="2458405"/>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5" name="TextBox 18"/>
          <p:cNvSpPr/>
          <p:nvPr/>
        </p:nvSpPr>
        <p:spPr>
          <a:xfrm>
            <a:off x="150264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8960"/>
              </a:lnSpc>
            </a:pPr>
            <a:r>
              <a:rPr lang="en-US" sz="6400" b="0" strike="noStrike" spc="-1">
                <a:solidFill>
                  <a:srgbClr val="F1F0E7"/>
                </a:solidFill>
                <a:latin typeface="Anton"/>
                <a:ea typeface="Anton"/>
              </a:rPr>
              <a:t>Data Cleaning &amp; Preprocessing</a:t>
            </a:r>
            <a:endParaRPr lang="en-US" sz="6400" b="0" strike="noStrike" spc="-1">
              <a:solidFill>
                <a:srgbClr val="000000"/>
              </a:solidFill>
              <a:latin typeface="Arial"/>
            </a:endParaRPr>
          </a:p>
        </p:txBody>
      </p:sp>
      <p:sp>
        <p:nvSpPr>
          <p:cNvPr id="216" name="TextBox 19"/>
          <p:cNvSpPr/>
          <p:nvPr/>
        </p:nvSpPr>
        <p:spPr>
          <a:xfrm>
            <a:off x="1028880" y="3296880"/>
            <a:ext cx="6350040" cy="373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940"/>
              </a:lnSpc>
            </a:pPr>
            <a:r>
              <a:rPr lang="en-US" sz="2100" b="0" strike="noStrike" spc="-1">
                <a:solidFill>
                  <a:srgbClr val="112C16"/>
                </a:solidFill>
                <a:latin typeface="Glacial Indifference"/>
                <a:ea typeface="Glacial Indifference"/>
              </a:rPr>
              <a:t>The raw dataset was systematically cleaned and prepared for analysis by checking data types, identifying missing values and duplicate records, and applying appropriate preprocessing techniques. Relevant transformations and derived features were then created to improve the quality and usability of the data. This process converted the raw student data into a reliable, analysis-ready dataset for further exploration</a:t>
            </a:r>
            <a:endParaRPr lang="en-US" sz="2100" b="0" strike="noStrike" spc="-1">
              <a:solidFill>
                <a:srgbClr val="000000"/>
              </a:solidFill>
              <a:latin typeface="Arial"/>
            </a:endParaRPr>
          </a:p>
        </p:txBody>
      </p:sp>
      <p:sp>
        <p:nvSpPr>
          <p:cNvPr id="217" name="TextBox 20"/>
          <p:cNvSpPr/>
          <p:nvPr/>
        </p:nvSpPr>
        <p:spPr>
          <a:xfrm>
            <a:off x="10472040" y="3607200"/>
            <a:ext cx="678708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5040"/>
              </a:lnSpc>
            </a:pPr>
            <a:r>
              <a:rPr lang="en-US" sz="3600" b="0" strike="noStrike" spc="-1">
                <a:solidFill>
                  <a:srgbClr val="112C16"/>
                </a:solidFill>
                <a:latin typeface="Glacial Indifference"/>
                <a:ea typeface="Glacial Indifference"/>
              </a:rPr>
              <a:t>Remove duplicates and errors</a:t>
            </a:r>
            <a:endParaRPr lang="en-US" sz="3600" b="0" strike="noStrike" spc="-1">
              <a:solidFill>
                <a:srgbClr val="000000"/>
              </a:solidFill>
              <a:latin typeface="Arial"/>
            </a:endParaRPr>
          </a:p>
        </p:txBody>
      </p:sp>
      <p:sp>
        <p:nvSpPr>
          <p:cNvPr id="218" name="TextBox 21"/>
          <p:cNvSpPr/>
          <p:nvPr/>
        </p:nvSpPr>
        <p:spPr>
          <a:xfrm>
            <a:off x="10472040" y="5427720"/>
            <a:ext cx="67870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5040"/>
              </a:lnSpc>
            </a:pPr>
            <a:r>
              <a:rPr lang="en-US" sz="3600" b="0" strike="noStrike" spc="-1">
                <a:solidFill>
                  <a:srgbClr val="112C16"/>
                </a:solidFill>
                <a:latin typeface="Glacial Indifference"/>
                <a:ea typeface="Glacial Indifference"/>
              </a:rPr>
              <a:t>Handle missing values</a:t>
            </a:r>
            <a:endParaRPr lang="en-US" sz="3600" b="0" strike="noStrike" spc="-1">
              <a:solidFill>
                <a:srgbClr val="000000"/>
              </a:solidFill>
              <a:latin typeface="Arial"/>
            </a:endParaRPr>
          </a:p>
        </p:txBody>
      </p:sp>
      <p:sp>
        <p:nvSpPr>
          <p:cNvPr id="219" name="TextBox 22"/>
          <p:cNvSpPr/>
          <p:nvPr/>
        </p:nvSpPr>
        <p:spPr>
          <a:xfrm>
            <a:off x="10472040" y="7120080"/>
            <a:ext cx="678708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5040"/>
              </a:lnSpc>
            </a:pPr>
            <a:r>
              <a:rPr lang="en-US" sz="3600" b="0" strike="noStrike" spc="-1">
                <a:solidFill>
                  <a:srgbClr val="112C16"/>
                </a:solidFill>
                <a:latin typeface="Glacial Indifference"/>
                <a:ea typeface="Glacial Indifference"/>
              </a:rPr>
              <a:t>Normalize and standardize data</a:t>
            </a:r>
            <a:endParaRPr lang="en-US" sz="36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20" name="Group 2"/>
          <p:cNvGrpSpPr/>
          <p:nvPr/>
        </p:nvGrpSpPr>
        <p:grpSpPr>
          <a:xfrm>
            <a:off x="2509560" y="2852280"/>
            <a:ext cx="12958560" cy="6412320"/>
            <a:chOff x="2509560" y="2852280"/>
            <a:chExt cx="12958560" cy="6412320"/>
          </a:xfrm>
        </p:grpSpPr>
        <p:sp>
          <p:nvSpPr>
            <p:cNvPr id="221" name="Freeform 3"/>
            <p:cNvSpPr/>
            <p:nvPr/>
          </p:nvSpPr>
          <p:spPr>
            <a:xfrm>
              <a:off x="2509560" y="3033000"/>
              <a:ext cx="12958560" cy="6231240"/>
            </a:xfrm>
            <a:custGeom>
              <a:avLst/>
              <a:gdLst>
                <a:gd name="textAreaLeft" fmla="*/ 0 w 12958560"/>
                <a:gd name="textAreaRight" fmla="*/ 12958920 w 12958560"/>
                <a:gd name="textAreaTop" fmla="*/ 0 h 6231240"/>
                <a:gd name="textAreaBottom" fmla="*/ 6231600 h 6231240"/>
              </a:gdLst>
              <a:ahLst/>
              <a:cxnLst/>
              <a:rect l="textAreaLeft" t="textAreaTop" r="textAreaRight" b="textAreaBottom"/>
              <a:pathLst>
                <a:path w="2922457" h="1641264">
                  <a:moveTo>
                    <a:pt x="13256" y="0"/>
                  </a:moveTo>
                  <a:lnTo>
                    <a:pt x="2909201" y="0"/>
                  </a:lnTo>
                  <a:cubicBezTo>
                    <a:pt x="2916522" y="0"/>
                    <a:pt x="2922457" y="5935"/>
                    <a:pt x="2922457" y="13256"/>
                  </a:cubicBezTo>
                  <a:lnTo>
                    <a:pt x="2922457" y="1628008"/>
                  </a:lnTo>
                  <a:cubicBezTo>
                    <a:pt x="2922457" y="1631523"/>
                    <a:pt x="2921060" y="1634895"/>
                    <a:pt x="2918574" y="1637381"/>
                  </a:cubicBezTo>
                  <a:cubicBezTo>
                    <a:pt x="2916088" y="1639868"/>
                    <a:pt x="2912716" y="1641264"/>
                    <a:pt x="2909201" y="1641264"/>
                  </a:cubicBezTo>
                  <a:lnTo>
                    <a:pt x="13256" y="1641264"/>
                  </a:lnTo>
                  <a:cubicBezTo>
                    <a:pt x="5935" y="1641264"/>
                    <a:pt x="0" y="1635329"/>
                    <a:pt x="0" y="1628008"/>
                  </a:cubicBezTo>
                  <a:lnTo>
                    <a:pt x="0" y="13256"/>
                  </a:lnTo>
                  <a:cubicBezTo>
                    <a:pt x="0" y="9741"/>
                    <a:pt x="1397" y="6369"/>
                    <a:pt x="3883" y="3883"/>
                  </a:cubicBezTo>
                  <a:cubicBezTo>
                    <a:pt x="6369" y="1397"/>
                    <a:pt x="9741" y="0"/>
                    <a:pt x="13256" y="0"/>
                  </a:cubicBezTo>
                  <a:close/>
                </a:path>
              </a:pathLst>
            </a:custGeom>
            <a:solidFill>
              <a:srgbClr val="DDECC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22" name="TextBox 4"/>
            <p:cNvSpPr/>
            <p:nvPr/>
          </p:nvSpPr>
          <p:spPr>
            <a:xfrm>
              <a:off x="2509560" y="2852280"/>
              <a:ext cx="12958560" cy="64123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498"/>
                </a:lnSpc>
              </a:pPr>
              <a:endParaRPr lang="en-US" sz="1800" b="0" strike="noStrike" spc="-1">
                <a:solidFill>
                  <a:schemeClr val="dk1"/>
                </a:solidFill>
                <a:latin typeface="Calibri"/>
              </a:endParaRPr>
            </a:p>
          </p:txBody>
        </p:sp>
      </p:grpSp>
      <p:sp>
        <p:nvSpPr>
          <p:cNvPr id="223" name="TextBox 5"/>
          <p:cNvSpPr/>
          <p:nvPr/>
        </p:nvSpPr>
        <p:spPr>
          <a:xfrm>
            <a:off x="4101480" y="3554640"/>
            <a:ext cx="370872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498"/>
              </a:lnSpc>
            </a:pPr>
            <a:r>
              <a:rPr lang="en-US" sz="2500" b="1" strike="noStrike" spc="-1">
                <a:solidFill>
                  <a:srgbClr val="2D2D2D"/>
                </a:solidFill>
                <a:latin typeface="Open Sans Bold"/>
                <a:ea typeface="Open Sans Bold"/>
              </a:rPr>
              <a:t>Metric</a:t>
            </a:r>
            <a:endParaRPr lang="en-US" sz="2500" b="0" strike="noStrike" spc="-1">
              <a:solidFill>
                <a:srgbClr val="000000"/>
              </a:solidFill>
              <a:latin typeface="Arial"/>
            </a:endParaRPr>
          </a:p>
        </p:txBody>
      </p:sp>
      <p:sp>
        <p:nvSpPr>
          <p:cNvPr id="224" name="TextBox 6"/>
          <p:cNvSpPr/>
          <p:nvPr/>
        </p:nvSpPr>
        <p:spPr>
          <a:xfrm>
            <a:off x="2509560" y="1220040"/>
            <a:ext cx="14749200" cy="186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7345"/>
              </a:lnSpc>
            </a:pPr>
            <a:r>
              <a:rPr lang="en-US" sz="7200" b="1" strike="noStrike" spc="-1">
                <a:solidFill>
                  <a:srgbClr val="2D2D2D"/>
                </a:solidFill>
                <a:latin typeface="Montserrat Bold"/>
                <a:ea typeface="Montserrat Bold"/>
              </a:rPr>
              <a:t>Data Pre-Processing Overview</a:t>
            </a:r>
            <a:endParaRPr lang="en-US" sz="7200" b="0" strike="noStrike" spc="-1">
              <a:solidFill>
                <a:srgbClr val="000000"/>
              </a:solidFill>
              <a:latin typeface="Arial"/>
            </a:endParaRPr>
          </a:p>
        </p:txBody>
      </p:sp>
      <p:sp>
        <p:nvSpPr>
          <p:cNvPr id="225" name="TextBox 7"/>
          <p:cNvSpPr/>
          <p:nvPr/>
        </p:nvSpPr>
        <p:spPr>
          <a:xfrm>
            <a:off x="9884520" y="3554640"/>
            <a:ext cx="370872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498"/>
              </a:lnSpc>
            </a:pPr>
            <a:r>
              <a:rPr lang="en-US" sz="2500" b="1" strike="noStrike" spc="-1">
                <a:solidFill>
                  <a:srgbClr val="2D2D2D"/>
                </a:solidFill>
                <a:latin typeface="Open Sans Bold"/>
                <a:ea typeface="Open Sans Bold"/>
              </a:rPr>
              <a:t>Status</a:t>
            </a:r>
            <a:endParaRPr lang="en-US" sz="2500" b="0" strike="noStrike" spc="-1">
              <a:solidFill>
                <a:srgbClr val="000000"/>
              </a:solidFill>
              <a:latin typeface="Arial"/>
            </a:endParaRPr>
          </a:p>
        </p:txBody>
      </p:sp>
      <p:sp>
        <p:nvSpPr>
          <p:cNvPr id="226" name="AutoShape 8"/>
          <p:cNvSpPr/>
          <p:nvPr/>
        </p:nvSpPr>
        <p:spPr>
          <a:xfrm>
            <a:off x="4156560" y="4321800"/>
            <a:ext cx="9974520" cy="360"/>
          </a:xfrm>
          <a:prstGeom prst="line">
            <a:avLst/>
          </a:prstGeom>
          <a:ln w="38100">
            <a:solidFill>
              <a:srgbClr val="CFE3B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227" name="TextBox 9"/>
          <p:cNvSpPr/>
          <p:nvPr/>
        </p:nvSpPr>
        <p:spPr>
          <a:xfrm>
            <a:off x="4829400" y="4617360"/>
            <a:ext cx="298080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Missing values</a:t>
            </a:r>
            <a:endParaRPr lang="en-US" sz="2500" b="0" strike="noStrike" spc="-1">
              <a:solidFill>
                <a:srgbClr val="000000"/>
              </a:solidFill>
              <a:latin typeface="Arial"/>
            </a:endParaRPr>
          </a:p>
        </p:txBody>
      </p:sp>
      <p:sp>
        <p:nvSpPr>
          <p:cNvPr id="228" name="TextBox 10"/>
          <p:cNvSpPr/>
          <p:nvPr/>
        </p:nvSpPr>
        <p:spPr>
          <a:xfrm>
            <a:off x="10653840" y="4691160"/>
            <a:ext cx="3900600" cy="888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1,025 null values handled</a:t>
            </a:r>
            <a:endParaRPr lang="en-US" sz="2500" b="0" strike="noStrike" spc="-1">
              <a:solidFill>
                <a:srgbClr val="000000"/>
              </a:solidFill>
              <a:latin typeface="Arial"/>
            </a:endParaRPr>
          </a:p>
        </p:txBody>
      </p:sp>
      <p:sp>
        <p:nvSpPr>
          <p:cNvPr id="229" name="TextBox 11"/>
          <p:cNvSpPr/>
          <p:nvPr/>
        </p:nvSpPr>
        <p:spPr>
          <a:xfrm>
            <a:off x="4829400" y="5484600"/>
            <a:ext cx="298080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Duplicates</a:t>
            </a:r>
            <a:endParaRPr lang="en-US" sz="2500" b="0" strike="noStrike" spc="-1">
              <a:solidFill>
                <a:srgbClr val="000000"/>
              </a:solidFill>
              <a:latin typeface="Arial"/>
            </a:endParaRPr>
          </a:p>
        </p:txBody>
      </p:sp>
      <p:sp>
        <p:nvSpPr>
          <p:cNvPr id="230" name="AutoShape 12"/>
          <p:cNvSpPr/>
          <p:nvPr/>
        </p:nvSpPr>
        <p:spPr>
          <a:xfrm>
            <a:off x="4101480" y="5284440"/>
            <a:ext cx="9974520" cy="360"/>
          </a:xfrm>
          <a:prstGeom prst="line">
            <a:avLst/>
          </a:prstGeom>
          <a:ln w="38100">
            <a:solidFill>
              <a:srgbClr val="CFE3B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231" name="AutoShape 13"/>
          <p:cNvSpPr/>
          <p:nvPr/>
        </p:nvSpPr>
        <p:spPr>
          <a:xfrm>
            <a:off x="4101480" y="6152040"/>
            <a:ext cx="9974520" cy="360"/>
          </a:xfrm>
          <a:prstGeom prst="line">
            <a:avLst/>
          </a:prstGeom>
          <a:ln w="38100">
            <a:solidFill>
              <a:srgbClr val="CFE3B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232" name="AutoShape 14"/>
          <p:cNvSpPr/>
          <p:nvPr/>
        </p:nvSpPr>
        <p:spPr>
          <a:xfrm>
            <a:off x="4101480" y="6948720"/>
            <a:ext cx="9974520" cy="360"/>
          </a:xfrm>
          <a:prstGeom prst="line">
            <a:avLst/>
          </a:prstGeom>
          <a:ln w="38100">
            <a:solidFill>
              <a:srgbClr val="CFE3B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233" name="TextBox 15"/>
          <p:cNvSpPr/>
          <p:nvPr/>
        </p:nvSpPr>
        <p:spPr>
          <a:xfrm>
            <a:off x="10653840" y="5484600"/>
            <a:ext cx="298080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0 duplicates</a:t>
            </a:r>
            <a:endParaRPr lang="en-US" sz="2500" b="0" strike="noStrike" spc="-1">
              <a:solidFill>
                <a:srgbClr val="000000"/>
              </a:solidFill>
              <a:latin typeface="Arial"/>
            </a:endParaRPr>
          </a:p>
        </p:txBody>
      </p:sp>
      <p:sp>
        <p:nvSpPr>
          <p:cNvPr id="234" name="TextBox 16"/>
          <p:cNvSpPr/>
          <p:nvPr/>
        </p:nvSpPr>
        <p:spPr>
          <a:xfrm>
            <a:off x="4829400" y="6279120"/>
            <a:ext cx="356328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Data Type Correction</a:t>
            </a:r>
            <a:endParaRPr lang="en-US" sz="2500" b="0" strike="noStrike" spc="-1">
              <a:solidFill>
                <a:srgbClr val="000000"/>
              </a:solidFill>
              <a:latin typeface="Arial"/>
            </a:endParaRPr>
          </a:p>
        </p:txBody>
      </p:sp>
      <p:sp>
        <p:nvSpPr>
          <p:cNvPr id="235" name="TextBox 17"/>
          <p:cNvSpPr/>
          <p:nvPr/>
        </p:nvSpPr>
        <p:spPr>
          <a:xfrm>
            <a:off x="10653840" y="6315480"/>
            <a:ext cx="298080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Corrected</a:t>
            </a:r>
            <a:endParaRPr lang="en-US" sz="2500" b="0" strike="noStrike" spc="-1">
              <a:solidFill>
                <a:srgbClr val="000000"/>
              </a:solidFill>
              <a:latin typeface="Arial"/>
            </a:endParaRPr>
          </a:p>
        </p:txBody>
      </p:sp>
      <p:sp>
        <p:nvSpPr>
          <p:cNvPr id="236" name="TextBox 18"/>
          <p:cNvSpPr/>
          <p:nvPr/>
        </p:nvSpPr>
        <p:spPr>
          <a:xfrm>
            <a:off x="4829400" y="7149240"/>
            <a:ext cx="356328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Data Validation</a:t>
            </a:r>
            <a:endParaRPr lang="en-US" sz="2500" b="0" strike="noStrike" spc="-1">
              <a:solidFill>
                <a:srgbClr val="000000"/>
              </a:solidFill>
              <a:latin typeface="Arial"/>
            </a:endParaRPr>
          </a:p>
        </p:txBody>
      </p:sp>
      <p:sp>
        <p:nvSpPr>
          <p:cNvPr id="237" name="TextBox 19"/>
          <p:cNvSpPr/>
          <p:nvPr/>
        </p:nvSpPr>
        <p:spPr>
          <a:xfrm>
            <a:off x="10653840" y="7168320"/>
            <a:ext cx="298080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Validated</a:t>
            </a:r>
            <a:endParaRPr lang="en-US" sz="2500" b="0" strike="noStrike" spc="-1">
              <a:solidFill>
                <a:srgbClr val="000000"/>
              </a:solidFill>
              <a:latin typeface="Arial"/>
            </a:endParaRPr>
          </a:p>
        </p:txBody>
      </p:sp>
      <p:sp>
        <p:nvSpPr>
          <p:cNvPr id="238" name="AutoShape 20"/>
          <p:cNvSpPr/>
          <p:nvPr/>
        </p:nvSpPr>
        <p:spPr>
          <a:xfrm>
            <a:off x="4101480" y="7837920"/>
            <a:ext cx="9974520" cy="360"/>
          </a:xfrm>
          <a:prstGeom prst="line">
            <a:avLst/>
          </a:prstGeom>
          <a:ln w="38100">
            <a:solidFill>
              <a:srgbClr val="CFE3B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239" name="AutoShape 21"/>
          <p:cNvSpPr/>
          <p:nvPr/>
        </p:nvSpPr>
        <p:spPr>
          <a:xfrm>
            <a:off x="8969040" y="3083040"/>
            <a:ext cx="360" cy="6181560"/>
          </a:xfrm>
          <a:prstGeom prst="line">
            <a:avLst/>
          </a:prstGeom>
          <a:ln w="38100">
            <a:solidFill>
              <a:srgbClr val="CFE3B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240" name="TextBox 22"/>
          <p:cNvSpPr/>
          <p:nvPr/>
        </p:nvSpPr>
        <p:spPr>
          <a:xfrm>
            <a:off x="4829400" y="8038080"/>
            <a:ext cx="356328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Outlier Validation</a:t>
            </a:r>
            <a:endParaRPr lang="en-US" sz="2500" b="0" strike="noStrike" spc="-1">
              <a:solidFill>
                <a:srgbClr val="000000"/>
              </a:solidFill>
              <a:latin typeface="Arial"/>
            </a:endParaRPr>
          </a:p>
        </p:txBody>
      </p:sp>
      <p:sp>
        <p:nvSpPr>
          <p:cNvPr id="241" name="TextBox 23"/>
          <p:cNvSpPr/>
          <p:nvPr/>
        </p:nvSpPr>
        <p:spPr>
          <a:xfrm>
            <a:off x="10653840" y="8057160"/>
            <a:ext cx="298080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Validated</a:t>
            </a:r>
            <a:endParaRPr lang="en-US" sz="25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42" name="Group 2"/>
          <p:cNvGrpSpPr/>
          <p:nvPr/>
        </p:nvGrpSpPr>
        <p:grpSpPr>
          <a:xfrm>
            <a:off x="1028880" y="884160"/>
            <a:ext cx="16230240" cy="1360440"/>
            <a:chOff x="1028880" y="884160"/>
            <a:chExt cx="16230240" cy="1360440"/>
          </a:xfrm>
        </p:grpSpPr>
        <p:sp>
          <p:nvSpPr>
            <p:cNvPr id="243"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44"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245" name="TextBox 5"/>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Derived columns</a:t>
            </a:r>
            <a:endParaRPr lang="en-US" sz="6400" b="0" strike="noStrike" spc="-1">
              <a:solidFill>
                <a:srgbClr val="000000"/>
              </a:solidFill>
              <a:latin typeface="Arial"/>
            </a:endParaRPr>
          </a:p>
        </p:txBody>
      </p:sp>
      <p:grpSp>
        <p:nvGrpSpPr>
          <p:cNvPr id="246" name="Group 6"/>
          <p:cNvGrpSpPr/>
          <p:nvPr/>
        </p:nvGrpSpPr>
        <p:grpSpPr>
          <a:xfrm>
            <a:off x="1291320" y="4329360"/>
            <a:ext cx="7756920" cy="1036080"/>
            <a:chOff x="1291320" y="4329360"/>
            <a:chExt cx="7756920" cy="1036080"/>
          </a:xfrm>
        </p:grpSpPr>
        <p:sp>
          <p:nvSpPr>
            <p:cNvPr id="247" name="Freeform 7"/>
            <p:cNvSpPr/>
            <p:nvPr/>
          </p:nvSpPr>
          <p:spPr>
            <a:xfrm>
              <a:off x="1291320" y="4546440"/>
              <a:ext cx="7756920" cy="819000"/>
            </a:xfrm>
            <a:custGeom>
              <a:avLst/>
              <a:gdLst>
                <a:gd name="textAreaLeft" fmla="*/ 0 w 7756920"/>
                <a:gd name="textAreaRight" fmla="*/ 7757280 w 7756920"/>
                <a:gd name="textAreaTop" fmla="*/ 0 h 819000"/>
                <a:gd name="textAreaBottom" fmla="*/ 819360 h 819000"/>
              </a:gdLst>
              <a:ahLst/>
              <a:cxnLst/>
              <a:rect l="textAreaLeft" t="textAreaTop" r="textAreaRight" b="textAreaBottom"/>
              <a:pathLst>
                <a:path w="2043097" h="215784">
                  <a:moveTo>
                    <a:pt x="25948" y="0"/>
                  </a:moveTo>
                  <a:lnTo>
                    <a:pt x="2017149" y="0"/>
                  </a:lnTo>
                  <a:cubicBezTo>
                    <a:pt x="2024031" y="0"/>
                    <a:pt x="2030631" y="2734"/>
                    <a:pt x="2035497" y="7600"/>
                  </a:cubicBezTo>
                  <a:cubicBezTo>
                    <a:pt x="2040363" y="12466"/>
                    <a:pt x="2043097" y="19066"/>
                    <a:pt x="2043097" y="25948"/>
                  </a:cubicBezTo>
                  <a:lnTo>
                    <a:pt x="2043097" y="189836"/>
                  </a:lnTo>
                  <a:cubicBezTo>
                    <a:pt x="2043097" y="196718"/>
                    <a:pt x="2040363" y="203318"/>
                    <a:pt x="2035497" y="208184"/>
                  </a:cubicBezTo>
                  <a:cubicBezTo>
                    <a:pt x="2030631" y="213050"/>
                    <a:pt x="2024031" y="215784"/>
                    <a:pt x="2017149" y="215784"/>
                  </a:cubicBezTo>
                  <a:lnTo>
                    <a:pt x="25948" y="215784"/>
                  </a:lnTo>
                  <a:cubicBezTo>
                    <a:pt x="11617" y="215784"/>
                    <a:pt x="0" y="204167"/>
                    <a:pt x="0" y="189836"/>
                  </a:cubicBezTo>
                  <a:lnTo>
                    <a:pt x="0" y="25948"/>
                  </a:lnTo>
                  <a:cubicBezTo>
                    <a:pt x="0" y="19066"/>
                    <a:pt x="2734" y="12466"/>
                    <a:pt x="7600" y="7600"/>
                  </a:cubicBezTo>
                  <a:cubicBezTo>
                    <a:pt x="12466" y="2734"/>
                    <a:pt x="19066" y="0"/>
                    <a:pt x="25948"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48" name="TextBox 8"/>
            <p:cNvSpPr/>
            <p:nvPr/>
          </p:nvSpPr>
          <p:spPr>
            <a:xfrm>
              <a:off x="1291320" y="4329360"/>
              <a:ext cx="7756920" cy="1036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249" name="TextBox 9"/>
          <p:cNvSpPr/>
          <p:nvPr/>
        </p:nvSpPr>
        <p:spPr>
          <a:xfrm>
            <a:off x="2165760" y="4719600"/>
            <a:ext cx="67744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Full Name</a:t>
            </a:r>
            <a:endParaRPr lang="en-US" sz="2400" b="0" strike="noStrike" spc="-1">
              <a:solidFill>
                <a:srgbClr val="000000"/>
              </a:solidFill>
              <a:latin typeface="Arial"/>
            </a:endParaRPr>
          </a:p>
        </p:txBody>
      </p:sp>
      <p:grpSp>
        <p:nvGrpSpPr>
          <p:cNvPr id="250" name="Group 10"/>
          <p:cNvGrpSpPr/>
          <p:nvPr/>
        </p:nvGrpSpPr>
        <p:grpSpPr>
          <a:xfrm>
            <a:off x="1291320" y="5872680"/>
            <a:ext cx="7756920" cy="1036080"/>
            <a:chOff x="1291320" y="5872680"/>
            <a:chExt cx="7756920" cy="1036080"/>
          </a:xfrm>
        </p:grpSpPr>
        <p:sp>
          <p:nvSpPr>
            <p:cNvPr id="251" name="Freeform 11"/>
            <p:cNvSpPr/>
            <p:nvPr/>
          </p:nvSpPr>
          <p:spPr>
            <a:xfrm>
              <a:off x="1291320" y="6089400"/>
              <a:ext cx="7756920" cy="819000"/>
            </a:xfrm>
            <a:custGeom>
              <a:avLst/>
              <a:gdLst>
                <a:gd name="textAreaLeft" fmla="*/ 0 w 7756920"/>
                <a:gd name="textAreaRight" fmla="*/ 7757280 w 7756920"/>
                <a:gd name="textAreaTop" fmla="*/ 0 h 819000"/>
                <a:gd name="textAreaBottom" fmla="*/ 819360 h 819000"/>
              </a:gdLst>
              <a:ahLst/>
              <a:cxnLst/>
              <a:rect l="textAreaLeft" t="textAreaTop" r="textAreaRight" b="textAreaBottom"/>
              <a:pathLst>
                <a:path w="2043097" h="215784">
                  <a:moveTo>
                    <a:pt x="25948" y="0"/>
                  </a:moveTo>
                  <a:lnTo>
                    <a:pt x="2017149" y="0"/>
                  </a:lnTo>
                  <a:cubicBezTo>
                    <a:pt x="2024031" y="0"/>
                    <a:pt x="2030631" y="2734"/>
                    <a:pt x="2035497" y="7600"/>
                  </a:cubicBezTo>
                  <a:cubicBezTo>
                    <a:pt x="2040363" y="12466"/>
                    <a:pt x="2043097" y="19066"/>
                    <a:pt x="2043097" y="25948"/>
                  </a:cubicBezTo>
                  <a:lnTo>
                    <a:pt x="2043097" y="189836"/>
                  </a:lnTo>
                  <a:cubicBezTo>
                    <a:pt x="2043097" y="196718"/>
                    <a:pt x="2040363" y="203318"/>
                    <a:pt x="2035497" y="208184"/>
                  </a:cubicBezTo>
                  <a:cubicBezTo>
                    <a:pt x="2030631" y="213050"/>
                    <a:pt x="2024031" y="215784"/>
                    <a:pt x="2017149" y="215784"/>
                  </a:cubicBezTo>
                  <a:lnTo>
                    <a:pt x="25948" y="215784"/>
                  </a:lnTo>
                  <a:cubicBezTo>
                    <a:pt x="11617" y="215784"/>
                    <a:pt x="0" y="204167"/>
                    <a:pt x="0" y="189836"/>
                  </a:cubicBezTo>
                  <a:lnTo>
                    <a:pt x="0" y="25948"/>
                  </a:lnTo>
                  <a:cubicBezTo>
                    <a:pt x="0" y="19066"/>
                    <a:pt x="2734" y="12466"/>
                    <a:pt x="7600" y="7600"/>
                  </a:cubicBezTo>
                  <a:cubicBezTo>
                    <a:pt x="12466" y="2734"/>
                    <a:pt x="19066" y="0"/>
                    <a:pt x="25948"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52" name="TextBox 12"/>
            <p:cNvSpPr/>
            <p:nvPr/>
          </p:nvSpPr>
          <p:spPr>
            <a:xfrm>
              <a:off x="1291320" y="5872680"/>
              <a:ext cx="7756920" cy="1036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253" name="TextBox 13"/>
          <p:cNvSpPr/>
          <p:nvPr/>
        </p:nvSpPr>
        <p:spPr>
          <a:xfrm>
            <a:off x="2165760" y="6262920"/>
            <a:ext cx="67744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Age Group</a:t>
            </a:r>
            <a:endParaRPr lang="en-US" sz="2400" b="0" strike="noStrike" spc="-1">
              <a:solidFill>
                <a:srgbClr val="000000"/>
              </a:solidFill>
              <a:latin typeface="Arial"/>
            </a:endParaRPr>
          </a:p>
        </p:txBody>
      </p:sp>
      <p:grpSp>
        <p:nvGrpSpPr>
          <p:cNvPr id="254" name="Group 14"/>
          <p:cNvGrpSpPr/>
          <p:nvPr/>
        </p:nvGrpSpPr>
        <p:grpSpPr>
          <a:xfrm>
            <a:off x="1291320" y="7415640"/>
            <a:ext cx="7756920" cy="1036080"/>
            <a:chOff x="1291320" y="7415640"/>
            <a:chExt cx="7756920" cy="1036080"/>
          </a:xfrm>
        </p:grpSpPr>
        <p:sp>
          <p:nvSpPr>
            <p:cNvPr id="255" name="Freeform 15"/>
            <p:cNvSpPr/>
            <p:nvPr/>
          </p:nvSpPr>
          <p:spPr>
            <a:xfrm>
              <a:off x="1291320" y="7632720"/>
              <a:ext cx="7756920" cy="819000"/>
            </a:xfrm>
            <a:custGeom>
              <a:avLst/>
              <a:gdLst>
                <a:gd name="textAreaLeft" fmla="*/ 0 w 7756920"/>
                <a:gd name="textAreaRight" fmla="*/ 7757280 w 7756920"/>
                <a:gd name="textAreaTop" fmla="*/ 0 h 819000"/>
                <a:gd name="textAreaBottom" fmla="*/ 819360 h 819000"/>
              </a:gdLst>
              <a:ahLst/>
              <a:cxnLst/>
              <a:rect l="textAreaLeft" t="textAreaTop" r="textAreaRight" b="textAreaBottom"/>
              <a:pathLst>
                <a:path w="2043097" h="215784">
                  <a:moveTo>
                    <a:pt x="25948" y="0"/>
                  </a:moveTo>
                  <a:lnTo>
                    <a:pt x="2017149" y="0"/>
                  </a:lnTo>
                  <a:cubicBezTo>
                    <a:pt x="2024031" y="0"/>
                    <a:pt x="2030631" y="2734"/>
                    <a:pt x="2035497" y="7600"/>
                  </a:cubicBezTo>
                  <a:cubicBezTo>
                    <a:pt x="2040363" y="12466"/>
                    <a:pt x="2043097" y="19066"/>
                    <a:pt x="2043097" y="25948"/>
                  </a:cubicBezTo>
                  <a:lnTo>
                    <a:pt x="2043097" y="189836"/>
                  </a:lnTo>
                  <a:cubicBezTo>
                    <a:pt x="2043097" y="196718"/>
                    <a:pt x="2040363" y="203318"/>
                    <a:pt x="2035497" y="208184"/>
                  </a:cubicBezTo>
                  <a:cubicBezTo>
                    <a:pt x="2030631" y="213050"/>
                    <a:pt x="2024031" y="215784"/>
                    <a:pt x="2017149" y="215784"/>
                  </a:cubicBezTo>
                  <a:lnTo>
                    <a:pt x="25948" y="215784"/>
                  </a:lnTo>
                  <a:cubicBezTo>
                    <a:pt x="11617" y="215784"/>
                    <a:pt x="0" y="204167"/>
                    <a:pt x="0" y="189836"/>
                  </a:cubicBezTo>
                  <a:lnTo>
                    <a:pt x="0" y="25948"/>
                  </a:lnTo>
                  <a:cubicBezTo>
                    <a:pt x="0" y="19066"/>
                    <a:pt x="2734" y="12466"/>
                    <a:pt x="7600" y="7600"/>
                  </a:cubicBezTo>
                  <a:cubicBezTo>
                    <a:pt x="12466" y="2734"/>
                    <a:pt x="19066" y="0"/>
                    <a:pt x="25948"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56" name="TextBox 16"/>
            <p:cNvSpPr/>
            <p:nvPr/>
          </p:nvSpPr>
          <p:spPr>
            <a:xfrm>
              <a:off x="1291320" y="7415640"/>
              <a:ext cx="7756920" cy="1036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257" name="TextBox 17"/>
          <p:cNvSpPr/>
          <p:nvPr/>
        </p:nvSpPr>
        <p:spPr>
          <a:xfrm>
            <a:off x="2165760" y="7823160"/>
            <a:ext cx="67744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Attendance Status</a:t>
            </a:r>
            <a:endParaRPr lang="en-US" sz="2400" b="0" strike="noStrike" spc="-1">
              <a:solidFill>
                <a:srgbClr val="000000"/>
              </a:solidFill>
              <a:latin typeface="Arial"/>
            </a:endParaRPr>
          </a:p>
        </p:txBody>
      </p:sp>
      <p:grpSp>
        <p:nvGrpSpPr>
          <p:cNvPr id="258" name="Group 18"/>
          <p:cNvGrpSpPr/>
          <p:nvPr/>
        </p:nvGrpSpPr>
        <p:grpSpPr>
          <a:xfrm>
            <a:off x="9239400" y="4329360"/>
            <a:ext cx="7756920" cy="1036080"/>
            <a:chOff x="9239400" y="4329360"/>
            <a:chExt cx="7756920" cy="1036080"/>
          </a:xfrm>
        </p:grpSpPr>
        <p:sp>
          <p:nvSpPr>
            <p:cNvPr id="259" name="Freeform 19"/>
            <p:cNvSpPr/>
            <p:nvPr/>
          </p:nvSpPr>
          <p:spPr>
            <a:xfrm>
              <a:off x="9239400" y="4546440"/>
              <a:ext cx="7756920" cy="819000"/>
            </a:xfrm>
            <a:custGeom>
              <a:avLst/>
              <a:gdLst>
                <a:gd name="textAreaLeft" fmla="*/ 0 w 7756920"/>
                <a:gd name="textAreaRight" fmla="*/ 7757280 w 7756920"/>
                <a:gd name="textAreaTop" fmla="*/ 0 h 819000"/>
                <a:gd name="textAreaBottom" fmla="*/ 819360 h 819000"/>
              </a:gdLst>
              <a:ahLst/>
              <a:cxnLst/>
              <a:rect l="textAreaLeft" t="textAreaTop" r="textAreaRight" b="textAreaBottom"/>
              <a:pathLst>
                <a:path w="2043097" h="215784">
                  <a:moveTo>
                    <a:pt x="25948" y="0"/>
                  </a:moveTo>
                  <a:lnTo>
                    <a:pt x="2017149" y="0"/>
                  </a:lnTo>
                  <a:cubicBezTo>
                    <a:pt x="2024031" y="0"/>
                    <a:pt x="2030631" y="2734"/>
                    <a:pt x="2035497" y="7600"/>
                  </a:cubicBezTo>
                  <a:cubicBezTo>
                    <a:pt x="2040363" y="12466"/>
                    <a:pt x="2043097" y="19066"/>
                    <a:pt x="2043097" y="25948"/>
                  </a:cubicBezTo>
                  <a:lnTo>
                    <a:pt x="2043097" y="189836"/>
                  </a:lnTo>
                  <a:cubicBezTo>
                    <a:pt x="2043097" y="196718"/>
                    <a:pt x="2040363" y="203318"/>
                    <a:pt x="2035497" y="208184"/>
                  </a:cubicBezTo>
                  <a:cubicBezTo>
                    <a:pt x="2030631" y="213050"/>
                    <a:pt x="2024031" y="215784"/>
                    <a:pt x="2017149" y="215784"/>
                  </a:cubicBezTo>
                  <a:lnTo>
                    <a:pt x="25948" y="215784"/>
                  </a:lnTo>
                  <a:cubicBezTo>
                    <a:pt x="11617" y="215784"/>
                    <a:pt x="0" y="204167"/>
                    <a:pt x="0" y="189836"/>
                  </a:cubicBezTo>
                  <a:lnTo>
                    <a:pt x="0" y="25948"/>
                  </a:lnTo>
                  <a:cubicBezTo>
                    <a:pt x="0" y="19066"/>
                    <a:pt x="2734" y="12466"/>
                    <a:pt x="7600" y="7600"/>
                  </a:cubicBezTo>
                  <a:cubicBezTo>
                    <a:pt x="12466" y="2734"/>
                    <a:pt x="19066" y="0"/>
                    <a:pt x="25948"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60" name="TextBox 20"/>
            <p:cNvSpPr/>
            <p:nvPr/>
          </p:nvSpPr>
          <p:spPr>
            <a:xfrm>
              <a:off x="9239400" y="4329360"/>
              <a:ext cx="7756920" cy="1036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261" name="TextBox 21"/>
          <p:cNvSpPr/>
          <p:nvPr/>
        </p:nvSpPr>
        <p:spPr>
          <a:xfrm>
            <a:off x="10113840" y="4719600"/>
            <a:ext cx="67744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 Performance Category</a:t>
            </a:r>
            <a:endParaRPr lang="en-US" sz="2400" b="0" strike="noStrike" spc="-1">
              <a:solidFill>
                <a:srgbClr val="000000"/>
              </a:solidFill>
              <a:latin typeface="Arial"/>
            </a:endParaRPr>
          </a:p>
        </p:txBody>
      </p:sp>
      <p:sp>
        <p:nvSpPr>
          <p:cNvPr id="262" name="Freeform 22"/>
          <p:cNvSpPr/>
          <p:nvPr/>
        </p:nvSpPr>
        <p:spPr>
          <a:xfrm>
            <a:off x="9433440" y="4682520"/>
            <a:ext cx="511560" cy="546480"/>
          </a:xfrm>
          <a:custGeom>
            <a:avLst/>
            <a:gdLst>
              <a:gd name="textAreaLeft" fmla="*/ 0 w 511560"/>
              <a:gd name="textAreaRight" fmla="*/ 511920 w 511560"/>
              <a:gd name="textAreaTop" fmla="*/ 0 h 546480"/>
              <a:gd name="textAreaBottom" fmla="*/ 546840 h 546480"/>
            </a:gdLst>
            <a:ahLst/>
            <a:cxnLst/>
            <a:rect l="textAreaLeft" t="textAreaTop" r="textAreaRight" b="textAreaBottom"/>
            <a:pathLst>
              <a:path w="511989" h="546785">
                <a:moveTo>
                  <a:pt x="0" y="0"/>
                </a:moveTo>
                <a:lnTo>
                  <a:pt x="511989" y="0"/>
                </a:lnTo>
                <a:lnTo>
                  <a:pt x="511989" y="546785"/>
                </a:lnTo>
                <a:lnTo>
                  <a:pt x="0" y="546785"/>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263" name="Group 23"/>
          <p:cNvGrpSpPr/>
          <p:nvPr/>
        </p:nvGrpSpPr>
        <p:grpSpPr>
          <a:xfrm>
            <a:off x="9239400" y="5872680"/>
            <a:ext cx="7756920" cy="1036080"/>
            <a:chOff x="9239400" y="5872680"/>
            <a:chExt cx="7756920" cy="1036080"/>
          </a:xfrm>
        </p:grpSpPr>
        <p:sp>
          <p:nvSpPr>
            <p:cNvPr id="264" name="Freeform 24"/>
            <p:cNvSpPr/>
            <p:nvPr/>
          </p:nvSpPr>
          <p:spPr>
            <a:xfrm>
              <a:off x="9239400" y="6089400"/>
              <a:ext cx="7756920" cy="819000"/>
            </a:xfrm>
            <a:custGeom>
              <a:avLst/>
              <a:gdLst>
                <a:gd name="textAreaLeft" fmla="*/ 0 w 7756920"/>
                <a:gd name="textAreaRight" fmla="*/ 7757280 w 7756920"/>
                <a:gd name="textAreaTop" fmla="*/ 0 h 819000"/>
                <a:gd name="textAreaBottom" fmla="*/ 819360 h 819000"/>
              </a:gdLst>
              <a:ahLst/>
              <a:cxnLst/>
              <a:rect l="textAreaLeft" t="textAreaTop" r="textAreaRight" b="textAreaBottom"/>
              <a:pathLst>
                <a:path w="2043097" h="215784">
                  <a:moveTo>
                    <a:pt x="25948" y="0"/>
                  </a:moveTo>
                  <a:lnTo>
                    <a:pt x="2017149" y="0"/>
                  </a:lnTo>
                  <a:cubicBezTo>
                    <a:pt x="2024031" y="0"/>
                    <a:pt x="2030631" y="2734"/>
                    <a:pt x="2035497" y="7600"/>
                  </a:cubicBezTo>
                  <a:cubicBezTo>
                    <a:pt x="2040363" y="12466"/>
                    <a:pt x="2043097" y="19066"/>
                    <a:pt x="2043097" y="25948"/>
                  </a:cubicBezTo>
                  <a:lnTo>
                    <a:pt x="2043097" y="189836"/>
                  </a:lnTo>
                  <a:cubicBezTo>
                    <a:pt x="2043097" y="196718"/>
                    <a:pt x="2040363" y="203318"/>
                    <a:pt x="2035497" y="208184"/>
                  </a:cubicBezTo>
                  <a:cubicBezTo>
                    <a:pt x="2030631" y="213050"/>
                    <a:pt x="2024031" y="215784"/>
                    <a:pt x="2017149" y="215784"/>
                  </a:cubicBezTo>
                  <a:lnTo>
                    <a:pt x="25948" y="215784"/>
                  </a:lnTo>
                  <a:cubicBezTo>
                    <a:pt x="11617" y="215784"/>
                    <a:pt x="0" y="204167"/>
                    <a:pt x="0" y="189836"/>
                  </a:cubicBezTo>
                  <a:lnTo>
                    <a:pt x="0" y="25948"/>
                  </a:lnTo>
                  <a:cubicBezTo>
                    <a:pt x="0" y="19066"/>
                    <a:pt x="2734" y="12466"/>
                    <a:pt x="7600" y="7600"/>
                  </a:cubicBezTo>
                  <a:cubicBezTo>
                    <a:pt x="12466" y="2734"/>
                    <a:pt x="19066" y="0"/>
                    <a:pt x="25948"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65" name="TextBox 25"/>
            <p:cNvSpPr/>
            <p:nvPr/>
          </p:nvSpPr>
          <p:spPr>
            <a:xfrm>
              <a:off x="9239400" y="5872680"/>
              <a:ext cx="7756920" cy="1036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266" name="TextBox 26"/>
          <p:cNvSpPr/>
          <p:nvPr/>
        </p:nvSpPr>
        <p:spPr>
          <a:xfrm>
            <a:off x="10113840" y="6262920"/>
            <a:ext cx="729612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Stress Category</a:t>
            </a:r>
            <a:endParaRPr lang="en-US" sz="2400" b="0" strike="noStrike" spc="-1">
              <a:solidFill>
                <a:srgbClr val="000000"/>
              </a:solidFill>
              <a:latin typeface="Arial"/>
            </a:endParaRPr>
          </a:p>
        </p:txBody>
      </p:sp>
      <p:sp>
        <p:nvSpPr>
          <p:cNvPr id="267" name="Freeform 27"/>
          <p:cNvSpPr/>
          <p:nvPr/>
        </p:nvSpPr>
        <p:spPr>
          <a:xfrm>
            <a:off x="9433440" y="6225840"/>
            <a:ext cx="511560" cy="546480"/>
          </a:xfrm>
          <a:custGeom>
            <a:avLst/>
            <a:gdLst>
              <a:gd name="textAreaLeft" fmla="*/ 0 w 511560"/>
              <a:gd name="textAreaRight" fmla="*/ 511920 w 511560"/>
              <a:gd name="textAreaTop" fmla="*/ 0 h 546480"/>
              <a:gd name="textAreaBottom" fmla="*/ 546840 h 546480"/>
            </a:gdLst>
            <a:ahLst/>
            <a:cxnLst/>
            <a:rect l="textAreaLeft" t="textAreaTop" r="textAreaRight" b="textAreaBottom"/>
            <a:pathLst>
              <a:path w="511989" h="546785">
                <a:moveTo>
                  <a:pt x="0" y="0"/>
                </a:moveTo>
                <a:lnTo>
                  <a:pt x="511989" y="0"/>
                </a:lnTo>
                <a:lnTo>
                  <a:pt x="511989" y="546784"/>
                </a:lnTo>
                <a:lnTo>
                  <a:pt x="0" y="546784"/>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268" name="Group 28"/>
          <p:cNvGrpSpPr/>
          <p:nvPr/>
        </p:nvGrpSpPr>
        <p:grpSpPr>
          <a:xfrm>
            <a:off x="9239400" y="7415640"/>
            <a:ext cx="7756920" cy="1036080"/>
            <a:chOff x="9239400" y="7415640"/>
            <a:chExt cx="7756920" cy="1036080"/>
          </a:xfrm>
        </p:grpSpPr>
        <p:sp>
          <p:nvSpPr>
            <p:cNvPr id="269" name="Freeform 29"/>
            <p:cNvSpPr/>
            <p:nvPr/>
          </p:nvSpPr>
          <p:spPr>
            <a:xfrm>
              <a:off x="9239400" y="7632720"/>
              <a:ext cx="7756920" cy="819000"/>
            </a:xfrm>
            <a:custGeom>
              <a:avLst/>
              <a:gdLst>
                <a:gd name="textAreaLeft" fmla="*/ 0 w 7756920"/>
                <a:gd name="textAreaRight" fmla="*/ 7757280 w 7756920"/>
                <a:gd name="textAreaTop" fmla="*/ 0 h 819000"/>
                <a:gd name="textAreaBottom" fmla="*/ 819360 h 819000"/>
              </a:gdLst>
              <a:ahLst/>
              <a:cxnLst/>
              <a:rect l="textAreaLeft" t="textAreaTop" r="textAreaRight" b="textAreaBottom"/>
              <a:pathLst>
                <a:path w="2043097" h="215784">
                  <a:moveTo>
                    <a:pt x="25948" y="0"/>
                  </a:moveTo>
                  <a:lnTo>
                    <a:pt x="2017149" y="0"/>
                  </a:lnTo>
                  <a:cubicBezTo>
                    <a:pt x="2024031" y="0"/>
                    <a:pt x="2030631" y="2734"/>
                    <a:pt x="2035497" y="7600"/>
                  </a:cubicBezTo>
                  <a:cubicBezTo>
                    <a:pt x="2040363" y="12466"/>
                    <a:pt x="2043097" y="19066"/>
                    <a:pt x="2043097" y="25948"/>
                  </a:cubicBezTo>
                  <a:lnTo>
                    <a:pt x="2043097" y="189836"/>
                  </a:lnTo>
                  <a:cubicBezTo>
                    <a:pt x="2043097" y="196718"/>
                    <a:pt x="2040363" y="203318"/>
                    <a:pt x="2035497" y="208184"/>
                  </a:cubicBezTo>
                  <a:cubicBezTo>
                    <a:pt x="2030631" y="213050"/>
                    <a:pt x="2024031" y="215784"/>
                    <a:pt x="2017149" y="215784"/>
                  </a:cubicBezTo>
                  <a:lnTo>
                    <a:pt x="25948" y="215784"/>
                  </a:lnTo>
                  <a:cubicBezTo>
                    <a:pt x="11617" y="215784"/>
                    <a:pt x="0" y="204167"/>
                    <a:pt x="0" y="189836"/>
                  </a:cubicBezTo>
                  <a:lnTo>
                    <a:pt x="0" y="25948"/>
                  </a:lnTo>
                  <a:cubicBezTo>
                    <a:pt x="0" y="19066"/>
                    <a:pt x="2734" y="12466"/>
                    <a:pt x="7600" y="7600"/>
                  </a:cubicBezTo>
                  <a:cubicBezTo>
                    <a:pt x="12466" y="2734"/>
                    <a:pt x="19066" y="0"/>
                    <a:pt x="25948"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0" name="TextBox 30"/>
            <p:cNvSpPr/>
            <p:nvPr/>
          </p:nvSpPr>
          <p:spPr>
            <a:xfrm>
              <a:off x="9239400" y="7415640"/>
              <a:ext cx="7756920" cy="1036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271" name="TextBox 31"/>
          <p:cNvSpPr/>
          <p:nvPr/>
        </p:nvSpPr>
        <p:spPr>
          <a:xfrm>
            <a:off x="10113840" y="7806240"/>
            <a:ext cx="67744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 Sleep Category</a:t>
            </a:r>
            <a:endParaRPr lang="en-US" sz="2400" b="0" strike="noStrike" spc="-1">
              <a:solidFill>
                <a:srgbClr val="000000"/>
              </a:solidFill>
              <a:latin typeface="Arial"/>
            </a:endParaRPr>
          </a:p>
        </p:txBody>
      </p:sp>
      <p:sp>
        <p:nvSpPr>
          <p:cNvPr id="272" name="Freeform 32"/>
          <p:cNvSpPr/>
          <p:nvPr/>
        </p:nvSpPr>
        <p:spPr>
          <a:xfrm>
            <a:off x="9433440" y="7768800"/>
            <a:ext cx="511560" cy="546480"/>
          </a:xfrm>
          <a:custGeom>
            <a:avLst/>
            <a:gdLst>
              <a:gd name="textAreaLeft" fmla="*/ 0 w 511560"/>
              <a:gd name="textAreaRight" fmla="*/ 511920 w 511560"/>
              <a:gd name="textAreaTop" fmla="*/ 0 h 546480"/>
              <a:gd name="textAreaBottom" fmla="*/ 546840 h 546480"/>
            </a:gdLst>
            <a:ahLst/>
            <a:cxnLst/>
            <a:rect l="textAreaLeft" t="textAreaTop" r="textAreaRight" b="textAreaBottom"/>
            <a:pathLst>
              <a:path w="511989" h="546785">
                <a:moveTo>
                  <a:pt x="0" y="0"/>
                </a:moveTo>
                <a:lnTo>
                  <a:pt x="511989" y="0"/>
                </a:lnTo>
                <a:lnTo>
                  <a:pt x="511989" y="546785"/>
                </a:lnTo>
                <a:lnTo>
                  <a:pt x="0" y="546785"/>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3" name="Freeform 33"/>
          <p:cNvSpPr/>
          <p:nvPr/>
        </p:nvSpPr>
        <p:spPr>
          <a:xfrm>
            <a:off x="1482480" y="4673160"/>
            <a:ext cx="511560" cy="546480"/>
          </a:xfrm>
          <a:custGeom>
            <a:avLst/>
            <a:gdLst>
              <a:gd name="textAreaLeft" fmla="*/ 0 w 511560"/>
              <a:gd name="textAreaRight" fmla="*/ 511920 w 511560"/>
              <a:gd name="textAreaTop" fmla="*/ 0 h 546480"/>
              <a:gd name="textAreaBottom" fmla="*/ 546840 h 546480"/>
            </a:gdLst>
            <a:ahLst/>
            <a:cxnLst/>
            <a:rect l="textAreaLeft" t="textAreaTop" r="textAreaRight" b="textAreaBottom"/>
            <a:pathLst>
              <a:path w="511989" h="546785">
                <a:moveTo>
                  <a:pt x="0" y="0"/>
                </a:moveTo>
                <a:lnTo>
                  <a:pt x="511989" y="0"/>
                </a:lnTo>
                <a:lnTo>
                  <a:pt x="511989" y="546785"/>
                </a:lnTo>
                <a:lnTo>
                  <a:pt x="0" y="546785"/>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4" name="Freeform 34"/>
          <p:cNvSpPr/>
          <p:nvPr/>
        </p:nvSpPr>
        <p:spPr>
          <a:xfrm>
            <a:off x="1482480" y="6232320"/>
            <a:ext cx="511560" cy="546480"/>
          </a:xfrm>
          <a:custGeom>
            <a:avLst/>
            <a:gdLst>
              <a:gd name="textAreaLeft" fmla="*/ 0 w 511560"/>
              <a:gd name="textAreaRight" fmla="*/ 511920 w 511560"/>
              <a:gd name="textAreaTop" fmla="*/ 0 h 546480"/>
              <a:gd name="textAreaBottom" fmla="*/ 546840 h 546480"/>
            </a:gdLst>
            <a:ahLst/>
            <a:cxnLst/>
            <a:rect l="textAreaLeft" t="textAreaTop" r="textAreaRight" b="textAreaBottom"/>
            <a:pathLst>
              <a:path w="511989" h="546785">
                <a:moveTo>
                  <a:pt x="0" y="0"/>
                </a:moveTo>
                <a:lnTo>
                  <a:pt x="511989" y="0"/>
                </a:lnTo>
                <a:lnTo>
                  <a:pt x="511989" y="546784"/>
                </a:lnTo>
                <a:lnTo>
                  <a:pt x="0" y="546784"/>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5" name="Freeform 35"/>
          <p:cNvSpPr/>
          <p:nvPr/>
        </p:nvSpPr>
        <p:spPr>
          <a:xfrm>
            <a:off x="1482480" y="7786080"/>
            <a:ext cx="511560" cy="546480"/>
          </a:xfrm>
          <a:custGeom>
            <a:avLst/>
            <a:gdLst>
              <a:gd name="textAreaLeft" fmla="*/ 0 w 511560"/>
              <a:gd name="textAreaRight" fmla="*/ 511920 w 511560"/>
              <a:gd name="textAreaTop" fmla="*/ 0 h 546480"/>
              <a:gd name="textAreaBottom" fmla="*/ 546840 h 546480"/>
            </a:gdLst>
            <a:ahLst/>
            <a:cxnLst/>
            <a:rect l="textAreaLeft" t="textAreaTop" r="textAreaRight" b="textAreaBottom"/>
            <a:pathLst>
              <a:path w="511989" h="546785">
                <a:moveTo>
                  <a:pt x="0" y="0"/>
                </a:moveTo>
                <a:lnTo>
                  <a:pt x="511989" y="0"/>
                </a:lnTo>
                <a:lnTo>
                  <a:pt x="511989" y="546785"/>
                </a:lnTo>
                <a:lnTo>
                  <a:pt x="0" y="546785"/>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6" name="TextBox 36"/>
          <p:cNvSpPr/>
          <p:nvPr/>
        </p:nvSpPr>
        <p:spPr>
          <a:xfrm>
            <a:off x="1291320" y="2854800"/>
            <a:ext cx="15705000" cy="92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640"/>
              </a:lnSpc>
            </a:pPr>
            <a:r>
              <a:rPr lang="en-US" sz="2600" b="0" strike="noStrike" spc="-1">
                <a:solidFill>
                  <a:srgbClr val="000000"/>
                </a:solidFill>
                <a:latin typeface="Glacial Indifference"/>
                <a:ea typeface="Glacial Indifference"/>
              </a:rPr>
              <a:t>New derived columns were created to improve the analysis </a:t>
            </a:r>
            <a:endParaRPr lang="en-US" sz="2600" b="0" strike="noStrike" spc="-1">
              <a:solidFill>
                <a:srgbClr val="000000"/>
              </a:solidFill>
              <a:latin typeface="Arial"/>
            </a:endParaRPr>
          </a:p>
          <a:p>
            <a:pPr algn="ctr" defTabSz="914400">
              <a:lnSpc>
                <a:spcPts val="3640"/>
              </a:lnSpc>
            </a:pPr>
            <a:r>
              <a:rPr lang="en-US" sz="2600" b="0" strike="noStrike" spc="-1">
                <a:solidFill>
                  <a:srgbClr val="000000"/>
                </a:solidFill>
                <a:latin typeface="Glacial Indifference"/>
                <a:ea typeface="Glacial Indifference"/>
              </a:rPr>
              <a:t>and provide better insights into student performance and behavior</a:t>
            </a:r>
            <a:endParaRPr lang="en-US" sz="2600" b="0" strike="noStrike" spc="-1">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77" name="Group 2"/>
          <p:cNvGrpSpPr/>
          <p:nvPr/>
        </p:nvGrpSpPr>
        <p:grpSpPr>
          <a:xfrm>
            <a:off x="1028880" y="884160"/>
            <a:ext cx="16230240" cy="1360440"/>
            <a:chOff x="1028880" y="884160"/>
            <a:chExt cx="16230240" cy="1360440"/>
          </a:xfrm>
        </p:grpSpPr>
        <p:sp>
          <p:nvSpPr>
            <p:cNvPr id="278"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9"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280" name="Group 5"/>
          <p:cNvGrpSpPr/>
          <p:nvPr/>
        </p:nvGrpSpPr>
        <p:grpSpPr>
          <a:xfrm>
            <a:off x="1028880" y="2846520"/>
            <a:ext cx="7921080" cy="2422440"/>
            <a:chOff x="1028880" y="2846520"/>
            <a:chExt cx="7921080" cy="2422440"/>
          </a:xfrm>
        </p:grpSpPr>
        <p:sp>
          <p:nvSpPr>
            <p:cNvPr id="281" name="Freeform 6"/>
            <p:cNvSpPr/>
            <p:nvPr/>
          </p:nvSpPr>
          <p:spPr>
            <a:xfrm>
              <a:off x="1028880" y="3063600"/>
              <a:ext cx="7921080" cy="2205360"/>
            </a:xfrm>
            <a:custGeom>
              <a:avLst/>
              <a:gdLst>
                <a:gd name="textAreaLeft" fmla="*/ 0 w 7921080"/>
                <a:gd name="textAreaRight" fmla="*/ 7921440 w 7921080"/>
                <a:gd name="textAreaTop" fmla="*/ 0 h 2205360"/>
                <a:gd name="textAreaBottom" fmla="*/ 2205720 h 2205360"/>
              </a:gdLst>
              <a:ahLst/>
              <a:cxnLst/>
              <a:rect l="textAreaLeft" t="textAreaTop" r="textAreaRight" b="textAreaBottom"/>
              <a:pathLst>
                <a:path w="2086286" h="580897">
                  <a:moveTo>
                    <a:pt x="29320" y="0"/>
                  </a:moveTo>
                  <a:lnTo>
                    <a:pt x="2056966" y="0"/>
                  </a:lnTo>
                  <a:cubicBezTo>
                    <a:pt x="2064742" y="0"/>
                    <a:pt x="2072200" y="3089"/>
                    <a:pt x="2077698" y="8588"/>
                  </a:cubicBezTo>
                  <a:cubicBezTo>
                    <a:pt x="2083197" y="14086"/>
                    <a:pt x="2086286" y="21544"/>
                    <a:pt x="2086286" y="29320"/>
                  </a:cubicBezTo>
                  <a:lnTo>
                    <a:pt x="2086286" y="551576"/>
                  </a:lnTo>
                  <a:cubicBezTo>
                    <a:pt x="2086286" y="567769"/>
                    <a:pt x="2073159" y="580897"/>
                    <a:pt x="2056966" y="580897"/>
                  </a:cubicBezTo>
                  <a:lnTo>
                    <a:pt x="29320" y="580897"/>
                  </a:lnTo>
                  <a:cubicBezTo>
                    <a:pt x="21544" y="580897"/>
                    <a:pt x="14086" y="577807"/>
                    <a:pt x="8588" y="572309"/>
                  </a:cubicBezTo>
                  <a:cubicBezTo>
                    <a:pt x="3089" y="566810"/>
                    <a:pt x="0" y="559352"/>
                    <a:pt x="0" y="551576"/>
                  </a:cubicBezTo>
                  <a:lnTo>
                    <a:pt x="0" y="29320"/>
                  </a:lnTo>
                  <a:cubicBezTo>
                    <a:pt x="0" y="13127"/>
                    <a:pt x="13127" y="0"/>
                    <a:pt x="29320"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2" name="TextBox 7"/>
            <p:cNvSpPr/>
            <p:nvPr/>
          </p:nvSpPr>
          <p:spPr>
            <a:xfrm>
              <a:off x="1028880" y="2846520"/>
              <a:ext cx="7921080" cy="2422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283" name="Group 8"/>
          <p:cNvGrpSpPr/>
          <p:nvPr/>
        </p:nvGrpSpPr>
        <p:grpSpPr>
          <a:xfrm>
            <a:off x="1028880" y="2846520"/>
            <a:ext cx="7921080" cy="1133640"/>
            <a:chOff x="1028880" y="2846520"/>
            <a:chExt cx="7921080" cy="1133640"/>
          </a:xfrm>
        </p:grpSpPr>
        <p:sp>
          <p:nvSpPr>
            <p:cNvPr id="284" name="Freeform 9"/>
            <p:cNvSpPr/>
            <p:nvPr/>
          </p:nvSpPr>
          <p:spPr>
            <a:xfrm>
              <a:off x="1028880" y="3063600"/>
              <a:ext cx="7921080" cy="916560"/>
            </a:xfrm>
            <a:custGeom>
              <a:avLst/>
              <a:gdLst>
                <a:gd name="textAreaLeft" fmla="*/ 0 w 7921080"/>
                <a:gd name="textAreaRight" fmla="*/ 7921440 w 7921080"/>
                <a:gd name="textAreaTop" fmla="*/ 0 h 916560"/>
                <a:gd name="textAreaBottom" fmla="*/ 916920 h 916560"/>
              </a:gdLst>
              <a:ahLst/>
              <a:cxnLst/>
              <a:rect l="textAreaLeft" t="textAreaTop" r="textAreaRight" b="textAreaBottom"/>
              <a:pathLst>
                <a:path w="2086286" h="241526">
                  <a:moveTo>
                    <a:pt x="29320" y="0"/>
                  </a:moveTo>
                  <a:lnTo>
                    <a:pt x="2056966" y="0"/>
                  </a:lnTo>
                  <a:cubicBezTo>
                    <a:pt x="2064742" y="0"/>
                    <a:pt x="2072200" y="3089"/>
                    <a:pt x="2077698" y="8588"/>
                  </a:cubicBezTo>
                  <a:cubicBezTo>
                    <a:pt x="2083197" y="14086"/>
                    <a:pt x="2086286" y="21544"/>
                    <a:pt x="2086286" y="29320"/>
                  </a:cubicBezTo>
                  <a:lnTo>
                    <a:pt x="2086286" y="212205"/>
                  </a:lnTo>
                  <a:cubicBezTo>
                    <a:pt x="2086286" y="219981"/>
                    <a:pt x="2083197" y="227439"/>
                    <a:pt x="2077698" y="232938"/>
                  </a:cubicBezTo>
                  <a:cubicBezTo>
                    <a:pt x="2072200" y="238437"/>
                    <a:pt x="2064742" y="241526"/>
                    <a:pt x="2056966" y="241526"/>
                  </a:cubicBezTo>
                  <a:lnTo>
                    <a:pt x="29320" y="241526"/>
                  </a:lnTo>
                  <a:cubicBezTo>
                    <a:pt x="13127" y="241526"/>
                    <a:pt x="0" y="228398"/>
                    <a:pt x="0" y="212205"/>
                  </a:cubicBezTo>
                  <a:lnTo>
                    <a:pt x="0" y="29320"/>
                  </a:lnTo>
                  <a:cubicBezTo>
                    <a:pt x="0" y="13127"/>
                    <a:pt x="13127" y="0"/>
                    <a:pt x="29320"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5" name="TextBox 10"/>
            <p:cNvSpPr/>
            <p:nvPr/>
          </p:nvSpPr>
          <p:spPr>
            <a:xfrm>
              <a:off x="1028880" y="2846520"/>
              <a:ext cx="7921080" cy="1133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286" name="Group 11"/>
          <p:cNvGrpSpPr/>
          <p:nvPr/>
        </p:nvGrpSpPr>
        <p:grpSpPr>
          <a:xfrm>
            <a:off x="1265760" y="3183120"/>
            <a:ext cx="677520" cy="677520"/>
            <a:chOff x="1265760" y="3183120"/>
            <a:chExt cx="677520" cy="677520"/>
          </a:xfrm>
        </p:grpSpPr>
        <p:sp>
          <p:nvSpPr>
            <p:cNvPr id="287" name="Freeform 12"/>
            <p:cNvSpPr/>
            <p:nvPr/>
          </p:nvSpPr>
          <p:spPr>
            <a:xfrm>
              <a:off x="1265760" y="3183120"/>
              <a:ext cx="677520" cy="677520"/>
            </a:xfrm>
            <a:custGeom>
              <a:avLst/>
              <a:gdLst>
                <a:gd name="textAreaLeft" fmla="*/ 0 w 677520"/>
                <a:gd name="textAreaRight" fmla="*/ 677880 w 677520"/>
                <a:gd name="textAreaTop" fmla="*/ 0 h 677520"/>
                <a:gd name="textAreaBottom" fmla="*/ 677880 h 67752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0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8" name="TextBox 13"/>
            <p:cNvSpPr/>
            <p:nvPr/>
          </p:nvSpPr>
          <p:spPr>
            <a:xfrm>
              <a:off x="1329120" y="3198960"/>
              <a:ext cx="550440" cy="5979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289" name="Group 14"/>
          <p:cNvGrpSpPr/>
          <p:nvPr/>
        </p:nvGrpSpPr>
        <p:grpSpPr>
          <a:xfrm>
            <a:off x="1028880" y="5728320"/>
            <a:ext cx="7921080" cy="2422440"/>
            <a:chOff x="1028880" y="5728320"/>
            <a:chExt cx="7921080" cy="2422440"/>
          </a:xfrm>
        </p:grpSpPr>
        <p:sp>
          <p:nvSpPr>
            <p:cNvPr id="290" name="Freeform 15"/>
            <p:cNvSpPr/>
            <p:nvPr/>
          </p:nvSpPr>
          <p:spPr>
            <a:xfrm>
              <a:off x="1028880" y="5945400"/>
              <a:ext cx="7921080" cy="2205360"/>
            </a:xfrm>
            <a:custGeom>
              <a:avLst/>
              <a:gdLst>
                <a:gd name="textAreaLeft" fmla="*/ 0 w 7921080"/>
                <a:gd name="textAreaRight" fmla="*/ 7921440 w 7921080"/>
                <a:gd name="textAreaTop" fmla="*/ 0 h 2205360"/>
                <a:gd name="textAreaBottom" fmla="*/ 2205720 h 2205360"/>
              </a:gdLst>
              <a:ahLst/>
              <a:cxnLst/>
              <a:rect l="textAreaLeft" t="textAreaTop" r="textAreaRight" b="textAreaBottom"/>
              <a:pathLst>
                <a:path w="2086286" h="580897">
                  <a:moveTo>
                    <a:pt x="29320" y="0"/>
                  </a:moveTo>
                  <a:lnTo>
                    <a:pt x="2056966" y="0"/>
                  </a:lnTo>
                  <a:cubicBezTo>
                    <a:pt x="2064742" y="0"/>
                    <a:pt x="2072200" y="3089"/>
                    <a:pt x="2077698" y="8588"/>
                  </a:cubicBezTo>
                  <a:cubicBezTo>
                    <a:pt x="2083197" y="14086"/>
                    <a:pt x="2086286" y="21544"/>
                    <a:pt x="2086286" y="29320"/>
                  </a:cubicBezTo>
                  <a:lnTo>
                    <a:pt x="2086286" y="551576"/>
                  </a:lnTo>
                  <a:cubicBezTo>
                    <a:pt x="2086286" y="567769"/>
                    <a:pt x="2073159" y="580897"/>
                    <a:pt x="2056966" y="580897"/>
                  </a:cubicBezTo>
                  <a:lnTo>
                    <a:pt x="29320" y="580897"/>
                  </a:lnTo>
                  <a:cubicBezTo>
                    <a:pt x="21544" y="580897"/>
                    <a:pt x="14086" y="577807"/>
                    <a:pt x="8588" y="572309"/>
                  </a:cubicBezTo>
                  <a:cubicBezTo>
                    <a:pt x="3089" y="566810"/>
                    <a:pt x="0" y="559352"/>
                    <a:pt x="0" y="551576"/>
                  </a:cubicBezTo>
                  <a:lnTo>
                    <a:pt x="0" y="29320"/>
                  </a:lnTo>
                  <a:cubicBezTo>
                    <a:pt x="0" y="13127"/>
                    <a:pt x="13127" y="0"/>
                    <a:pt x="29320"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91" name="TextBox 16"/>
            <p:cNvSpPr/>
            <p:nvPr/>
          </p:nvSpPr>
          <p:spPr>
            <a:xfrm>
              <a:off x="1028880" y="5728320"/>
              <a:ext cx="7921080" cy="2422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292" name="Group 17"/>
          <p:cNvGrpSpPr/>
          <p:nvPr/>
        </p:nvGrpSpPr>
        <p:grpSpPr>
          <a:xfrm>
            <a:off x="1028880" y="5728320"/>
            <a:ext cx="7921080" cy="1133640"/>
            <a:chOff x="1028880" y="5728320"/>
            <a:chExt cx="7921080" cy="1133640"/>
          </a:xfrm>
        </p:grpSpPr>
        <p:sp>
          <p:nvSpPr>
            <p:cNvPr id="293" name="Freeform 18"/>
            <p:cNvSpPr/>
            <p:nvPr/>
          </p:nvSpPr>
          <p:spPr>
            <a:xfrm>
              <a:off x="1028880" y="5945400"/>
              <a:ext cx="7921080" cy="916560"/>
            </a:xfrm>
            <a:custGeom>
              <a:avLst/>
              <a:gdLst>
                <a:gd name="textAreaLeft" fmla="*/ 0 w 7921080"/>
                <a:gd name="textAreaRight" fmla="*/ 7921440 w 7921080"/>
                <a:gd name="textAreaTop" fmla="*/ 0 h 916560"/>
                <a:gd name="textAreaBottom" fmla="*/ 916920 h 916560"/>
              </a:gdLst>
              <a:ahLst/>
              <a:cxnLst/>
              <a:rect l="textAreaLeft" t="textAreaTop" r="textAreaRight" b="textAreaBottom"/>
              <a:pathLst>
                <a:path w="2086286" h="241526">
                  <a:moveTo>
                    <a:pt x="29320" y="0"/>
                  </a:moveTo>
                  <a:lnTo>
                    <a:pt x="2056966" y="0"/>
                  </a:lnTo>
                  <a:cubicBezTo>
                    <a:pt x="2064742" y="0"/>
                    <a:pt x="2072200" y="3089"/>
                    <a:pt x="2077698" y="8588"/>
                  </a:cubicBezTo>
                  <a:cubicBezTo>
                    <a:pt x="2083197" y="14086"/>
                    <a:pt x="2086286" y="21544"/>
                    <a:pt x="2086286" y="29320"/>
                  </a:cubicBezTo>
                  <a:lnTo>
                    <a:pt x="2086286" y="212205"/>
                  </a:lnTo>
                  <a:cubicBezTo>
                    <a:pt x="2086286" y="219981"/>
                    <a:pt x="2083197" y="227439"/>
                    <a:pt x="2077698" y="232938"/>
                  </a:cubicBezTo>
                  <a:cubicBezTo>
                    <a:pt x="2072200" y="238437"/>
                    <a:pt x="2064742" y="241526"/>
                    <a:pt x="2056966" y="241526"/>
                  </a:cubicBezTo>
                  <a:lnTo>
                    <a:pt x="29320" y="241526"/>
                  </a:lnTo>
                  <a:cubicBezTo>
                    <a:pt x="13127" y="241526"/>
                    <a:pt x="0" y="228398"/>
                    <a:pt x="0" y="212205"/>
                  </a:cubicBezTo>
                  <a:lnTo>
                    <a:pt x="0" y="29320"/>
                  </a:lnTo>
                  <a:cubicBezTo>
                    <a:pt x="0" y="13127"/>
                    <a:pt x="13127" y="0"/>
                    <a:pt x="29320"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94" name="TextBox 19"/>
            <p:cNvSpPr/>
            <p:nvPr/>
          </p:nvSpPr>
          <p:spPr>
            <a:xfrm>
              <a:off x="1028880" y="5728320"/>
              <a:ext cx="7921080" cy="1133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295" name="Group 20"/>
          <p:cNvGrpSpPr/>
          <p:nvPr/>
        </p:nvGrpSpPr>
        <p:grpSpPr>
          <a:xfrm>
            <a:off x="1265760" y="6064920"/>
            <a:ext cx="677520" cy="677520"/>
            <a:chOff x="1265760" y="6064920"/>
            <a:chExt cx="677520" cy="677520"/>
          </a:xfrm>
        </p:grpSpPr>
        <p:sp>
          <p:nvSpPr>
            <p:cNvPr id="296" name="Freeform 21"/>
            <p:cNvSpPr/>
            <p:nvPr/>
          </p:nvSpPr>
          <p:spPr>
            <a:xfrm>
              <a:off x="1265760" y="6064920"/>
              <a:ext cx="677520" cy="677520"/>
            </a:xfrm>
            <a:custGeom>
              <a:avLst/>
              <a:gdLst>
                <a:gd name="textAreaLeft" fmla="*/ 0 w 677520"/>
                <a:gd name="textAreaRight" fmla="*/ 677880 w 677520"/>
                <a:gd name="textAreaTop" fmla="*/ 0 h 677520"/>
                <a:gd name="textAreaBottom" fmla="*/ 677880 h 67752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0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97" name="TextBox 22"/>
            <p:cNvSpPr/>
            <p:nvPr/>
          </p:nvSpPr>
          <p:spPr>
            <a:xfrm>
              <a:off x="1329120" y="6081120"/>
              <a:ext cx="550440" cy="5979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298" name="Group 23"/>
          <p:cNvGrpSpPr/>
          <p:nvPr/>
        </p:nvGrpSpPr>
        <p:grpSpPr>
          <a:xfrm>
            <a:off x="9378720" y="2846520"/>
            <a:ext cx="7921080" cy="2422440"/>
            <a:chOff x="9378720" y="2846520"/>
            <a:chExt cx="7921080" cy="2422440"/>
          </a:xfrm>
        </p:grpSpPr>
        <p:sp>
          <p:nvSpPr>
            <p:cNvPr id="299" name="Freeform 24"/>
            <p:cNvSpPr/>
            <p:nvPr/>
          </p:nvSpPr>
          <p:spPr>
            <a:xfrm>
              <a:off x="9378720" y="3063600"/>
              <a:ext cx="7921080" cy="2205360"/>
            </a:xfrm>
            <a:custGeom>
              <a:avLst/>
              <a:gdLst>
                <a:gd name="textAreaLeft" fmla="*/ 0 w 7921080"/>
                <a:gd name="textAreaRight" fmla="*/ 7921440 w 7921080"/>
                <a:gd name="textAreaTop" fmla="*/ 0 h 2205360"/>
                <a:gd name="textAreaBottom" fmla="*/ 2205720 h 2205360"/>
              </a:gdLst>
              <a:ahLst/>
              <a:cxnLst/>
              <a:rect l="textAreaLeft" t="textAreaTop" r="textAreaRight" b="textAreaBottom"/>
              <a:pathLst>
                <a:path w="2086286" h="580897">
                  <a:moveTo>
                    <a:pt x="29320" y="0"/>
                  </a:moveTo>
                  <a:lnTo>
                    <a:pt x="2056966" y="0"/>
                  </a:lnTo>
                  <a:cubicBezTo>
                    <a:pt x="2064742" y="0"/>
                    <a:pt x="2072200" y="3089"/>
                    <a:pt x="2077698" y="8588"/>
                  </a:cubicBezTo>
                  <a:cubicBezTo>
                    <a:pt x="2083197" y="14086"/>
                    <a:pt x="2086286" y="21544"/>
                    <a:pt x="2086286" y="29320"/>
                  </a:cubicBezTo>
                  <a:lnTo>
                    <a:pt x="2086286" y="551576"/>
                  </a:lnTo>
                  <a:cubicBezTo>
                    <a:pt x="2086286" y="567769"/>
                    <a:pt x="2073159" y="580897"/>
                    <a:pt x="2056966" y="580897"/>
                  </a:cubicBezTo>
                  <a:lnTo>
                    <a:pt x="29320" y="580897"/>
                  </a:lnTo>
                  <a:cubicBezTo>
                    <a:pt x="21544" y="580897"/>
                    <a:pt x="14086" y="577807"/>
                    <a:pt x="8588" y="572309"/>
                  </a:cubicBezTo>
                  <a:cubicBezTo>
                    <a:pt x="3089" y="566810"/>
                    <a:pt x="0" y="559352"/>
                    <a:pt x="0" y="551576"/>
                  </a:cubicBezTo>
                  <a:lnTo>
                    <a:pt x="0" y="29320"/>
                  </a:lnTo>
                  <a:cubicBezTo>
                    <a:pt x="0" y="13127"/>
                    <a:pt x="13127" y="0"/>
                    <a:pt x="29320"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0" name="TextBox 25"/>
            <p:cNvSpPr/>
            <p:nvPr/>
          </p:nvSpPr>
          <p:spPr>
            <a:xfrm>
              <a:off x="9378720" y="2846520"/>
              <a:ext cx="7921080" cy="2422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01" name="Group 26"/>
          <p:cNvGrpSpPr/>
          <p:nvPr/>
        </p:nvGrpSpPr>
        <p:grpSpPr>
          <a:xfrm>
            <a:off x="9378720" y="2846520"/>
            <a:ext cx="7921080" cy="1133640"/>
            <a:chOff x="9378720" y="2846520"/>
            <a:chExt cx="7921080" cy="1133640"/>
          </a:xfrm>
        </p:grpSpPr>
        <p:sp>
          <p:nvSpPr>
            <p:cNvPr id="302" name="Freeform 27"/>
            <p:cNvSpPr/>
            <p:nvPr/>
          </p:nvSpPr>
          <p:spPr>
            <a:xfrm>
              <a:off x="9378720" y="3063600"/>
              <a:ext cx="7921080" cy="916560"/>
            </a:xfrm>
            <a:custGeom>
              <a:avLst/>
              <a:gdLst>
                <a:gd name="textAreaLeft" fmla="*/ 0 w 7921080"/>
                <a:gd name="textAreaRight" fmla="*/ 7921440 w 7921080"/>
                <a:gd name="textAreaTop" fmla="*/ 0 h 916560"/>
                <a:gd name="textAreaBottom" fmla="*/ 916920 h 916560"/>
              </a:gdLst>
              <a:ahLst/>
              <a:cxnLst/>
              <a:rect l="textAreaLeft" t="textAreaTop" r="textAreaRight" b="textAreaBottom"/>
              <a:pathLst>
                <a:path w="2086286" h="241526">
                  <a:moveTo>
                    <a:pt x="29320" y="0"/>
                  </a:moveTo>
                  <a:lnTo>
                    <a:pt x="2056966" y="0"/>
                  </a:lnTo>
                  <a:cubicBezTo>
                    <a:pt x="2064742" y="0"/>
                    <a:pt x="2072200" y="3089"/>
                    <a:pt x="2077698" y="8588"/>
                  </a:cubicBezTo>
                  <a:cubicBezTo>
                    <a:pt x="2083197" y="14086"/>
                    <a:pt x="2086286" y="21544"/>
                    <a:pt x="2086286" y="29320"/>
                  </a:cubicBezTo>
                  <a:lnTo>
                    <a:pt x="2086286" y="212205"/>
                  </a:lnTo>
                  <a:cubicBezTo>
                    <a:pt x="2086286" y="219981"/>
                    <a:pt x="2083197" y="227439"/>
                    <a:pt x="2077698" y="232938"/>
                  </a:cubicBezTo>
                  <a:cubicBezTo>
                    <a:pt x="2072200" y="238437"/>
                    <a:pt x="2064742" y="241526"/>
                    <a:pt x="2056966" y="241526"/>
                  </a:cubicBezTo>
                  <a:lnTo>
                    <a:pt x="29320" y="241526"/>
                  </a:lnTo>
                  <a:cubicBezTo>
                    <a:pt x="13127" y="241526"/>
                    <a:pt x="0" y="228398"/>
                    <a:pt x="0" y="212205"/>
                  </a:cubicBezTo>
                  <a:lnTo>
                    <a:pt x="0" y="29320"/>
                  </a:lnTo>
                  <a:cubicBezTo>
                    <a:pt x="0" y="13127"/>
                    <a:pt x="13127" y="0"/>
                    <a:pt x="29320"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3" name="TextBox 28"/>
            <p:cNvSpPr/>
            <p:nvPr/>
          </p:nvSpPr>
          <p:spPr>
            <a:xfrm>
              <a:off x="9378720" y="2846520"/>
              <a:ext cx="7921080" cy="1133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04" name="Group 29"/>
          <p:cNvGrpSpPr/>
          <p:nvPr/>
        </p:nvGrpSpPr>
        <p:grpSpPr>
          <a:xfrm>
            <a:off x="9615600" y="3183120"/>
            <a:ext cx="677520" cy="677520"/>
            <a:chOff x="9615600" y="3183120"/>
            <a:chExt cx="677520" cy="677520"/>
          </a:xfrm>
        </p:grpSpPr>
        <p:sp>
          <p:nvSpPr>
            <p:cNvPr id="305" name="Freeform 30"/>
            <p:cNvSpPr/>
            <p:nvPr/>
          </p:nvSpPr>
          <p:spPr>
            <a:xfrm>
              <a:off x="9615600" y="3183120"/>
              <a:ext cx="677520" cy="677520"/>
            </a:xfrm>
            <a:custGeom>
              <a:avLst/>
              <a:gdLst>
                <a:gd name="textAreaLeft" fmla="*/ 0 w 677520"/>
                <a:gd name="textAreaRight" fmla="*/ 677880 w 677520"/>
                <a:gd name="textAreaTop" fmla="*/ 0 h 677520"/>
                <a:gd name="textAreaBottom" fmla="*/ 677880 h 67752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0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6" name="TextBox 31"/>
            <p:cNvSpPr/>
            <p:nvPr/>
          </p:nvSpPr>
          <p:spPr>
            <a:xfrm>
              <a:off x="9678960" y="3198960"/>
              <a:ext cx="550440" cy="5979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07" name="Group 32"/>
          <p:cNvGrpSpPr/>
          <p:nvPr/>
        </p:nvGrpSpPr>
        <p:grpSpPr>
          <a:xfrm>
            <a:off x="9378720" y="5728320"/>
            <a:ext cx="7921080" cy="2422440"/>
            <a:chOff x="9378720" y="5728320"/>
            <a:chExt cx="7921080" cy="2422440"/>
          </a:xfrm>
        </p:grpSpPr>
        <p:sp>
          <p:nvSpPr>
            <p:cNvPr id="308" name="Freeform 33"/>
            <p:cNvSpPr/>
            <p:nvPr/>
          </p:nvSpPr>
          <p:spPr>
            <a:xfrm>
              <a:off x="9378720" y="5945400"/>
              <a:ext cx="7921080" cy="2205360"/>
            </a:xfrm>
            <a:custGeom>
              <a:avLst/>
              <a:gdLst>
                <a:gd name="textAreaLeft" fmla="*/ 0 w 7921080"/>
                <a:gd name="textAreaRight" fmla="*/ 7921440 w 7921080"/>
                <a:gd name="textAreaTop" fmla="*/ 0 h 2205360"/>
                <a:gd name="textAreaBottom" fmla="*/ 2205720 h 2205360"/>
              </a:gdLst>
              <a:ahLst/>
              <a:cxnLst/>
              <a:rect l="textAreaLeft" t="textAreaTop" r="textAreaRight" b="textAreaBottom"/>
              <a:pathLst>
                <a:path w="2086286" h="580897">
                  <a:moveTo>
                    <a:pt x="29320" y="0"/>
                  </a:moveTo>
                  <a:lnTo>
                    <a:pt x="2056966" y="0"/>
                  </a:lnTo>
                  <a:cubicBezTo>
                    <a:pt x="2064742" y="0"/>
                    <a:pt x="2072200" y="3089"/>
                    <a:pt x="2077698" y="8588"/>
                  </a:cubicBezTo>
                  <a:cubicBezTo>
                    <a:pt x="2083197" y="14086"/>
                    <a:pt x="2086286" y="21544"/>
                    <a:pt x="2086286" y="29320"/>
                  </a:cubicBezTo>
                  <a:lnTo>
                    <a:pt x="2086286" y="551576"/>
                  </a:lnTo>
                  <a:cubicBezTo>
                    <a:pt x="2086286" y="567769"/>
                    <a:pt x="2073159" y="580897"/>
                    <a:pt x="2056966" y="580897"/>
                  </a:cubicBezTo>
                  <a:lnTo>
                    <a:pt x="29320" y="580897"/>
                  </a:lnTo>
                  <a:cubicBezTo>
                    <a:pt x="21544" y="580897"/>
                    <a:pt x="14086" y="577807"/>
                    <a:pt x="8588" y="572309"/>
                  </a:cubicBezTo>
                  <a:cubicBezTo>
                    <a:pt x="3089" y="566810"/>
                    <a:pt x="0" y="559352"/>
                    <a:pt x="0" y="551576"/>
                  </a:cubicBezTo>
                  <a:lnTo>
                    <a:pt x="0" y="29320"/>
                  </a:lnTo>
                  <a:cubicBezTo>
                    <a:pt x="0" y="13127"/>
                    <a:pt x="13127" y="0"/>
                    <a:pt x="29320"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9" name="TextBox 34"/>
            <p:cNvSpPr/>
            <p:nvPr/>
          </p:nvSpPr>
          <p:spPr>
            <a:xfrm>
              <a:off x="9378720" y="5728320"/>
              <a:ext cx="7921080" cy="2422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10" name="Group 35"/>
          <p:cNvGrpSpPr/>
          <p:nvPr/>
        </p:nvGrpSpPr>
        <p:grpSpPr>
          <a:xfrm>
            <a:off x="9378720" y="5728320"/>
            <a:ext cx="7921080" cy="1133640"/>
            <a:chOff x="9378720" y="5728320"/>
            <a:chExt cx="7921080" cy="1133640"/>
          </a:xfrm>
        </p:grpSpPr>
        <p:sp>
          <p:nvSpPr>
            <p:cNvPr id="311" name="Freeform 36"/>
            <p:cNvSpPr/>
            <p:nvPr/>
          </p:nvSpPr>
          <p:spPr>
            <a:xfrm>
              <a:off x="9378720" y="5945400"/>
              <a:ext cx="7921080" cy="916560"/>
            </a:xfrm>
            <a:custGeom>
              <a:avLst/>
              <a:gdLst>
                <a:gd name="textAreaLeft" fmla="*/ 0 w 7921080"/>
                <a:gd name="textAreaRight" fmla="*/ 7921440 w 7921080"/>
                <a:gd name="textAreaTop" fmla="*/ 0 h 916560"/>
                <a:gd name="textAreaBottom" fmla="*/ 916920 h 916560"/>
              </a:gdLst>
              <a:ahLst/>
              <a:cxnLst/>
              <a:rect l="textAreaLeft" t="textAreaTop" r="textAreaRight" b="textAreaBottom"/>
              <a:pathLst>
                <a:path w="2086286" h="241526">
                  <a:moveTo>
                    <a:pt x="29320" y="0"/>
                  </a:moveTo>
                  <a:lnTo>
                    <a:pt x="2056966" y="0"/>
                  </a:lnTo>
                  <a:cubicBezTo>
                    <a:pt x="2064742" y="0"/>
                    <a:pt x="2072200" y="3089"/>
                    <a:pt x="2077698" y="8588"/>
                  </a:cubicBezTo>
                  <a:cubicBezTo>
                    <a:pt x="2083197" y="14086"/>
                    <a:pt x="2086286" y="21544"/>
                    <a:pt x="2086286" y="29320"/>
                  </a:cubicBezTo>
                  <a:lnTo>
                    <a:pt x="2086286" y="212205"/>
                  </a:lnTo>
                  <a:cubicBezTo>
                    <a:pt x="2086286" y="219981"/>
                    <a:pt x="2083197" y="227439"/>
                    <a:pt x="2077698" y="232938"/>
                  </a:cubicBezTo>
                  <a:cubicBezTo>
                    <a:pt x="2072200" y="238437"/>
                    <a:pt x="2064742" y="241526"/>
                    <a:pt x="2056966" y="241526"/>
                  </a:cubicBezTo>
                  <a:lnTo>
                    <a:pt x="29320" y="241526"/>
                  </a:lnTo>
                  <a:cubicBezTo>
                    <a:pt x="13127" y="241526"/>
                    <a:pt x="0" y="228398"/>
                    <a:pt x="0" y="212205"/>
                  </a:cubicBezTo>
                  <a:lnTo>
                    <a:pt x="0" y="29320"/>
                  </a:lnTo>
                  <a:cubicBezTo>
                    <a:pt x="0" y="13127"/>
                    <a:pt x="13127" y="0"/>
                    <a:pt x="29320"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2" name="TextBox 37"/>
            <p:cNvSpPr/>
            <p:nvPr/>
          </p:nvSpPr>
          <p:spPr>
            <a:xfrm>
              <a:off x="9378720" y="5728320"/>
              <a:ext cx="7921080" cy="1133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13" name="Group 38"/>
          <p:cNvGrpSpPr/>
          <p:nvPr/>
        </p:nvGrpSpPr>
        <p:grpSpPr>
          <a:xfrm>
            <a:off x="9615600" y="6064920"/>
            <a:ext cx="677520" cy="677520"/>
            <a:chOff x="9615600" y="6064920"/>
            <a:chExt cx="677520" cy="677520"/>
          </a:xfrm>
        </p:grpSpPr>
        <p:sp>
          <p:nvSpPr>
            <p:cNvPr id="314" name="Freeform 39"/>
            <p:cNvSpPr/>
            <p:nvPr/>
          </p:nvSpPr>
          <p:spPr>
            <a:xfrm>
              <a:off x="9615600" y="6064920"/>
              <a:ext cx="677520" cy="677520"/>
            </a:xfrm>
            <a:custGeom>
              <a:avLst/>
              <a:gdLst>
                <a:gd name="textAreaLeft" fmla="*/ 0 w 677520"/>
                <a:gd name="textAreaRight" fmla="*/ 677880 w 677520"/>
                <a:gd name="textAreaTop" fmla="*/ 0 h 677520"/>
                <a:gd name="textAreaBottom" fmla="*/ 677880 h 67752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0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5" name="TextBox 40"/>
            <p:cNvSpPr/>
            <p:nvPr/>
          </p:nvSpPr>
          <p:spPr>
            <a:xfrm>
              <a:off x="9678960" y="6081120"/>
              <a:ext cx="550440" cy="5979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316" name="Freeform 41"/>
          <p:cNvSpPr/>
          <p:nvPr/>
        </p:nvSpPr>
        <p:spPr>
          <a:xfrm>
            <a:off x="1028880" y="8455680"/>
            <a:ext cx="1193040" cy="796680"/>
          </a:xfrm>
          <a:custGeom>
            <a:avLst/>
            <a:gdLst>
              <a:gd name="textAreaLeft" fmla="*/ 0 w 1193040"/>
              <a:gd name="textAreaRight" fmla="*/ 1193400 w 1193040"/>
              <a:gd name="textAreaTop" fmla="*/ 0 h 796680"/>
              <a:gd name="textAreaBottom" fmla="*/ 797040 h 796680"/>
            </a:gdLst>
            <a:ahLst/>
            <a:cxnLst/>
            <a:rect l="textAreaLeft" t="textAreaTop" r="textAreaRight" b="textAreaBottom"/>
            <a:pathLst>
              <a:path w="1193316" h="796927">
                <a:moveTo>
                  <a:pt x="0" y="0"/>
                </a:moveTo>
                <a:lnTo>
                  <a:pt x="1193316" y="0"/>
                </a:lnTo>
                <a:lnTo>
                  <a:pt x="1193316" y="796927"/>
                </a:lnTo>
                <a:lnTo>
                  <a:pt x="0" y="796927"/>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7" name="TextBox 42"/>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Filtering Data</a:t>
            </a:r>
            <a:endParaRPr lang="en-US" sz="6400" b="0" strike="noStrike" spc="-1">
              <a:solidFill>
                <a:srgbClr val="000000"/>
              </a:solidFill>
              <a:latin typeface="Arial"/>
            </a:endParaRPr>
          </a:p>
        </p:txBody>
      </p:sp>
      <p:sp>
        <p:nvSpPr>
          <p:cNvPr id="318" name="TextBox 43"/>
          <p:cNvSpPr/>
          <p:nvPr/>
        </p:nvSpPr>
        <p:spPr>
          <a:xfrm>
            <a:off x="2176560" y="3224520"/>
            <a:ext cx="5587200" cy="11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4479"/>
              </a:lnSpc>
            </a:pPr>
            <a:r>
              <a:rPr lang="en-US" sz="3200" b="0" strike="noStrike" spc="-1">
                <a:solidFill>
                  <a:srgbClr val="F1F0E7"/>
                </a:solidFill>
                <a:latin typeface="Glacial Indifference"/>
                <a:ea typeface="Glacial Indifference"/>
              </a:rPr>
              <a:t>Filtering based on Total Score</a:t>
            </a:r>
            <a:endParaRPr lang="en-US" sz="3200" b="0" strike="noStrike" spc="-1">
              <a:solidFill>
                <a:srgbClr val="000000"/>
              </a:solidFill>
              <a:latin typeface="Arial"/>
            </a:endParaRPr>
          </a:p>
        </p:txBody>
      </p:sp>
      <p:sp>
        <p:nvSpPr>
          <p:cNvPr id="319" name="TextBox 44"/>
          <p:cNvSpPr/>
          <p:nvPr/>
        </p:nvSpPr>
        <p:spPr>
          <a:xfrm>
            <a:off x="1113120" y="4109040"/>
            <a:ext cx="7735320" cy="127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Top Performers: 16 students were identified as top performers by filtering records with a Total Score above 90</a:t>
            </a:r>
            <a:endParaRPr lang="en-US" sz="2400" b="0" strike="noStrike" spc="-1">
              <a:solidFill>
                <a:srgbClr val="000000"/>
              </a:solidFill>
              <a:latin typeface="Arial"/>
            </a:endParaRPr>
          </a:p>
        </p:txBody>
      </p:sp>
      <p:sp>
        <p:nvSpPr>
          <p:cNvPr id="320" name="TextBox 45"/>
          <p:cNvSpPr/>
          <p:nvPr/>
        </p:nvSpPr>
        <p:spPr>
          <a:xfrm>
            <a:off x="1462320" y="3252960"/>
            <a:ext cx="284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920"/>
              </a:lnSpc>
            </a:pPr>
            <a:r>
              <a:rPr lang="en-US" sz="2800" b="0" strike="noStrike" spc="-1">
                <a:solidFill>
                  <a:srgbClr val="112C16"/>
                </a:solidFill>
                <a:latin typeface="Anton"/>
                <a:ea typeface="Anton"/>
              </a:rPr>
              <a:t>1</a:t>
            </a:r>
            <a:endParaRPr lang="en-US" sz="2800" b="0" strike="noStrike" spc="-1">
              <a:solidFill>
                <a:srgbClr val="000000"/>
              </a:solidFill>
              <a:latin typeface="Arial"/>
            </a:endParaRPr>
          </a:p>
        </p:txBody>
      </p:sp>
      <p:sp>
        <p:nvSpPr>
          <p:cNvPr id="321" name="TextBox 46"/>
          <p:cNvSpPr/>
          <p:nvPr/>
        </p:nvSpPr>
        <p:spPr>
          <a:xfrm>
            <a:off x="2221920" y="6066000"/>
            <a:ext cx="5541840" cy="56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4479"/>
              </a:lnSpc>
            </a:pPr>
            <a:r>
              <a:rPr lang="en-US" sz="3200" b="0" strike="noStrike" spc="-1">
                <a:solidFill>
                  <a:srgbClr val="F1F0E7"/>
                </a:solidFill>
                <a:latin typeface="Glacial Indifference"/>
                <a:ea typeface="Glacial Indifference"/>
              </a:rPr>
              <a:t>Filtering based on Gender</a:t>
            </a:r>
            <a:endParaRPr lang="en-US" sz="3200" b="0" strike="noStrike" spc="-1">
              <a:solidFill>
                <a:srgbClr val="000000"/>
              </a:solidFill>
              <a:latin typeface="Arial"/>
            </a:endParaRPr>
          </a:p>
        </p:txBody>
      </p:sp>
      <p:sp>
        <p:nvSpPr>
          <p:cNvPr id="322" name="TextBox 47"/>
          <p:cNvSpPr/>
          <p:nvPr/>
        </p:nvSpPr>
        <p:spPr>
          <a:xfrm>
            <a:off x="1230840" y="6991200"/>
            <a:ext cx="751644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2,449 female students and 2,551 male students were identified for further comparative analysis</a:t>
            </a:r>
            <a:endParaRPr lang="en-US" sz="2400" b="0" strike="noStrike" spc="-1">
              <a:solidFill>
                <a:srgbClr val="000000"/>
              </a:solidFill>
              <a:latin typeface="Arial"/>
            </a:endParaRPr>
          </a:p>
        </p:txBody>
      </p:sp>
      <p:sp>
        <p:nvSpPr>
          <p:cNvPr id="323" name="TextBox 48"/>
          <p:cNvSpPr/>
          <p:nvPr/>
        </p:nvSpPr>
        <p:spPr>
          <a:xfrm>
            <a:off x="1462320" y="6134760"/>
            <a:ext cx="284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920"/>
              </a:lnSpc>
            </a:pPr>
            <a:r>
              <a:rPr lang="en-US" sz="2800" b="0" strike="noStrike" spc="-1">
                <a:solidFill>
                  <a:srgbClr val="112C16"/>
                </a:solidFill>
                <a:latin typeface="Anton"/>
                <a:ea typeface="Anton"/>
              </a:rPr>
              <a:t>2</a:t>
            </a:r>
            <a:endParaRPr lang="en-US" sz="2800" b="0" strike="noStrike" spc="-1">
              <a:solidFill>
                <a:srgbClr val="000000"/>
              </a:solidFill>
              <a:latin typeface="Arial"/>
            </a:endParaRPr>
          </a:p>
        </p:txBody>
      </p:sp>
      <p:sp>
        <p:nvSpPr>
          <p:cNvPr id="324" name="TextBox 49"/>
          <p:cNvSpPr/>
          <p:nvPr/>
        </p:nvSpPr>
        <p:spPr>
          <a:xfrm>
            <a:off x="10450800" y="3224520"/>
            <a:ext cx="6378120" cy="11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4479"/>
              </a:lnSpc>
            </a:pPr>
            <a:r>
              <a:rPr lang="en-US" sz="3200" b="0" strike="noStrike" spc="-1">
                <a:solidFill>
                  <a:srgbClr val="F1F0E7"/>
                </a:solidFill>
                <a:latin typeface="Glacial Indifference"/>
                <a:ea typeface="Glacial Indifference"/>
              </a:rPr>
              <a:t>Filtering based on Internet Access</a:t>
            </a:r>
            <a:endParaRPr lang="en-US" sz="3200" b="0" strike="noStrike" spc="-1">
              <a:solidFill>
                <a:srgbClr val="000000"/>
              </a:solidFill>
              <a:latin typeface="Arial"/>
            </a:endParaRPr>
          </a:p>
        </p:txBody>
      </p:sp>
      <p:sp>
        <p:nvSpPr>
          <p:cNvPr id="325" name="TextBox 50"/>
          <p:cNvSpPr/>
          <p:nvPr/>
        </p:nvSpPr>
        <p:spPr>
          <a:xfrm>
            <a:off x="9615600" y="4109040"/>
            <a:ext cx="7643520" cy="127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2,520 students have internet access, while 2,480 do not, enabling comparison of academic and study patterns</a:t>
            </a:r>
            <a:endParaRPr lang="en-US" sz="2400" b="0" strike="noStrike" spc="-1">
              <a:solidFill>
                <a:srgbClr val="000000"/>
              </a:solidFill>
              <a:latin typeface="Arial"/>
            </a:endParaRPr>
          </a:p>
        </p:txBody>
      </p:sp>
      <p:sp>
        <p:nvSpPr>
          <p:cNvPr id="326" name="TextBox 51"/>
          <p:cNvSpPr/>
          <p:nvPr/>
        </p:nvSpPr>
        <p:spPr>
          <a:xfrm>
            <a:off x="9812160" y="3252960"/>
            <a:ext cx="284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920"/>
              </a:lnSpc>
            </a:pPr>
            <a:r>
              <a:rPr lang="en-US" sz="2800" b="0" strike="noStrike" spc="-1">
                <a:solidFill>
                  <a:srgbClr val="112C16"/>
                </a:solidFill>
                <a:latin typeface="Anton"/>
                <a:ea typeface="Anton"/>
              </a:rPr>
              <a:t>3</a:t>
            </a:r>
            <a:endParaRPr lang="en-US" sz="2800" b="0" strike="noStrike" spc="-1">
              <a:solidFill>
                <a:srgbClr val="000000"/>
              </a:solidFill>
              <a:latin typeface="Arial"/>
            </a:endParaRPr>
          </a:p>
        </p:txBody>
      </p:sp>
      <p:sp>
        <p:nvSpPr>
          <p:cNvPr id="327" name="TextBox 52"/>
          <p:cNvSpPr/>
          <p:nvPr/>
        </p:nvSpPr>
        <p:spPr>
          <a:xfrm>
            <a:off x="10450800" y="6106320"/>
            <a:ext cx="6732360" cy="11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4479"/>
              </a:lnSpc>
            </a:pPr>
            <a:r>
              <a:rPr lang="en-US" sz="3200" b="0" strike="noStrike" spc="-1">
                <a:solidFill>
                  <a:srgbClr val="F1F0E7"/>
                </a:solidFill>
                <a:latin typeface="Glacial Indifference"/>
                <a:ea typeface="Glacial Indifference"/>
              </a:rPr>
              <a:t>Filtering based on Sleep and Stress </a:t>
            </a:r>
            <a:endParaRPr lang="en-US" sz="3200" b="0" strike="noStrike" spc="-1">
              <a:solidFill>
                <a:srgbClr val="000000"/>
              </a:solidFill>
              <a:latin typeface="Arial"/>
            </a:endParaRPr>
          </a:p>
        </p:txBody>
      </p:sp>
      <p:sp>
        <p:nvSpPr>
          <p:cNvPr id="328" name="TextBox 53"/>
          <p:cNvSpPr/>
          <p:nvPr/>
        </p:nvSpPr>
        <p:spPr>
          <a:xfrm>
            <a:off x="9726840" y="6991200"/>
            <a:ext cx="7102080" cy="127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313 students had ≤5 hours of sleep and stress levels ≥8, enabling analysis of their academic performance</a:t>
            </a:r>
            <a:endParaRPr lang="en-US" sz="2400" b="0" strike="noStrike" spc="-1">
              <a:solidFill>
                <a:srgbClr val="000000"/>
              </a:solidFill>
              <a:latin typeface="Arial"/>
            </a:endParaRPr>
          </a:p>
        </p:txBody>
      </p:sp>
      <p:sp>
        <p:nvSpPr>
          <p:cNvPr id="329" name="TextBox 54"/>
          <p:cNvSpPr/>
          <p:nvPr/>
        </p:nvSpPr>
        <p:spPr>
          <a:xfrm>
            <a:off x="9812160" y="6134760"/>
            <a:ext cx="284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920"/>
              </a:lnSpc>
            </a:pPr>
            <a:r>
              <a:rPr lang="en-US" sz="2800" b="0" strike="noStrike" spc="-1">
                <a:solidFill>
                  <a:srgbClr val="112C16"/>
                </a:solidFill>
                <a:latin typeface="Anton"/>
                <a:ea typeface="Anton"/>
              </a:rPr>
              <a:t>4</a:t>
            </a:r>
            <a:endParaRPr lang="en-US" sz="2800" b="0" strike="noStrike" spc="-1">
              <a:solidFill>
                <a:srgbClr val="000000"/>
              </a:solidFill>
              <a:latin typeface="Arial"/>
            </a:endParaRPr>
          </a:p>
        </p:txBody>
      </p:sp>
      <p:sp>
        <p:nvSpPr>
          <p:cNvPr id="330" name="Freeform 55"/>
          <p:cNvSpPr/>
          <p:nvPr/>
        </p:nvSpPr>
        <p:spPr>
          <a:xfrm flipH="1">
            <a:off x="16066080" y="8455680"/>
            <a:ext cx="1193040" cy="796680"/>
          </a:xfrm>
          <a:custGeom>
            <a:avLst/>
            <a:gdLst>
              <a:gd name="textAreaLeft" fmla="*/ 360 w 1193040"/>
              <a:gd name="textAreaRight" fmla="*/ 1193760 w 1193040"/>
              <a:gd name="textAreaTop" fmla="*/ 0 h 796680"/>
              <a:gd name="textAreaBottom" fmla="*/ 797040 h 796680"/>
            </a:gdLst>
            <a:ahLst/>
            <a:cxnLst/>
            <a:rect l="textAreaLeft" t="textAreaTop" r="textAreaRight" b="textAreaBottom"/>
            <a:pathLst>
              <a:path w="1193316" h="796927">
                <a:moveTo>
                  <a:pt x="1193316" y="0"/>
                </a:moveTo>
                <a:lnTo>
                  <a:pt x="0" y="0"/>
                </a:lnTo>
                <a:lnTo>
                  <a:pt x="0" y="796927"/>
                </a:lnTo>
                <a:lnTo>
                  <a:pt x="1193316" y="796927"/>
                </a:lnTo>
                <a:lnTo>
                  <a:pt x="1193316"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334" name="Group 5"/>
          <p:cNvGrpSpPr/>
          <p:nvPr/>
        </p:nvGrpSpPr>
        <p:grpSpPr>
          <a:xfrm>
            <a:off x="1028880" y="3018960"/>
            <a:ext cx="525240" cy="1469520"/>
            <a:chOff x="1028880" y="3018960"/>
            <a:chExt cx="525240" cy="1469520"/>
          </a:xfrm>
        </p:grpSpPr>
        <p:sp>
          <p:nvSpPr>
            <p:cNvPr id="335" name="Freeform 6"/>
            <p:cNvSpPr/>
            <p:nvPr/>
          </p:nvSpPr>
          <p:spPr>
            <a:xfrm>
              <a:off x="1028880" y="3235680"/>
              <a:ext cx="525240" cy="1252440"/>
            </a:xfrm>
            <a:custGeom>
              <a:avLst/>
              <a:gdLst>
                <a:gd name="textAreaLeft" fmla="*/ 0 w 525240"/>
                <a:gd name="textAreaRight" fmla="*/ 525600 w 525240"/>
                <a:gd name="textAreaTop" fmla="*/ 0 h 1252440"/>
                <a:gd name="textAreaBottom" fmla="*/ 1252800 h 1252440"/>
              </a:gdLst>
              <a:ahLst/>
              <a:cxnLst/>
              <a:rect l="textAreaLeft" t="textAreaTop" r="textAreaRight" b="textAreaBottom"/>
              <a:pathLst>
                <a:path w="138457" h="329941">
                  <a:moveTo>
                    <a:pt x="69229" y="0"/>
                  </a:moveTo>
                  <a:lnTo>
                    <a:pt x="69229" y="0"/>
                  </a:lnTo>
                  <a:cubicBezTo>
                    <a:pt x="87589" y="0"/>
                    <a:pt x="105198" y="7294"/>
                    <a:pt x="118181" y="20277"/>
                  </a:cubicBezTo>
                  <a:cubicBezTo>
                    <a:pt x="131163" y="33259"/>
                    <a:pt x="138457" y="50868"/>
                    <a:pt x="138457" y="69229"/>
                  </a:cubicBezTo>
                  <a:lnTo>
                    <a:pt x="138457" y="260713"/>
                  </a:lnTo>
                  <a:cubicBezTo>
                    <a:pt x="138457" y="298947"/>
                    <a:pt x="107462" y="329941"/>
                    <a:pt x="69229" y="329941"/>
                  </a:cubicBezTo>
                  <a:lnTo>
                    <a:pt x="69229" y="329941"/>
                  </a:lnTo>
                  <a:cubicBezTo>
                    <a:pt x="30995" y="329941"/>
                    <a:pt x="0" y="298947"/>
                    <a:pt x="0" y="260713"/>
                  </a:cubicBezTo>
                  <a:lnTo>
                    <a:pt x="0" y="69229"/>
                  </a:lnTo>
                  <a:cubicBezTo>
                    <a:pt x="0" y="30995"/>
                    <a:pt x="30995" y="0"/>
                    <a:pt x="69229"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36" name="TextBox 7"/>
            <p:cNvSpPr/>
            <p:nvPr/>
          </p:nvSpPr>
          <p:spPr>
            <a:xfrm>
              <a:off x="1028880" y="3018960"/>
              <a:ext cx="52524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37" name="Group 8"/>
          <p:cNvGrpSpPr/>
          <p:nvPr/>
        </p:nvGrpSpPr>
        <p:grpSpPr>
          <a:xfrm>
            <a:off x="1028880" y="4608720"/>
            <a:ext cx="525240" cy="1469520"/>
            <a:chOff x="1028880" y="4608720"/>
            <a:chExt cx="525240" cy="1469520"/>
          </a:xfrm>
        </p:grpSpPr>
        <p:sp>
          <p:nvSpPr>
            <p:cNvPr id="338" name="Freeform 9"/>
            <p:cNvSpPr/>
            <p:nvPr/>
          </p:nvSpPr>
          <p:spPr>
            <a:xfrm>
              <a:off x="1028880" y="4825800"/>
              <a:ext cx="525240" cy="1252440"/>
            </a:xfrm>
            <a:custGeom>
              <a:avLst/>
              <a:gdLst>
                <a:gd name="textAreaLeft" fmla="*/ 0 w 525240"/>
                <a:gd name="textAreaRight" fmla="*/ 525600 w 525240"/>
                <a:gd name="textAreaTop" fmla="*/ 0 h 1252440"/>
                <a:gd name="textAreaBottom" fmla="*/ 1252800 h 1252440"/>
              </a:gdLst>
              <a:ahLst/>
              <a:cxnLst/>
              <a:rect l="textAreaLeft" t="textAreaTop" r="textAreaRight" b="textAreaBottom"/>
              <a:pathLst>
                <a:path w="138457" h="329941">
                  <a:moveTo>
                    <a:pt x="69229" y="0"/>
                  </a:moveTo>
                  <a:lnTo>
                    <a:pt x="69229" y="0"/>
                  </a:lnTo>
                  <a:cubicBezTo>
                    <a:pt x="87589" y="0"/>
                    <a:pt x="105198" y="7294"/>
                    <a:pt x="118181" y="20277"/>
                  </a:cubicBezTo>
                  <a:cubicBezTo>
                    <a:pt x="131163" y="33259"/>
                    <a:pt x="138457" y="50868"/>
                    <a:pt x="138457" y="69229"/>
                  </a:cubicBezTo>
                  <a:lnTo>
                    <a:pt x="138457" y="260713"/>
                  </a:lnTo>
                  <a:cubicBezTo>
                    <a:pt x="138457" y="298947"/>
                    <a:pt x="107462" y="329941"/>
                    <a:pt x="69229" y="329941"/>
                  </a:cubicBezTo>
                  <a:lnTo>
                    <a:pt x="69229" y="329941"/>
                  </a:lnTo>
                  <a:cubicBezTo>
                    <a:pt x="30995" y="329941"/>
                    <a:pt x="0" y="298947"/>
                    <a:pt x="0" y="260713"/>
                  </a:cubicBezTo>
                  <a:lnTo>
                    <a:pt x="0" y="69229"/>
                  </a:lnTo>
                  <a:cubicBezTo>
                    <a:pt x="0" y="30995"/>
                    <a:pt x="30995" y="0"/>
                    <a:pt x="69229"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39" name="TextBox 10"/>
            <p:cNvSpPr/>
            <p:nvPr/>
          </p:nvSpPr>
          <p:spPr>
            <a:xfrm>
              <a:off x="1028880" y="4608720"/>
              <a:ext cx="52524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40" name="Group 11"/>
          <p:cNvGrpSpPr/>
          <p:nvPr/>
        </p:nvGrpSpPr>
        <p:grpSpPr>
          <a:xfrm>
            <a:off x="1028880" y="6198480"/>
            <a:ext cx="525240" cy="1469520"/>
            <a:chOff x="1028880" y="6198480"/>
            <a:chExt cx="525240" cy="1469520"/>
          </a:xfrm>
        </p:grpSpPr>
        <p:sp>
          <p:nvSpPr>
            <p:cNvPr id="341" name="Freeform 12"/>
            <p:cNvSpPr/>
            <p:nvPr/>
          </p:nvSpPr>
          <p:spPr>
            <a:xfrm>
              <a:off x="1028880" y="6415560"/>
              <a:ext cx="525240" cy="1252440"/>
            </a:xfrm>
            <a:custGeom>
              <a:avLst/>
              <a:gdLst>
                <a:gd name="textAreaLeft" fmla="*/ 0 w 525240"/>
                <a:gd name="textAreaRight" fmla="*/ 525600 w 525240"/>
                <a:gd name="textAreaTop" fmla="*/ 0 h 1252440"/>
                <a:gd name="textAreaBottom" fmla="*/ 1252800 h 1252440"/>
              </a:gdLst>
              <a:ahLst/>
              <a:cxnLst/>
              <a:rect l="textAreaLeft" t="textAreaTop" r="textAreaRight" b="textAreaBottom"/>
              <a:pathLst>
                <a:path w="138457" h="329941">
                  <a:moveTo>
                    <a:pt x="69229" y="0"/>
                  </a:moveTo>
                  <a:lnTo>
                    <a:pt x="69229" y="0"/>
                  </a:lnTo>
                  <a:cubicBezTo>
                    <a:pt x="87589" y="0"/>
                    <a:pt x="105198" y="7294"/>
                    <a:pt x="118181" y="20277"/>
                  </a:cubicBezTo>
                  <a:cubicBezTo>
                    <a:pt x="131163" y="33259"/>
                    <a:pt x="138457" y="50868"/>
                    <a:pt x="138457" y="69229"/>
                  </a:cubicBezTo>
                  <a:lnTo>
                    <a:pt x="138457" y="260713"/>
                  </a:lnTo>
                  <a:cubicBezTo>
                    <a:pt x="138457" y="298947"/>
                    <a:pt x="107462" y="329941"/>
                    <a:pt x="69229" y="329941"/>
                  </a:cubicBezTo>
                  <a:lnTo>
                    <a:pt x="69229" y="329941"/>
                  </a:lnTo>
                  <a:cubicBezTo>
                    <a:pt x="30995" y="329941"/>
                    <a:pt x="0" y="298947"/>
                    <a:pt x="0" y="260713"/>
                  </a:cubicBezTo>
                  <a:lnTo>
                    <a:pt x="0" y="69229"/>
                  </a:lnTo>
                  <a:cubicBezTo>
                    <a:pt x="0" y="30995"/>
                    <a:pt x="30995" y="0"/>
                    <a:pt x="69229"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42" name="TextBox 13"/>
            <p:cNvSpPr/>
            <p:nvPr/>
          </p:nvSpPr>
          <p:spPr>
            <a:xfrm>
              <a:off x="1028880" y="6198480"/>
              <a:ext cx="52524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43" name="Group 14"/>
          <p:cNvGrpSpPr/>
          <p:nvPr/>
        </p:nvGrpSpPr>
        <p:grpSpPr>
          <a:xfrm>
            <a:off x="1028880" y="7788600"/>
            <a:ext cx="525240" cy="1469520"/>
            <a:chOff x="1028880" y="7788600"/>
            <a:chExt cx="525240" cy="1469520"/>
          </a:xfrm>
        </p:grpSpPr>
        <p:sp>
          <p:nvSpPr>
            <p:cNvPr id="344" name="Freeform 15"/>
            <p:cNvSpPr/>
            <p:nvPr/>
          </p:nvSpPr>
          <p:spPr>
            <a:xfrm>
              <a:off x="1028880" y="8005680"/>
              <a:ext cx="525240" cy="1252440"/>
            </a:xfrm>
            <a:custGeom>
              <a:avLst/>
              <a:gdLst>
                <a:gd name="textAreaLeft" fmla="*/ 0 w 525240"/>
                <a:gd name="textAreaRight" fmla="*/ 525600 w 525240"/>
                <a:gd name="textAreaTop" fmla="*/ 0 h 1252440"/>
                <a:gd name="textAreaBottom" fmla="*/ 1252800 h 1252440"/>
              </a:gdLst>
              <a:ahLst/>
              <a:cxnLst/>
              <a:rect l="textAreaLeft" t="textAreaTop" r="textAreaRight" b="textAreaBottom"/>
              <a:pathLst>
                <a:path w="138457" h="329941">
                  <a:moveTo>
                    <a:pt x="69229" y="0"/>
                  </a:moveTo>
                  <a:lnTo>
                    <a:pt x="69229" y="0"/>
                  </a:lnTo>
                  <a:cubicBezTo>
                    <a:pt x="87589" y="0"/>
                    <a:pt x="105198" y="7294"/>
                    <a:pt x="118181" y="20277"/>
                  </a:cubicBezTo>
                  <a:cubicBezTo>
                    <a:pt x="131163" y="33259"/>
                    <a:pt x="138457" y="50868"/>
                    <a:pt x="138457" y="69229"/>
                  </a:cubicBezTo>
                  <a:lnTo>
                    <a:pt x="138457" y="260713"/>
                  </a:lnTo>
                  <a:cubicBezTo>
                    <a:pt x="138457" y="298947"/>
                    <a:pt x="107462" y="329941"/>
                    <a:pt x="69229" y="329941"/>
                  </a:cubicBezTo>
                  <a:lnTo>
                    <a:pt x="69229" y="329941"/>
                  </a:lnTo>
                  <a:cubicBezTo>
                    <a:pt x="30995" y="329941"/>
                    <a:pt x="0" y="298947"/>
                    <a:pt x="0" y="260713"/>
                  </a:cubicBezTo>
                  <a:lnTo>
                    <a:pt x="0" y="69229"/>
                  </a:lnTo>
                  <a:cubicBezTo>
                    <a:pt x="0" y="30995"/>
                    <a:pt x="30995" y="0"/>
                    <a:pt x="69229"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45" name="TextBox 16"/>
            <p:cNvSpPr/>
            <p:nvPr/>
          </p:nvSpPr>
          <p:spPr>
            <a:xfrm>
              <a:off x="1028880" y="7788600"/>
              <a:ext cx="52524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46" name="Group 17"/>
          <p:cNvGrpSpPr/>
          <p:nvPr/>
        </p:nvGrpSpPr>
        <p:grpSpPr>
          <a:xfrm>
            <a:off x="1887840" y="3018960"/>
            <a:ext cx="15370920" cy="1469520"/>
            <a:chOff x="1887840" y="3018960"/>
            <a:chExt cx="15370920" cy="1469520"/>
          </a:xfrm>
        </p:grpSpPr>
        <p:sp>
          <p:nvSpPr>
            <p:cNvPr id="347" name="Freeform 18"/>
            <p:cNvSpPr/>
            <p:nvPr/>
          </p:nvSpPr>
          <p:spPr>
            <a:xfrm>
              <a:off x="1887840" y="3235680"/>
              <a:ext cx="15370920" cy="1252440"/>
            </a:xfrm>
            <a:custGeom>
              <a:avLst/>
              <a:gdLst>
                <a:gd name="textAreaLeft" fmla="*/ 0 w 15370920"/>
                <a:gd name="textAreaRight" fmla="*/ 15371280 w 15370920"/>
                <a:gd name="textAreaTop" fmla="*/ 0 h 1252440"/>
                <a:gd name="textAreaBottom" fmla="*/ 1252800 h 1252440"/>
              </a:gdLst>
              <a:ahLst/>
              <a:cxnLst/>
              <a:rect l="textAreaLeft" t="textAreaTop" r="textAreaRight" b="textAreaBottom"/>
              <a:pathLst>
                <a:path w="4048443" h="329941">
                  <a:moveTo>
                    <a:pt x="25686" y="0"/>
                  </a:moveTo>
                  <a:lnTo>
                    <a:pt x="4022756" y="0"/>
                  </a:lnTo>
                  <a:cubicBezTo>
                    <a:pt x="4036943" y="0"/>
                    <a:pt x="4048443" y="11500"/>
                    <a:pt x="4048443" y="25686"/>
                  </a:cubicBezTo>
                  <a:lnTo>
                    <a:pt x="4048443" y="304255"/>
                  </a:lnTo>
                  <a:cubicBezTo>
                    <a:pt x="4048443" y="311067"/>
                    <a:pt x="4045736" y="317601"/>
                    <a:pt x="4040919" y="322418"/>
                  </a:cubicBezTo>
                  <a:cubicBezTo>
                    <a:pt x="4036102" y="327235"/>
                    <a:pt x="4029569" y="329941"/>
                    <a:pt x="4022756" y="329941"/>
                  </a:cubicBezTo>
                  <a:lnTo>
                    <a:pt x="25686" y="329941"/>
                  </a:lnTo>
                  <a:cubicBezTo>
                    <a:pt x="18874" y="329941"/>
                    <a:pt x="12341" y="327235"/>
                    <a:pt x="7523" y="322418"/>
                  </a:cubicBezTo>
                  <a:cubicBezTo>
                    <a:pt x="2706" y="317601"/>
                    <a:pt x="0" y="311067"/>
                    <a:pt x="0" y="304255"/>
                  </a:cubicBezTo>
                  <a:lnTo>
                    <a:pt x="0" y="25686"/>
                  </a:lnTo>
                  <a:cubicBezTo>
                    <a:pt x="0" y="18874"/>
                    <a:pt x="2706" y="12341"/>
                    <a:pt x="7523" y="7523"/>
                  </a:cubicBezTo>
                  <a:cubicBezTo>
                    <a:pt x="12341" y="2706"/>
                    <a:pt x="18874" y="0"/>
                    <a:pt x="25686"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48" name="TextBox 19"/>
            <p:cNvSpPr/>
            <p:nvPr/>
          </p:nvSpPr>
          <p:spPr>
            <a:xfrm>
              <a:off x="1887840" y="3018960"/>
              <a:ext cx="1537092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49" name="Group 20"/>
          <p:cNvGrpSpPr/>
          <p:nvPr/>
        </p:nvGrpSpPr>
        <p:grpSpPr>
          <a:xfrm>
            <a:off x="1887840" y="4608720"/>
            <a:ext cx="15370920" cy="1469520"/>
            <a:chOff x="1887840" y="4608720"/>
            <a:chExt cx="15370920" cy="1469520"/>
          </a:xfrm>
        </p:grpSpPr>
        <p:sp>
          <p:nvSpPr>
            <p:cNvPr id="350" name="Freeform 21"/>
            <p:cNvSpPr/>
            <p:nvPr/>
          </p:nvSpPr>
          <p:spPr>
            <a:xfrm>
              <a:off x="1887840" y="4825800"/>
              <a:ext cx="15370920" cy="1252440"/>
            </a:xfrm>
            <a:custGeom>
              <a:avLst/>
              <a:gdLst>
                <a:gd name="textAreaLeft" fmla="*/ 0 w 15370920"/>
                <a:gd name="textAreaRight" fmla="*/ 15371280 w 15370920"/>
                <a:gd name="textAreaTop" fmla="*/ 0 h 1252440"/>
                <a:gd name="textAreaBottom" fmla="*/ 1252800 h 1252440"/>
              </a:gdLst>
              <a:ahLst/>
              <a:cxnLst/>
              <a:rect l="textAreaLeft" t="textAreaTop" r="textAreaRight" b="textAreaBottom"/>
              <a:pathLst>
                <a:path w="4048443" h="329941">
                  <a:moveTo>
                    <a:pt x="25686" y="0"/>
                  </a:moveTo>
                  <a:lnTo>
                    <a:pt x="4022756" y="0"/>
                  </a:lnTo>
                  <a:cubicBezTo>
                    <a:pt x="4036943" y="0"/>
                    <a:pt x="4048443" y="11500"/>
                    <a:pt x="4048443" y="25686"/>
                  </a:cubicBezTo>
                  <a:lnTo>
                    <a:pt x="4048443" y="304255"/>
                  </a:lnTo>
                  <a:cubicBezTo>
                    <a:pt x="4048443" y="311067"/>
                    <a:pt x="4045736" y="317601"/>
                    <a:pt x="4040919" y="322418"/>
                  </a:cubicBezTo>
                  <a:cubicBezTo>
                    <a:pt x="4036102" y="327235"/>
                    <a:pt x="4029569" y="329941"/>
                    <a:pt x="4022756" y="329941"/>
                  </a:cubicBezTo>
                  <a:lnTo>
                    <a:pt x="25686" y="329941"/>
                  </a:lnTo>
                  <a:cubicBezTo>
                    <a:pt x="18874" y="329941"/>
                    <a:pt x="12341" y="327235"/>
                    <a:pt x="7523" y="322418"/>
                  </a:cubicBezTo>
                  <a:cubicBezTo>
                    <a:pt x="2706" y="317601"/>
                    <a:pt x="0" y="311067"/>
                    <a:pt x="0" y="304255"/>
                  </a:cubicBezTo>
                  <a:lnTo>
                    <a:pt x="0" y="25686"/>
                  </a:lnTo>
                  <a:cubicBezTo>
                    <a:pt x="0" y="18874"/>
                    <a:pt x="2706" y="12341"/>
                    <a:pt x="7523" y="7523"/>
                  </a:cubicBezTo>
                  <a:cubicBezTo>
                    <a:pt x="12341" y="2706"/>
                    <a:pt x="18874" y="0"/>
                    <a:pt x="25686"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51" name="TextBox 22"/>
            <p:cNvSpPr/>
            <p:nvPr/>
          </p:nvSpPr>
          <p:spPr>
            <a:xfrm>
              <a:off x="1887840" y="4608720"/>
              <a:ext cx="1537092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52" name="Group 23"/>
          <p:cNvGrpSpPr/>
          <p:nvPr/>
        </p:nvGrpSpPr>
        <p:grpSpPr>
          <a:xfrm>
            <a:off x="1887840" y="6198480"/>
            <a:ext cx="15370920" cy="1469520"/>
            <a:chOff x="1887840" y="6198480"/>
            <a:chExt cx="15370920" cy="1469520"/>
          </a:xfrm>
        </p:grpSpPr>
        <p:sp>
          <p:nvSpPr>
            <p:cNvPr id="353" name="Freeform 24"/>
            <p:cNvSpPr/>
            <p:nvPr/>
          </p:nvSpPr>
          <p:spPr>
            <a:xfrm>
              <a:off x="1887840" y="6415560"/>
              <a:ext cx="15370920" cy="1252440"/>
            </a:xfrm>
            <a:custGeom>
              <a:avLst/>
              <a:gdLst>
                <a:gd name="textAreaLeft" fmla="*/ 0 w 15370920"/>
                <a:gd name="textAreaRight" fmla="*/ 15371280 w 15370920"/>
                <a:gd name="textAreaTop" fmla="*/ 0 h 1252440"/>
                <a:gd name="textAreaBottom" fmla="*/ 1252800 h 1252440"/>
              </a:gdLst>
              <a:ahLst/>
              <a:cxnLst/>
              <a:rect l="textAreaLeft" t="textAreaTop" r="textAreaRight" b="textAreaBottom"/>
              <a:pathLst>
                <a:path w="4048443" h="329941">
                  <a:moveTo>
                    <a:pt x="25686" y="0"/>
                  </a:moveTo>
                  <a:lnTo>
                    <a:pt x="4022756" y="0"/>
                  </a:lnTo>
                  <a:cubicBezTo>
                    <a:pt x="4036943" y="0"/>
                    <a:pt x="4048443" y="11500"/>
                    <a:pt x="4048443" y="25686"/>
                  </a:cubicBezTo>
                  <a:lnTo>
                    <a:pt x="4048443" y="304255"/>
                  </a:lnTo>
                  <a:cubicBezTo>
                    <a:pt x="4048443" y="311067"/>
                    <a:pt x="4045736" y="317601"/>
                    <a:pt x="4040919" y="322418"/>
                  </a:cubicBezTo>
                  <a:cubicBezTo>
                    <a:pt x="4036102" y="327235"/>
                    <a:pt x="4029569" y="329941"/>
                    <a:pt x="4022756" y="329941"/>
                  </a:cubicBezTo>
                  <a:lnTo>
                    <a:pt x="25686" y="329941"/>
                  </a:lnTo>
                  <a:cubicBezTo>
                    <a:pt x="18874" y="329941"/>
                    <a:pt x="12341" y="327235"/>
                    <a:pt x="7523" y="322418"/>
                  </a:cubicBezTo>
                  <a:cubicBezTo>
                    <a:pt x="2706" y="317601"/>
                    <a:pt x="0" y="311067"/>
                    <a:pt x="0" y="304255"/>
                  </a:cubicBezTo>
                  <a:lnTo>
                    <a:pt x="0" y="25686"/>
                  </a:lnTo>
                  <a:cubicBezTo>
                    <a:pt x="0" y="18874"/>
                    <a:pt x="2706" y="12341"/>
                    <a:pt x="7523" y="7523"/>
                  </a:cubicBezTo>
                  <a:cubicBezTo>
                    <a:pt x="12341" y="2706"/>
                    <a:pt x="18874" y="0"/>
                    <a:pt x="25686"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54" name="TextBox 25"/>
            <p:cNvSpPr/>
            <p:nvPr/>
          </p:nvSpPr>
          <p:spPr>
            <a:xfrm>
              <a:off x="1887840" y="6198480"/>
              <a:ext cx="1537092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55" name="Group 26"/>
          <p:cNvGrpSpPr/>
          <p:nvPr/>
        </p:nvGrpSpPr>
        <p:grpSpPr>
          <a:xfrm>
            <a:off x="1887840" y="7788600"/>
            <a:ext cx="15370920" cy="1469520"/>
            <a:chOff x="1887840" y="7788600"/>
            <a:chExt cx="15370920" cy="1469520"/>
          </a:xfrm>
        </p:grpSpPr>
        <p:sp>
          <p:nvSpPr>
            <p:cNvPr id="356" name="Freeform 27"/>
            <p:cNvSpPr/>
            <p:nvPr/>
          </p:nvSpPr>
          <p:spPr>
            <a:xfrm>
              <a:off x="1887840" y="8005680"/>
              <a:ext cx="15370920" cy="1252440"/>
            </a:xfrm>
            <a:custGeom>
              <a:avLst/>
              <a:gdLst>
                <a:gd name="textAreaLeft" fmla="*/ 0 w 15370920"/>
                <a:gd name="textAreaRight" fmla="*/ 15371280 w 15370920"/>
                <a:gd name="textAreaTop" fmla="*/ 0 h 1252440"/>
                <a:gd name="textAreaBottom" fmla="*/ 1252800 h 1252440"/>
              </a:gdLst>
              <a:ahLst/>
              <a:cxnLst/>
              <a:rect l="textAreaLeft" t="textAreaTop" r="textAreaRight" b="textAreaBottom"/>
              <a:pathLst>
                <a:path w="4048443" h="329941">
                  <a:moveTo>
                    <a:pt x="25686" y="0"/>
                  </a:moveTo>
                  <a:lnTo>
                    <a:pt x="4022756" y="0"/>
                  </a:lnTo>
                  <a:cubicBezTo>
                    <a:pt x="4036943" y="0"/>
                    <a:pt x="4048443" y="11500"/>
                    <a:pt x="4048443" y="25686"/>
                  </a:cubicBezTo>
                  <a:lnTo>
                    <a:pt x="4048443" y="304255"/>
                  </a:lnTo>
                  <a:cubicBezTo>
                    <a:pt x="4048443" y="311067"/>
                    <a:pt x="4045736" y="317601"/>
                    <a:pt x="4040919" y="322418"/>
                  </a:cubicBezTo>
                  <a:cubicBezTo>
                    <a:pt x="4036102" y="327235"/>
                    <a:pt x="4029569" y="329941"/>
                    <a:pt x="4022756" y="329941"/>
                  </a:cubicBezTo>
                  <a:lnTo>
                    <a:pt x="25686" y="329941"/>
                  </a:lnTo>
                  <a:cubicBezTo>
                    <a:pt x="18874" y="329941"/>
                    <a:pt x="12341" y="327235"/>
                    <a:pt x="7523" y="322418"/>
                  </a:cubicBezTo>
                  <a:cubicBezTo>
                    <a:pt x="2706" y="317601"/>
                    <a:pt x="0" y="311067"/>
                    <a:pt x="0" y="304255"/>
                  </a:cubicBezTo>
                  <a:lnTo>
                    <a:pt x="0" y="25686"/>
                  </a:lnTo>
                  <a:cubicBezTo>
                    <a:pt x="0" y="18874"/>
                    <a:pt x="2706" y="12341"/>
                    <a:pt x="7523" y="7523"/>
                  </a:cubicBezTo>
                  <a:cubicBezTo>
                    <a:pt x="12341" y="2706"/>
                    <a:pt x="18874" y="0"/>
                    <a:pt x="25686"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57" name="TextBox 28"/>
            <p:cNvSpPr/>
            <p:nvPr/>
          </p:nvSpPr>
          <p:spPr>
            <a:xfrm>
              <a:off x="1887840" y="7788600"/>
              <a:ext cx="1537092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Aggregating Data</a:t>
            </a:r>
            <a:endParaRPr lang="en-US" sz="6400" b="0" strike="noStrike" spc="-1">
              <a:solidFill>
                <a:srgbClr val="000000"/>
              </a:solidFill>
              <a:latin typeface="Arial"/>
            </a:endParaRPr>
          </a:p>
        </p:txBody>
      </p:sp>
      <p:sp>
        <p:nvSpPr>
          <p:cNvPr id="359" name="TextBox 30"/>
          <p:cNvSpPr/>
          <p:nvPr/>
        </p:nvSpPr>
        <p:spPr>
          <a:xfrm>
            <a:off x="2374200" y="3447000"/>
            <a:ext cx="630540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1" strike="noStrike" spc="-1">
                <a:solidFill>
                  <a:srgbClr val="112C16"/>
                </a:solidFill>
                <a:latin typeface="Glacial Indifference Bold"/>
                <a:ea typeface="Glacial Indifference Bold"/>
              </a:rPr>
              <a:t>Aggregate by department</a:t>
            </a:r>
            <a:endParaRPr lang="en-US" sz="2400" b="0" strike="noStrike" spc="-1">
              <a:solidFill>
                <a:srgbClr val="000000"/>
              </a:solidFill>
              <a:latin typeface="Arial"/>
            </a:endParaRPr>
          </a:p>
        </p:txBody>
      </p:sp>
      <p:sp>
        <p:nvSpPr>
          <p:cNvPr id="360" name="TextBox 31"/>
          <p:cNvSpPr/>
          <p:nvPr/>
        </p:nvSpPr>
        <p:spPr>
          <a:xfrm>
            <a:off x="2374200" y="3906000"/>
            <a:ext cx="147794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000000"/>
                </a:solidFill>
                <a:latin typeface="Glacial Indifference"/>
                <a:ea typeface="Glacial Indifference"/>
              </a:rPr>
              <a:t>To compare academic performance and attendance across departments</a:t>
            </a:r>
            <a:endParaRPr lang="en-US" sz="2400" b="0" strike="noStrike" spc="-1">
              <a:solidFill>
                <a:srgbClr val="000000"/>
              </a:solidFill>
              <a:latin typeface="Arial"/>
            </a:endParaRPr>
          </a:p>
        </p:txBody>
      </p:sp>
      <p:sp>
        <p:nvSpPr>
          <p:cNvPr id="361" name="TextBox 32"/>
          <p:cNvSpPr/>
          <p:nvPr/>
        </p:nvSpPr>
        <p:spPr>
          <a:xfrm>
            <a:off x="2374200" y="5036760"/>
            <a:ext cx="43016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1" strike="noStrike" spc="-1">
                <a:solidFill>
                  <a:srgbClr val="112C16"/>
                </a:solidFill>
                <a:latin typeface="Glacial Indifference Bold"/>
                <a:ea typeface="Glacial Indifference Bold"/>
              </a:rPr>
              <a:t> Aggregate by Grade</a:t>
            </a:r>
            <a:endParaRPr lang="en-US" sz="2400" b="0" strike="noStrike" spc="-1">
              <a:solidFill>
                <a:srgbClr val="000000"/>
              </a:solidFill>
              <a:latin typeface="Arial"/>
            </a:endParaRPr>
          </a:p>
        </p:txBody>
      </p:sp>
      <p:sp>
        <p:nvSpPr>
          <p:cNvPr id="362" name="TextBox 33"/>
          <p:cNvSpPr/>
          <p:nvPr/>
        </p:nvSpPr>
        <p:spPr>
          <a:xfrm>
            <a:off x="2374200" y="5499720"/>
            <a:ext cx="147794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000000"/>
                </a:solidFill>
                <a:latin typeface="Glacial Indifference"/>
                <a:ea typeface="Glacial Indifference"/>
              </a:rPr>
              <a:t>To compare student distribution, academic performance, and attendance across grades</a:t>
            </a:r>
            <a:endParaRPr lang="en-US" sz="2400" b="0" strike="noStrike" spc="-1">
              <a:solidFill>
                <a:srgbClr val="000000"/>
              </a:solidFill>
              <a:latin typeface="Arial"/>
            </a:endParaRPr>
          </a:p>
        </p:txBody>
      </p:sp>
      <p:sp>
        <p:nvSpPr>
          <p:cNvPr id="363" name="TextBox 34"/>
          <p:cNvSpPr/>
          <p:nvPr/>
        </p:nvSpPr>
        <p:spPr>
          <a:xfrm>
            <a:off x="2374200" y="6626880"/>
            <a:ext cx="85780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1" strike="noStrike" spc="-1">
                <a:solidFill>
                  <a:srgbClr val="112C16"/>
                </a:solidFill>
                <a:latin typeface="Glacial Indifference Bold"/>
                <a:ea typeface="Glacial Indifference Bold"/>
              </a:rPr>
              <a:t>  Academic performance and Average Sleep</a:t>
            </a:r>
            <a:endParaRPr lang="en-US" sz="2400" b="0" strike="noStrike" spc="-1">
              <a:solidFill>
                <a:srgbClr val="000000"/>
              </a:solidFill>
              <a:latin typeface="Arial"/>
            </a:endParaRPr>
          </a:p>
        </p:txBody>
      </p:sp>
      <p:sp>
        <p:nvSpPr>
          <p:cNvPr id="364" name="TextBox 35"/>
          <p:cNvSpPr/>
          <p:nvPr/>
        </p:nvSpPr>
        <p:spPr>
          <a:xfrm>
            <a:off x="2374200" y="7089480"/>
            <a:ext cx="147794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000000"/>
                </a:solidFill>
                <a:latin typeface="Glacial Indifference"/>
                <a:ea typeface="Glacial Indifference"/>
              </a:rPr>
              <a:t>To compare average sleep duration across performance categories</a:t>
            </a:r>
            <a:endParaRPr lang="en-US" sz="2400" b="0" strike="noStrike" spc="-1">
              <a:solidFill>
                <a:srgbClr val="000000"/>
              </a:solidFill>
              <a:latin typeface="Arial"/>
            </a:endParaRPr>
          </a:p>
        </p:txBody>
      </p:sp>
      <p:sp>
        <p:nvSpPr>
          <p:cNvPr id="365" name="TextBox 36"/>
          <p:cNvSpPr/>
          <p:nvPr/>
        </p:nvSpPr>
        <p:spPr>
          <a:xfrm>
            <a:off x="2374200" y="8216640"/>
            <a:ext cx="69620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1" strike="noStrike" spc="-1">
                <a:solidFill>
                  <a:srgbClr val="112C16"/>
                </a:solidFill>
                <a:latin typeface="Glacial Indifference Bold"/>
                <a:ea typeface="Glacial Indifference Bold"/>
              </a:rPr>
              <a:t>Gender wise Average Score</a:t>
            </a:r>
            <a:endParaRPr lang="en-US" sz="2400" b="0" strike="noStrike" spc="-1">
              <a:solidFill>
                <a:srgbClr val="000000"/>
              </a:solidFill>
              <a:latin typeface="Arial"/>
            </a:endParaRPr>
          </a:p>
        </p:txBody>
      </p:sp>
      <p:sp>
        <p:nvSpPr>
          <p:cNvPr id="366" name="TextBox 37"/>
          <p:cNvSpPr/>
          <p:nvPr/>
        </p:nvSpPr>
        <p:spPr>
          <a:xfrm>
            <a:off x="2374200" y="8679600"/>
            <a:ext cx="147794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000000"/>
                </a:solidFill>
                <a:latin typeface="Glacial Indifference"/>
                <a:ea typeface="Glacial Indifference"/>
              </a:rPr>
              <a:t>To compare average academic performance between male and female students</a:t>
            </a:r>
            <a:endParaRPr lang="en-US" sz="24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Exploratory Data Analysis</a:t>
            </a:r>
            <a:endParaRPr lang="en-US" sz="6400" b="0" strike="noStrike" spc="-1">
              <a:solidFill>
                <a:srgbClr val="000000"/>
              </a:solidFill>
              <a:latin typeface="Arial"/>
            </a:endParaRPr>
          </a:p>
        </p:txBody>
      </p:sp>
      <p:sp>
        <p:nvSpPr>
          <p:cNvPr id="359" name="TextBox 358"/>
          <p:cNvSpPr txBox="1"/>
          <p:nvPr/>
        </p:nvSpPr>
        <p:spPr>
          <a:xfrm>
            <a:off x="1371600" y="2651760"/>
            <a:ext cx="15544800" cy="822960"/>
          </a:xfrm>
          <a:prstGeom prst="rect">
            <a:avLst/>
          </a:prstGeom>
          <a:noFill/>
        </p:spPr>
        <p:txBody>
          <a:bodyPr wrap="square" lIns="0" tIns="0" rIns="0" bIns="0" anchor="t">
            <a:spAutoFit/>
          </a:bodyPr>
          <a:lstStyle/>
          <a:p>
            <a:pPr algn="l">
              <a:spcAft>
                <a:spcPts val="600"/>
              </a:spcAft>
            </a:pPr>
            <a:r>
              <a:rPr sz="2440" b="0">
                <a:solidFill>
                  <a:srgbClr val="112C16"/>
                </a:solidFill>
                <a:latin typeface="Calibri"/>
              </a:rPr>
              <a:t>Patterns were explored at three levels, supported by groupby, pivot tables, correlation and statistical summaries.</a:t>
            </a:r>
          </a:p>
        </p:txBody>
      </p:sp>
      <p:sp>
        <p:nvSpPr>
          <p:cNvPr id="360" name="Rounded Rectangle 359"/>
          <p:cNvSpPr/>
          <p:nvPr/>
        </p:nvSpPr>
        <p:spPr>
          <a:xfrm>
            <a:off x="1371600" y="3749039"/>
            <a:ext cx="5029200" cy="329184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TextBox 360"/>
          <p:cNvSpPr txBox="1"/>
          <p:nvPr/>
        </p:nvSpPr>
        <p:spPr>
          <a:xfrm>
            <a:off x="1645920" y="3931920"/>
            <a:ext cx="4480560" cy="457200"/>
          </a:xfrm>
          <a:prstGeom prst="rect">
            <a:avLst/>
          </a:prstGeom>
          <a:noFill/>
        </p:spPr>
        <p:txBody>
          <a:bodyPr wrap="square" lIns="0" tIns="0" rIns="0" bIns="0" anchor="t">
            <a:spAutoFit/>
          </a:bodyPr>
          <a:lstStyle/>
          <a:p>
            <a:pPr algn="l">
              <a:spcAft>
                <a:spcPts val="600"/>
              </a:spcAft>
            </a:pPr>
            <a:r>
              <a:rPr sz="3172" b="1">
                <a:solidFill>
                  <a:srgbClr val="112C16"/>
                </a:solidFill>
                <a:latin typeface="Calibri"/>
              </a:rPr>
              <a:t>Univariate</a:t>
            </a:r>
          </a:p>
        </p:txBody>
      </p:sp>
      <p:sp>
        <p:nvSpPr>
          <p:cNvPr id="362" name="TextBox 361"/>
          <p:cNvSpPr txBox="1"/>
          <p:nvPr/>
        </p:nvSpPr>
        <p:spPr>
          <a:xfrm>
            <a:off x="1645920" y="4526279"/>
            <a:ext cx="4480560" cy="2377440"/>
          </a:xfrm>
          <a:prstGeom prst="rect">
            <a:avLst/>
          </a:prstGeom>
          <a:noFill/>
        </p:spPr>
        <p:txBody>
          <a:bodyPr wrap="square" lIns="0" tIns="0" rIns="0" bIns="0" anchor="t">
            <a:spAutoFit/>
          </a:bodyPr>
          <a:lstStyle/>
          <a:p>
            <a:pPr algn="l">
              <a:spcAft>
                <a:spcPts val="600"/>
              </a:spcAft>
            </a:pPr>
            <a:r>
              <a:rPr sz="2196" b="0">
                <a:solidFill>
                  <a:srgbClr val="112C16"/>
                </a:solidFill>
                <a:latin typeface="Calibri"/>
              </a:rPr>
              <a:t>One variable at a time: frequency counts, percentages, mean, median, std, quartiles</a:t>
            </a:r>
          </a:p>
        </p:txBody>
      </p:sp>
      <p:sp>
        <p:nvSpPr>
          <p:cNvPr id="363" name="Rounded Rectangle 362"/>
          <p:cNvSpPr/>
          <p:nvPr/>
        </p:nvSpPr>
        <p:spPr>
          <a:xfrm>
            <a:off x="6720840" y="3749039"/>
            <a:ext cx="5029200" cy="329184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TextBox 363"/>
          <p:cNvSpPr txBox="1"/>
          <p:nvPr/>
        </p:nvSpPr>
        <p:spPr>
          <a:xfrm>
            <a:off x="6995159" y="3931920"/>
            <a:ext cx="4480560" cy="457200"/>
          </a:xfrm>
          <a:prstGeom prst="rect">
            <a:avLst/>
          </a:prstGeom>
          <a:noFill/>
        </p:spPr>
        <p:txBody>
          <a:bodyPr wrap="square" lIns="0" tIns="0" rIns="0" bIns="0" anchor="t">
            <a:spAutoFit/>
          </a:bodyPr>
          <a:lstStyle/>
          <a:p>
            <a:pPr algn="l">
              <a:spcAft>
                <a:spcPts val="600"/>
              </a:spcAft>
            </a:pPr>
            <a:r>
              <a:rPr sz="3172" b="1">
                <a:solidFill>
                  <a:srgbClr val="112C16"/>
                </a:solidFill>
                <a:latin typeface="Calibri"/>
              </a:rPr>
              <a:t>Bivariate</a:t>
            </a:r>
          </a:p>
        </p:txBody>
      </p:sp>
      <p:sp>
        <p:nvSpPr>
          <p:cNvPr id="365" name="TextBox 364"/>
          <p:cNvSpPr txBox="1"/>
          <p:nvPr/>
        </p:nvSpPr>
        <p:spPr>
          <a:xfrm>
            <a:off x="6995159" y="4526279"/>
            <a:ext cx="4480560" cy="2377440"/>
          </a:xfrm>
          <a:prstGeom prst="rect">
            <a:avLst/>
          </a:prstGeom>
          <a:noFill/>
        </p:spPr>
        <p:txBody>
          <a:bodyPr wrap="square" lIns="0" tIns="0" rIns="0" bIns="0" anchor="t">
            <a:spAutoFit/>
          </a:bodyPr>
          <a:lstStyle/>
          <a:p>
            <a:pPr algn="l">
              <a:spcAft>
                <a:spcPts val="600"/>
              </a:spcAft>
            </a:pPr>
            <a:r>
              <a:rPr sz="2196" b="0">
                <a:solidFill>
                  <a:srgbClr val="112C16"/>
                </a:solidFill>
                <a:latin typeface="Calibri"/>
              </a:rPr>
              <a:t>Two variables: categorical vs numerical group means, and numerical vs numerical correlation</a:t>
            </a:r>
          </a:p>
        </p:txBody>
      </p:sp>
      <p:sp>
        <p:nvSpPr>
          <p:cNvPr id="366" name="Rounded Rectangle 365"/>
          <p:cNvSpPr/>
          <p:nvPr/>
        </p:nvSpPr>
        <p:spPr>
          <a:xfrm>
            <a:off x="12070080" y="3749039"/>
            <a:ext cx="5029200" cy="329184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TextBox 366"/>
          <p:cNvSpPr txBox="1"/>
          <p:nvPr/>
        </p:nvSpPr>
        <p:spPr>
          <a:xfrm>
            <a:off x="12344400" y="3931920"/>
            <a:ext cx="4480560" cy="457200"/>
          </a:xfrm>
          <a:prstGeom prst="rect">
            <a:avLst/>
          </a:prstGeom>
          <a:noFill/>
        </p:spPr>
        <p:txBody>
          <a:bodyPr wrap="square" lIns="0" tIns="0" rIns="0" bIns="0" anchor="t">
            <a:spAutoFit/>
          </a:bodyPr>
          <a:lstStyle/>
          <a:p>
            <a:pPr algn="l">
              <a:spcAft>
                <a:spcPts val="600"/>
              </a:spcAft>
            </a:pPr>
            <a:r>
              <a:rPr sz="3172" b="1">
                <a:solidFill>
                  <a:srgbClr val="112C16"/>
                </a:solidFill>
                <a:latin typeface="Calibri"/>
              </a:rPr>
              <a:t>Multivariate</a:t>
            </a:r>
          </a:p>
        </p:txBody>
      </p:sp>
      <p:sp>
        <p:nvSpPr>
          <p:cNvPr id="368" name="TextBox 367"/>
          <p:cNvSpPr txBox="1"/>
          <p:nvPr/>
        </p:nvSpPr>
        <p:spPr>
          <a:xfrm>
            <a:off x="12344400" y="4526279"/>
            <a:ext cx="4480560" cy="2377440"/>
          </a:xfrm>
          <a:prstGeom prst="rect">
            <a:avLst/>
          </a:prstGeom>
          <a:noFill/>
        </p:spPr>
        <p:txBody>
          <a:bodyPr wrap="square" lIns="0" tIns="0" rIns="0" bIns="0" anchor="t">
            <a:spAutoFit/>
          </a:bodyPr>
          <a:lstStyle/>
          <a:p>
            <a:pPr algn="l">
              <a:spcAft>
                <a:spcPts val="600"/>
              </a:spcAft>
            </a:pPr>
            <a:r>
              <a:rPr sz="2196" b="0">
                <a:solidFill>
                  <a:srgbClr val="112C16"/>
                </a:solidFill>
                <a:latin typeface="Calibri"/>
              </a:rPr>
              <a:t>Three or more variables: pivot tables and multi-measure groupby summaries</a:t>
            </a:r>
          </a:p>
        </p:txBody>
      </p:sp>
      <p:sp>
        <p:nvSpPr>
          <p:cNvPr id="369" name="Rounded Rectangle 368"/>
          <p:cNvSpPr/>
          <p:nvPr/>
        </p:nvSpPr>
        <p:spPr>
          <a:xfrm>
            <a:off x="1371600" y="7498079"/>
            <a:ext cx="3749039" cy="201168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TextBox 369"/>
          <p:cNvSpPr txBox="1"/>
          <p:nvPr/>
        </p:nvSpPr>
        <p:spPr>
          <a:xfrm>
            <a:off x="1554480" y="7680959"/>
            <a:ext cx="3383279" cy="100584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9</a:t>
            </a:r>
          </a:p>
        </p:txBody>
      </p:sp>
      <p:sp>
        <p:nvSpPr>
          <p:cNvPr id="371" name="TextBox 370"/>
          <p:cNvSpPr txBox="1"/>
          <p:nvPr/>
        </p:nvSpPr>
        <p:spPr>
          <a:xfrm>
            <a:off x="1554480" y="8664854"/>
            <a:ext cx="3383279" cy="764438"/>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Categorical variables profiled</a:t>
            </a:r>
          </a:p>
        </p:txBody>
      </p:sp>
      <p:sp>
        <p:nvSpPr>
          <p:cNvPr id="372" name="Rounded Rectangle 371"/>
          <p:cNvSpPr/>
          <p:nvPr/>
        </p:nvSpPr>
        <p:spPr>
          <a:xfrm>
            <a:off x="5394960" y="7498079"/>
            <a:ext cx="3749039" cy="201168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TextBox 372"/>
          <p:cNvSpPr txBox="1"/>
          <p:nvPr/>
        </p:nvSpPr>
        <p:spPr>
          <a:xfrm>
            <a:off x="5577840" y="7680959"/>
            <a:ext cx="3383279" cy="100584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5</a:t>
            </a:r>
          </a:p>
        </p:txBody>
      </p:sp>
      <p:sp>
        <p:nvSpPr>
          <p:cNvPr id="374" name="TextBox 373"/>
          <p:cNvSpPr txBox="1"/>
          <p:nvPr/>
        </p:nvSpPr>
        <p:spPr>
          <a:xfrm>
            <a:off x="5577840" y="8664854"/>
            <a:ext cx="3383279" cy="764438"/>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Groupby summaries</a:t>
            </a:r>
          </a:p>
        </p:txBody>
      </p:sp>
      <p:sp>
        <p:nvSpPr>
          <p:cNvPr id="375" name="Rounded Rectangle 374"/>
          <p:cNvSpPr/>
          <p:nvPr/>
        </p:nvSpPr>
        <p:spPr>
          <a:xfrm>
            <a:off x="9418320" y="7498079"/>
            <a:ext cx="3749039" cy="201168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TextBox 375"/>
          <p:cNvSpPr txBox="1"/>
          <p:nvPr/>
        </p:nvSpPr>
        <p:spPr>
          <a:xfrm>
            <a:off x="9601200" y="7680959"/>
            <a:ext cx="3383279" cy="100584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5</a:t>
            </a:r>
          </a:p>
        </p:txBody>
      </p:sp>
      <p:sp>
        <p:nvSpPr>
          <p:cNvPr id="377" name="TextBox 376"/>
          <p:cNvSpPr txBox="1"/>
          <p:nvPr/>
        </p:nvSpPr>
        <p:spPr>
          <a:xfrm>
            <a:off x="9601200" y="8664854"/>
            <a:ext cx="3383279" cy="764438"/>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Pivot tables</a:t>
            </a:r>
          </a:p>
        </p:txBody>
      </p:sp>
      <p:sp>
        <p:nvSpPr>
          <p:cNvPr id="378" name="Rounded Rectangle 377"/>
          <p:cNvSpPr/>
          <p:nvPr/>
        </p:nvSpPr>
        <p:spPr>
          <a:xfrm>
            <a:off x="13441680" y="7498079"/>
            <a:ext cx="3749039" cy="201168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TextBox 378"/>
          <p:cNvSpPr txBox="1"/>
          <p:nvPr/>
        </p:nvSpPr>
        <p:spPr>
          <a:xfrm>
            <a:off x="13624560" y="7680959"/>
            <a:ext cx="3383279" cy="100584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12</a:t>
            </a:r>
          </a:p>
        </p:txBody>
      </p:sp>
      <p:sp>
        <p:nvSpPr>
          <p:cNvPr id="380" name="TextBox 379"/>
          <p:cNvSpPr txBox="1"/>
          <p:nvPr/>
        </p:nvSpPr>
        <p:spPr>
          <a:xfrm>
            <a:off x="13624560" y="8664854"/>
            <a:ext cx="3383279" cy="764438"/>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Variables in correlation matrix</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Univariate Analysis</a:t>
            </a:r>
            <a:endParaRPr lang="en-US" sz="6400" b="0" strike="noStrike" spc="-1">
              <a:solidFill>
                <a:srgbClr val="000000"/>
              </a:solidFill>
              <a:latin typeface="Arial"/>
            </a:endParaRPr>
          </a:p>
        </p:txBody>
      </p:sp>
      <p:sp>
        <p:nvSpPr>
          <p:cNvPr id="360" name="Rounded Rectangle 359"/>
          <p:cNvSpPr/>
          <p:nvPr/>
        </p:nvSpPr>
        <p:spPr>
          <a:xfrm>
            <a:off x="10424160" y="2743200"/>
            <a:ext cx="6675120" cy="676656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TextBox 360"/>
          <p:cNvSpPr txBox="1"/>
          <p:nvPr/>
        </p:nvSpPr>
        <p:spPr>
          <a:xfrm>
            <a:off x="10698480" y="3414227"/>
            <a:ext cx="6126480" cy="488147"/>
          </a:xfrm>
          <a:prstGeom prst="rect">
            <a:avLst/>
          </a:prstGeom>
          <a:noFill/>
        </p:spPr>
        <p:txBody>
          <a:bodyPr wrap="square" lIns="0" tIns="0" rIns="0" bIns="0" anchor="t">
            <a:spAutoFit/>
          </a:bodyPr>
          <a:lstStyle/>
          <a:p>
            <a:pPr algn="ctr">
              <a:spcAft>
                <a:spcPts val="600"/>
              </a:spcAft>
            </a:pPr>
            <a:r>
              <a:rPr sz="3172" b="1" dirty="0">
                <a:solidFill>
                  <a:srgbClr val="112C16"/>
                </a:solidFill>
                <a:latin typeface="Calibri"/>
              </a:rPr>
              <a:t>Key Takeaways</a:t>
            </a:r>
          </a:p>
        </p:txBody>
      </p:sp>
      <p:sp>
        <p:nvSpPr>
          <p:cNvPr id="362" name="TextBox 361"/>
          <p:cNvSpPr txBox="1"/>
          <p:nvPr/>
        </p:nvSpPr>
        <p:spPr>
          <a:xfrm>
            <a:off x="10698480" y="3912827"/>
            <a:ext cx="6126480" cy="3839000"/>
          </a:xfrm>
          <a:prstGeom prst="rect">
            <a:avLst/>
          </a:prstGeom>
          <a:noFill/>
        </p:spPr>
        <p:txBody>
          <a:bodyPr wrap="square" lIns="0" tIns="0" rIns="0" bIns="0" anchor="t">
            <a:spAutoFit/>
          </a:bodyPr>
          <a:lstStyle/>
          <a:p>
            <a:pPr marL="457200" indent="-457200" algn="l">
              <a:spcAft>
                <a:spcPts val="600"/>
              </a:spcAft>
              <a:buFont typeface="Wingdings" panose="05000000000000000000" pitchFamily="2" charset="2"/>
              <a:buChar char="ü"/>
            </a:pPr>
            <a:endParaRPr lang="en-US" sz="2806" dirty="0">
              <a:solidFill>
                <a:srgbClr val="112C16"/>
              </a:solidFill>
              <a:latin typeface="Calibri"/>
            </a:endParaRPr>
          </a:p>
          <a:p>
            <a:pPr marL="457200" indent="-457200" algn="l">
              <a:spcAft>
                <a:spcPts val="600"/>
              </a:spcAft>
              <a:buFont typeface="Wingdings" panose="05000000000000000000" pitchFamily="2" charset="2"/>
              <a:buChar char="ü"/>
            </a:pPr>
            <a:r>
              <a:rPr sz="2806" b="0" dirty="0">
                <a:solidFill>
                  <a:srgbClr val="112C16"/>
                </a:solidFill>
                <a:latin typeface="Calibri"/>
              </a:rPr>
              <a:t>Gender and departments are evenly balanced</a:t>
            </a:r>
          </a:p>
          <a:p>
            <a:pPr marL="457200" indent="-457200" algn="l">
              <a:spcAft>
                <a:spcPts val="600"/>
              </a:spcAft>
              <a:buFont typeface="Wingdings" panose="05000000000000000000" pitchFamily="2" charset="2"/>
              <a:buChar char="ü"/>
            </a:pPr>
            <a:r>
              <a:rPr sz="2806" b="0" dirty="0">
                <a:solidFill>
                  <a:srgbClr val="112C16"/>
                </a:solidFill>
                <a:latin typeface="Calibri"/>
              </a:rPr>
              <a:t>Most students earn C or D; A is rare (0.32%)</a:t>
            </a:r>
          </a:p>
          <a:p>
            <a:pPr marL="457200" indent="-457200" algn="l">
              <a:spcAft>
                <a:spcPts val="600"/>
              </a:spcAft>
              <a:buFont typeface="Wingdings" panose="05000000000000000000" pitchFamily="2" charset="2"/>
              <a:buChar char="ü"/>
            </a:pPr>
            <a:r>
              <a:rPr sz="2806" b="0" dirty="0">
                <a:solidFill>
                  <a:srgbClr val="112C16"/>
                </a:solidFill>
                <a:latin typeface="Calibri"/>
              </a:rPr>
              <a:t>70% </a:t>
            </a:r>
            <a:r>
              <a:rPr lang="en-US" sz="2806" dirty="0">
                <a:solidFill>
                  <a:srgbClr val="112C16"/>
                </a:solidFill>
                <a:latin typeface="Calibri"/>
              </a:rPr>
              <a:t>students- </a:t>
            </a:r>
            <a:r>
              <a:rPr sz="2806" b="0" dirty="0">
                <a:solidFill>
                  <a:srgbClr val="112C16"/>
                </a:solidFill>
                <a:latin typeface="Calibri"/>
              </a:rPr>
              <a:t>moderate or high stress</a:t>
            </a:r>
          </a:p>
          <a:p>
            <a:pPr marL="457200" indent="-457200" algn="l">
              <a:spcAft>
                <a:spcPts val="600"/>
              </a:spcAft>
              <a:buFont typeface="Wingdings" panose="05000000000000000000" pitchFamily="2" charset="2"/>
              <a:buChar char="ü"/>
            </a:pPr>
            <a:r>
              <a:rPr sz="2806" b="0" dirty="0">
                <a:solidFill>
                  <a:srgbClr val="112C16"/>
                </a:solidFill>
                <a:latin typeface="Calibri"/>
              </a:rPr>
              <a:t>1 in 5 students sleeps poorly</a:t>
            </a:r>
          </a:p>
          <a:p>
            <a:pPr marL="457200" indent="-457200" algn="l">
              <a:spcAft>
                <a:spcPts val="600"/>
              </a:spcAft>
              <a:buFont typeface="Wingdings" panose="05000000000000000000" pitchFamily="2" charset="2"/>
              <a:buChar char="ü"/>
            </a:pPr>
            <a:r>
              <a:rPr sz="2806" b="0" dirty="0">
                <a:solidFill>
                  <a:srgbClr val="112C16"/>
                </a:solidFill>
                <a:latin typeface="Calibri"/>
              </a:rPr>
              <a:t>Total Score is consistent</a:t>
            </a:r>
          </a:p>
        </p:txBody>
      </p:sp>
      <p:pic>
        <p:nvPicPr>
          <p:cNvPr id="3" name="Picture 2">
            <a:extLst>
              <a:ext uri="{FF2B5EF4-FFF2-40B4-BE49-F238E27FC236}">
                <a16:creationId xmlns:a16="http://schemas.microsoft.com/office/drawing/2014/main" id="{FC145A2E-5A0D-F706-BF41-0A5D4A3793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062" y="2743200"/>
            <a:ext cx="9530778" cy="67665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Bivariate Analysis</a:t>
            </a:r>
            <a:endParaRPr lang="en-US" sz="6400" b="0" strike="noStrike" spc="-1">
              <a:solidFill>
                <a:srgbClr val="000000"/>
              </a:solidFill>
              <a:latin typeface="Arial"/>
            </a:endParaRPr>
          </a:p>
        </p:txBody>
      </p:sp>
      <p:sp>
        <p:nvSpPr>
          <p:cNvPr id="361" name="Rounded Rectangle 360"/>
          <p:cNvSpPr/>
          <p:nvPr/>
        </p:nvSpPr>
        <p:spPr>
          <a:xfrm>
            <a:off x="10868660" y="2707460"/>
            <a:ext cx="6675120" cy="660146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TextBox 361"/>
          <p:cNvSpPr txBox="1"/>
          <p:nvPr/>
        </p:nvSpPr>
        <p:spPr>
          <a:xfrm>
            <a:off x="11142980" y="3855680"/>
            <a:ext cx="6126480" cy="5547160"/>
          </a:xfrm>
          <a:prstGeom prst="rect">
            <a:avLst/>
          </a:prstGeom>
          <a:noFill/>
        </p:spPr>
        <p:txBody>
          <a:bodyPr wrap="square" lIns="0" tIns="0" rIns="0" bIns="0" anchor="t">
            <a:spAutoFit/>
          </a:bodyPr>
          <a:lstStyle/>
          <a:p>
            <a:pPr marL="457200" lvl="0" indent="-457200">
              <a:spcAft>
                <a:spcPts val="600"/>
              </a:spcAft>
              <a:buFont typeface="Wingdings" panose="05000000000000000000" pitchFamily="2" charset="2"/>
              <a:buChar char="ü"/>
            </a:pPr>
            <a:r>
              <a:rPr lang="en-IN" sz="2806" dirty="0">
                <a:solidFill>
                  <a:srgbClr val="112C16"/>
                </a:solidFill>
                <a:latin typeface="Calibri"/>
              </a:rPr>
              <a:t>Grade: Average scores drop from A (91.3) to F (57.6).</a:t>
            </a:r>
          </a:p>
          <a:p>
            <a:pPr marL="457200" lvl="0" indent="-457200">
              <a:spcAft>
                <a:spcPts val="600"/>
              </a:spcAft>
              <a:buFont typeface="Wingdings" panose="05000000000000000000" pitchFamily="2" charset="2"/>
              <a:buChar char="ü"/>
            </a:pPr>
            <a:r>
              <a:rPr lang="en-IN" sz="2806" dirty="0">
                <a:solidFill>
                  <a:srgbClr val="112C16"/>
                </a:solidFill>
                <a:latin typeface="Calibri"/>
              </a:rPr>
              <a:t>Department &amp; Gender: Average scores are nearly identical.</a:t>
            </a:r>
          </a:p>
          <a:p>
            <a:pPr marL="457200" lvl="0" indent="-457200">
              <a:spcAft>
                <a:spcPts val="600"/>
              </a:spcAft>
              <a:buFont typeface="Wingdings" panose="05000000000000000000" pitchFamily="2" charset="2"/>
              <a:buChar char="ü"/>
            </a:pPr>
            <a:r>
              <a:rPr lang="en-IN" sz="2806" dirty="0">
                <a:solidFill>
                  <a:srgbClr val="112C16"/>
                </a:solidFill>
                <a:latin typeface="Calibri"/>
              </a:rPr>
              <a:t>Family Background: Parent education and income have little impact on average scores.</a:t>
            </a:r>
          </a:p>
          <a:p>
            <a:pPr marL="457200" lvl="0" indent="-457200">
              <a:spcAft>
                <a:spcPts val="600"/>
              </a:spcAft>
              <a:buFont typeface="Wingdings" panose="05000000000000000000" pitchFamily="2" charset="2"/>
              <a:buChar char="ü"/>
            </a:pPr>
            <a:r>
              <a:rPr lang="en-IN" sz="2806" dirty="0">
                <a:solidFill>
                  <a:srgbClr val="112C16"/>
                </a:solidFill>
                <a:latin typeface="Calibri"/>
              </a:rPr>
              <a:t>Attendance &amp; Study Hours: Almost no correlation with scores.</a:t>
            </a:r>
          </a:p>
          <a:p>
            <a:pPr marL="457200" lvl="0" indent="-457200">
              <a:spcAft>
                <a:spcPts val="600"/>
              </a:spcAft>
              <a:buFont typeface="Wingdings" panose="05000000000000000000" pitchFamily="2" charset="2"/>
              <a:buChar char="ü"/>
            </a:pPr>
            <a:r>
              <a:rPr lang="en-IN" sz="2806" dirty="0">
                <a:solidFill>
                  <a:srgbClr val="112C16"/>
                </a:solidFill>
                <a:latin typeface="Calibri"/>
              </a:rPr>
              <a:t>Stress &amp; Sleep: Small differences across performance groups</a:t>
            </a:r>
          </a:p>
          <a:p>
            <a:pPr algn="l">
              <a:spcAft>
                <a:spcPts val="600"/>
              </a:spcAft>
            </a:pPr>
            <a:endParaRPr sz="2000" b="0" dirty="0">
              <a:solidFill>
                <a:srgbClr val="112C16"/>
              </a:solidFill>
              <a:latin typeface="Calibri"/>
            </a:endParaRPr>
          </a:p>
        </p:txBody>
      </p:sp>
      <p:sp>
        <p:nvSpPr>
          <p:cNvPr id="3" name="TextBox 2">
            <a:extLst>
              <a:ext uri="{FF2B5EF4-FFF2-40B4-BE49-F238E27FC236}">
                <a16:creationId xmlns:a16="http://schemas.microsoft.com/office/drawing/2014/main" id="{C09174F7-B1C0-B160-7F86-C72EF351AC5A}"/>
              </a:ext>
            </a:extLst>
          </p:cNvPr>
          <p:cNvSpPr txBox="1"/>
          <p:nvPr/>
        </p:nvSpPr>
        <p:spPr>
          <a:xfrm>
            <a:off x="11142980" y="3037497"/>
            <a:ext cx="6126480" cy="488147"/>
          </a:xfrm>
          <a:prstGeom prst="rect">
            <a:avLst/>
          </a:prstGeom>
          <a:noFill/>
        </p:spPr>
        <p:txBody>
          <a:bodyPr wrap="square" lIns="0" tIns="0" rIns="0" bIns="0" anchor="t">
            <a:spAutoFit/>
          </a:bodyPr>
          <a:lstStyle/>
          <a:p>
            <a:pPr algn="ctr">
              <a:spcAft>
                <a:spcPts val="600"/>
              </a:spcAft>
            </a:pPr>
            <a:r>
              <a:rPr sz="3172" b="1" dirty="0">
                <a:solidFill>
                  <a:srgbClr val="112C16"/>
                </a:solidFill>
                <a:latin typeface="Calibri"/>
              </a:rPr>
              <a:t>Key Takeaways</a:t>
            </a:r>
          </a:p>
        </p:txBody>
      </p:sp>
      <p:pic>
        <p:nvPicPr>
          <p:cNvPr id="7" name="Picture 6">
            <a:extLst>
              <a:ext uri="{FF2B5EF4-FFF2-40B4-BE49-F238E27FC236}">
                <a16:creationId xmlns:a16="http://schemas.microsoft.com/office/drawing/2014/main" id="{0D5DAE46-1CA2-69A0-C8F2-4607A826A3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795" y="2522283"/>
            <a:ext cx="10444684" cy="673583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Multivariate Analysis</a:t>
            </a:r>
            <a:endParaRPr lang="en-US" sz="6400" b="0" strike="noStrike" spc="-1">
              <a:solidFill>
                <a:srgbClr val="000000"/>
              </a:solidFill>
              <a:latin typeface="Arial"/>
            </a:endParaRPr>
          </a:p>
        </p:txBody>
      </p:sp>
      <p:sp>
        <p:nvSpPr>
          <p:cNvPr id="363" name="Rounded Rectangle 362"/>
          <p:cNvSpPr/>
          <p:nvPr/>
        </p:nvSpPr>
        <p:spPr>
          <a:xfrm>
            <a:off x="10604500" y="2578100"/>
            <a:ext cx="6774179" cy="704850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TextBox 363"/>
          <p:cNvSpPr txBox="1"/>
          <p:nvPr/>
        </p:nvSpPr>
        <p:spPr>
          <a:xfrm>
            <a:off x="10746829" y="3988077"/>
            <a:ext cx="6489520" cy="2667653"/>
          </a:xfrm>
          <a:prstGeom prst="rect">
            <a:avLst/>
          </a:prstGeom>
          <a:noFill/>
        </p:spPr>
        <p:txBody>
          <a:bodyPr wrap="square" lIns="0" tIns="0" rIns="0" bIns="0" anchor="t">
            <a:spAutoFit/>
          </a:bodyPr>
          <a:lstStyle/>
          <a:p>
            <a:pPr marL="457200" indent="-457200">
              <a:spcAft>
                <a:spcPts val="600"/>
              </a:spcAft>
              <a:buFont typeface="Wingdings" panose="05000000000000000000" pitchFamily="2" charset="2"/>
              <a:buChar char="ü"/>
            </a:pPr>
            <a:r>
              <a:rPr lang="en-IN" sz="2806" dirty="0">
                <a:solidFill>
                  <a:srgbClr val="112C16"/>
                </a:solidFill>
                <a:latin typeface="Calibri"/>
              </a:rPr>
              <a:t>Overall: Department, gender, stress, and sleep have little effect on scores in this dataset </a:t>
            </a:r>
          </a:p>
          <a:p>
            <a:pPr marL="457200" indent="-457200">
              <a:spcAft>
                <a:spcPts val="600"/>
              </a:spcAft>
              <a:buFont typeface="Wingdings" panose="05000000000000000000" pitchFamily="2" charset="2"/>
              <a:buChar char="ü"/>
            </a:pPr>
            <a:r>
              <a:rPr lang="en-IN" sz="2806" dirty="0">
                <a:solidFill>
                  <a:srgbClr val="112C16"/>
                </a:solidFill>
                <a:latin typeface="Calibri"/>
              </a:rPr>
              <a:t>Excellent group: Only 16 students are in this group, so their results should be interpreted carefully</a:t>
            </a:r>
            <a:endParaRPr lang="en-IN" sz="2800" dirty="0"/>
          </a:p>
        </p:txBody>
      </p:sp>
      <p:pic>
        <p:nvPicPr>
          <p:cNvPr id="5" name="Picture 4">
            <a:extLst>
              <a:ext uri="{FF2B5EF4-FFF2-40B4-BE49-F238E27FC236}">
                <a16:creationId xmlns:a16="http://schemas.microsoft.com/office/drawing/2014/main" id="{7884EF23-EEB4-6274-9097-71BF544769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79700"/>
            <a:ext cx="10350500" cy="7048500"/>
          </a:xfrm>
          <a:prstGeom prst="rect">
            <a:avLst/>
          </a:prstGeom>
        </p:spPr>
      </p:pic>
      <p:sp>
        <p:nvSpPr>
          <p:cNvPr id="7" name="TextBox 6">
            <a:extLst>
              <a:ext uri="{FF2B5EF4-FFF2-40B4-BE49-F238E27FC236}">
                <a16:creationId xmlns:a16="http://schemas.microsoft.com/office/drawing/2014/main" id="{DA8BB635-C57F-0D9B-E431-385998A10DAE}"/>
              </a:ext>
            </a:extLst>
          </p:cNvPr>
          <p:cNvSpPr txBox="1"/>
          <p:nvPr/>
        </p:nvSpPr>
        <p:spPr>
          <a:xfrm>
            <a:off x="10928349" y="2824726"/>
            <a:ext cx="6126480" cy="488147"/>
          </a:xfrm>
          <a:prstGeom prst="rect">
            <a:avLst/>
          </a:prstGeom>
          <a:noFill/>
        </p:spPr>
        <p:txBody>
          <a:bodyPr wrap="square" lIns="0" tIns="0" rIns="0" bIns="0" anchor="t">
            <a:spAutoFit/>
          </a:bodyPr>
          <a:lstStyle/>
          <a:p>
            <a:pPr algn="ctr">
              <a:spcAft>
                <a:spcPts val="600"/>
              </a:spcAft>
            </a:pPr>
            <a:r>
              <a:rPr sz="3172" b="1" dirty="0">
                <a:solidFill>
                  <a:srgbClr val="112C16"/>
                </a:solidFill>
                <a:latin typeface="Calibri"/>
              </a:rPr>
              <a:t>Key Takeaways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Statistical Summary</a:t>
            </a:r>
            <a:endParaRPr lang="en-US" sz="6400" b="0" strike="noStrike" spc="-1">
              <a:solidFill>
                <a:srgbClr val="000000"/>
              </a:solidFill>
              <a:latin typeface="Arial"/>
            </a:endParaRPr>
          </a:p>
        </p:txBody>
      </p:sp>
      <p:sp>
        <p:nvSpPr>
          <p:cNvPr id="360" name="Rounded Rectangle 359"/>
          <p:cNvSpPr/>
          <p:nvPr/>
        </p:nvSpPr>
        <p:spPr>
          <a:xfrm>
            <a:off x="11247120" y="2743200"/>
            <a:ext cx="2880360" cy="210312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TextBox 360"/>
          <p:cNvSpPr txBox="1"/>
          <p:nvPr/>
        </p:nvSpPr>
        <p:spPr>
          <a:xfrm>
            <a:off x="11430000" y="2926080"/>
            <a:ext cx="2514600" cy="105156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10.18</a:t>
            </a:r>
          </a:p>
        </p:txBody>
      </p:sp>
      <p:sp>
        <p:nvSpPr>
          <p:cNvPr id="362" name="TextBox 361"/>
          <p:cNvSpPr txBox="1"/>
          <p:nvPr/>
        </p:nvSpPr>
        <p:spPr>
          <a:xfrm>
            <a:off x="11430000" y="3963009"/>
            <a:ext cx="2514600" cy="799185"/>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IQR of Total Score</a:t>
            </a:r>
          </a:p>
        </p:txBody>
      </p:sp>
      <p:sp>
        <p:nvSpPr>
          <p:cNvPr id="363" name="Rounded Rectangle 362"/>
          <p:cNvSpPr/>
          <p:nvPr/>
        </p:nvSpPr>
        <p:spPr>
          <a:xfrm>
            <a:off x="14218920" y="2743200"/>
            <a:ext cx="2880360" cy="210312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TextBox 363"/>
          <p:cNvSpPr txBox="1"/>
          <p:nvPr/>
        </p:nvSpPr>
        <p:spPr>
          <a:xfrm>
            <a:off x="14401800" y="2926080"/>
            <a:ext cx="2514600" cy="105156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4</a:t>
            </a:r>
          </a:p>
        </p:txBody>
      </p:sp>
      <p:sp>
        <p:nvSpPr>
          <p:cNvPr id="365" name="TextBox 364"/>
          <p:cNvSpPr txBox="1"/>
          <p:nvPr/>
        </p:nvSpPr>
        <p:spPr>
          <a:xfrm>
            <a:off x="14401800" y="3963009"/>
            <a:ext cx="2514600" cy="799185"/>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IQR outliers, all retained</a:t>
            </a:r>
          </a:p>
        </p:txBody>
      </p:sp>
      <p:sp>
        <p:nvSpPr>
          <p:cNvPr id="366" name="Rounded Rectangle 365"/>
          <p:cNvSpPr/>
          <p:nvPr/>
        </p:nvSpPr>
        <p:spPr>
          <a:xfrm>
            <a:off x="11247120" y="5212080"/>
            <a:ext cx="5852160" cy="420624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TextBox 366"/>
          <p:cNvSpPr txBox="1"/>
          <p:nvPr/>
        </p:nvSpPr>
        <p:spPr>
          <a:xfrm>
            <a:off x="11521440" y="5394960"/>
            <a:ext cx="5303520" cy="413062"/>
          </a:xfrm>
          <a:prstGeom prst="rect">
            <a:avLst/>
          </a:prstGeom>
          <a:noFill/>
        </p:spPr>
        <p:txBody>
          <a:bodyPr wrap="square" lIns="0" tIns="0" rIns="0" bIns="0" anchor="t">
            <a:spAutoFit/>
          </a:bodyPr>
          <a:lstStyle/>
          <a:p>
            <a:pPr algn="ctr">
              <a:spcAft>
                <a:spcPts val="600"/>
              </a:spcAft>
            </a:pPr>
            <a:r>
              <a:rPr sz="2684" b="1" dirty="0">
                <a:solidFill>
                  <a:srgbClr val="112C16"/>
                </a:solidFill>
                <a:latin typeface="Calibri"/>
              </a:rPr>
              <a:t>Key Takeaways</a:t>
            </a:r>
          </a:p>
        </p:txBody>
      </p:sp>
      <p:sp>
        <p:nvSpPr>
          <p:cNvPr id="368" name="TextBox 367"/>
          <p:cNvSpPr txBox="1"/>
          <p:nvPr/>
        </p:nvSpPr>
        <p:spPr>
          <a:xfrm>
            <a:off x="11430000" y="5990902"/>
            <a:ext cx="5486400" cy="3385542"/>
          </a:xfrm>
          <a:prstGeom prst="rect">
            <a:avLst/>
          </a:prstGeom>
          <a:noFill/>
        </p:spPr>
        <p:txBody>
          <a:bodyPr wrap="square" lIns="0" tIns="0" rIns="0" bIns="0" anchor="t">
            <a:spAutoFit/>
          </a:bodyPr>
          <a:lstStyle/>
          <a:p>
            <a:pPr marL="457200" indent="-457200">
              <a:spcAft>
                <a:spcPts val="600"/>
              </a:spcAft>
              <a:buFont typeface="Wingdings" panose="05000000000000000000" pitchFamily="2" charset="2"/>
              <a:buChar char="ü"/>
            </a:pPr>
            <a:r>
              <a:rPr sz="2500" dirty="0">
                <a:solidFill>
                  <a:srgbClr val="112C16"/>
                </a:solidFill>
                <a:latin typeface="Calibri"/>
              </a:rPr>
              <a:t>Mean and median are almost the same</a:t>
            </a:r>
          </a:p>
          <a:p>
            <a:pPr marL="457200" indent="-457200">
              <a:spcAft>
                <a:spcPts val="600"/>
              </a:spcAft>
              <a:buFont typeface="Wingdings" panose="05000000000000000000" pitchFamily="2" charset="2"/>
              <a:buChar char="ü"/>
            </a:pPr>
            <a:r>
              <a:rPr sz="2500" dirty="0">
                <a:solidFill>
                  <a:srgbClr val="112C16"/>
                </a:solidFill>
                <a:latin typeface="Calibri"/>
              </a:rPr>
              <a:t>Assignments, quizzes, and projects average around 75</a:t>
            </a:r>
          </a:p>
          <a:p>
            <a:pPr marL="457200" indent="-457200">
              <a:spcAft>
                <a:spcPts val="600"/>
              </a:spcAft>
              <a:buFont typeface="Wingdings" panose="05000000000000000000" pitchFamily="2" charset="2"/>
              <a:buChar char="ü"/>
            </a:pPr>
            <a:r>
              <a:rPr sz="2500" dirty="0">
                <a:solidFill>
                  <a:srgbClr val="112C16"/>
                </a:solidFill>
                <a:latin typeface="Calibri"/>
              </a:rPr>
              <a:t>Total Score has the least variation</a:t>
            </a:r>
          </a:p>
          <a:p>
            <a:pPr marL="457200" indent="-457200">
              <a:spcAft>
                <a:spcPts val="600"/>
              </a:spcAft>
              <a:buFont typeface="Wingdings" panose="05000000000000000000" pitchFamily="2" charset="2"/>
              <a:buChar char="ü"/>
            </a:pPr>
            <a:r>
              <a:rPr sz="2500" dirty="0">
                <a:solidFill>
                  <a:srgbClr val="112C16"/>
                </a:solidFill>
                <a:latin typeface="Calibri"/>
              </a:rPr>
              <a:t>Participation has the most variation</a:t>
            </a:r>
          </a:p>
          <a:p>
            <a:pPr marL="457200" indent="-457200">
              <a:spcAft>
                <a:spcPts val="600"/>
              </a:spcAft>
              <a:buFont typeface="Wingdings" panose="05000000000000000000" pitchFamily="2" charset="2"/>
              <a:buChar char="ü"/>
            </a:pPr>
            <a:r>
              <a:rPr sz="2500" dirty="0">
                <a:solidFill>
                  <a:srgbClr val="112C16"/>
                </a:solidFill>
                <a:latin typeface="Calibri"/>
              </a:rPr>
              <a:t>Behavior</a:t>
            </a:r>
            <a:r>
              <a:rPr lang="en-US" sz="2500" dirty="0">
                <a:solidFill>
                  <a:srgbClr val="112C16"/>
                </a:solidFill>
                <a:latin typeface="Calibri"/>
              </a:rPr>
              <a:t>al factors</a:t>
            </a:r>
            <a:r>
              <a:rPr sz="2500" dirty="0">
                <a:solidFill>
                  <a:srgbClr val="112C16"/>
                </a:solidFill>
                <a:latin typeface="Calibri"/>
              </a:rPr>
              <a:t> varies more than academic </a:t>
            </a:r>
            <a:r>
              <a:rPr lang="en-US" sz="2500" dirty="0">
                <a:solidFill>
                  <a:srgbClr val="112C16"/>
                </a:solidFill>
                <a:latin typeface="Calibri"/>
              </a:rPr>
              <a:t>factors</a:t>
            </a:r>
            <a:endParaRPr sz="2500" b="0" dirty="0">
              <a:solidFill>
                <a:srgbClr val="112C16"/>
              </a:solidFill>
              <a:latin typeface="Calibri"/>
            </a:endParaRPr>
          </a:p>
        </p:txBody>
      </p:sp>
      <p:pic>
        <p:nvPicPr>
          <p:cNvPr id="3" name="Picture 2">
            <a:extLst>
              <a:ext uri="{FF2B5EF4-FFF2-40B4-BE49-F238E27FC236}">
                <a16:creationId xmlns:a16="http://schemas.microsoft.com/office/drawing/2014/main" id="{9B5D8B85-C1ED-B918-3C4A-53CC00ACA418}"/>
              </a:ext>
            </a:extLst>
          </p:cNvPr>
          <p:cNvPicPr>
            <a:picLocks noChangeAspect="1"/>
          </p:cNvPicPr>
          <p:nvPr/>
        </p:nvPicPr>
        <p:blipFill>
          <a:blip r:embed="rId2">
            <a:extLst>
              <a:ext uri="{28A0092B-C50C-407E-A947-70E740481C1C}">
                <a14:useLocalDpi xmlns:a14="http://schemas.microsoft.com/office/drawing/2010/main" val="0"/>
              </a:ext>
            </a:extLst>
          </a:blip>
          <a:srcRect l="4164" t="7264" r="32638"/>
          <a:stretch>
            <a:fillRect/>
          </a:stretch>
        </p:blipFill>
        <p:spPr>
          <a:xfrm>
            <a:off x="1069049" y="2500972"/>
            <a:ext cx="9687851" cy="760822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Correlation Analysis</a:t>
            </a:r>
            <a:endParaRPr lang="en-US" sz="6400" b="0" strike="noStrike" spc="-1">
              <a:solidFill>
                <a:srgbClr val="000000"/>
              </a:solidFill>
              <a:latin typeface="Arial"/>
            </a:endParaRPr>
          </a:p>
        </p:txBody>
      </p:sp>
      <p:sp>
        <p:nvSpPr>
          <p:cNvPr id="360" name="Rounded Rectangle 359"/>
          <p:cNvSpPr/>
          <p:nvPr/>
        </p:nvSpPr>
        <p:spPr>
          <a:xfrm>
            <a:off x="11887200" y="2743199"/>
            <a:ext cx="5212080" cy="7061853"/>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TextBox 360"/>
          <p:cNvSpPr txBox="1"/>
          <p:nvPr/>
        </p:nvSpPr>
        <p:spPr>
          <a:xfrm>
            <a:off x="12161520" y="3297404"/>
            <a:ext cx="4663440" cy="457200"/>
          </a:xfrm>
          <a:prstGeom prst="rect">
            <a:avLst/>
          </a:prstGeom>
          <a:noFill/>
        </p:spPr>
        <p:txBody>
          <a:bodyPr wrap="square" lIns="0" tIns="0" rIns="0" bIns="0" anchor="t">
            <a:spAutoFit/>
          </a:bodyPr>
          <a:lstStyle/>
          <a:p>
            <a:pPr algn="ctr">
              <a:spcAft>
                <a:spcPts val="600"/>
              </a:spcAft>
            </a:pPr>
            <a:r>
              <a:rPr sz="2928" b="1" dirty="0">
                <a:solidFill>
                  <a:srgbClr val="112C16"/>
                </a:solidFill>
                <a:latin typeface="Calibri"/>
              </a:rPr>
              <a:t>Key Takeaways</a:t>
            </a:r>
          </a:p>
        </p:txBody>
      </p:sp>
      <p:sp>
        <p:nvSpPr>
          <p:cNvPr id="362" name="TextBox 361"/>
          <p:cNvSpPr txBox="1"/>
          <p:nvPr/>
        </p:nvSpPr>
        <p:spPr>
          <a:xfrm>
            <a:off x="12161520" y="4253203"/>
            <a:ext cx="4663440" cy="4539704"/>
          </a:xfrm>
          <a:prstGeom prst="rect">
            <a:avLst/>
          </a:prstGeom>
          <a:noFill/>
        </p:spPr>
        <p:txBody>
          <a:bodyPr wrap="square" lIns="0" tIns="0" rIns="0" bIns="0" anchor="t">
            <a:spAutoFit/>
          </a:bodyPr>
          <a:lstStyle/>
          <a:p>
            <a:pPr marL="457200" indent="-457200">
              <a:spcAft>
                <a:spcPts val="600"/>
              </a:spcAft>
              <a:buFont typeface="Wingdings" panose="05000000000000000000" pitchFamily="2" charset="2"/>
              <a:buChar char="ü"/>
            </a:pPr>
            <a:r>
              <a:rPr sz="2500" dirty="0">
                <a:solidFill>
                  <a:srgbClr val="112C16"/>
                </a:solidFill>
                <a:latin typeface="Calibri"/>
              </a:rPr>
              <a:t>Projects and Final scores have the strongest link to Total Score</a:t>
            </a:r>
          </a:p>
          <a:p>
            <a:pPr marL="457200" indent="-457200">
              <a:spcAft>
                <a:spcPts val="600"/>
              </a:spcAft>
              <a:buFont typeface="Wingdings" panose="05000000000000000000" pitchFamily="2" charset="2"/>
              <a:buChar char="ü"/>
            </a:pPr>
            <a:r>
              <a:rPr sz="2500" dirty="0">
                <a:solidFill>
                  <a:srgbClr val="112C16"/>
                </a:solidFill>
                <a:latin typeface="Calibri"/>
              </a:rPr>
              <a:t>Midterm and Assignments show a moderate link</a:t>
            </a:r>
          </a:p>
          <a:p>
            <a:pPr marL="457200" indent="-457200">
              <a:spcAft>
                <a:spcPts val="600"/>
              </a:spcAft>
              <a:buFont typeface="Wingdings" panose="05000000000000000000" pitchFamily="2" charset="2"/>
              <a:buChar char="ü"/>
            </a:pPr>
            <a:r>
              <a:rPr sz="2500" dirty="0">
                <a:solidFill>
                  <a:srgbClr val="112C16"/>
                </a:solidFill>
                <a:latin typeface="Calibri"/>
              </a:rPr>
              <a:t>Quizzes and Participation show a weak link</a:t>
            </a:r>
          </a:p>
          <a:p>
            <a:pPr marL="457200" indent="-457200">
              <a:spcAft>
                <a:spcPts val="600"/>
              </a:spcAft>
              <a:buFont typeface="Wingdings" panose="05000000000000000000" pitchFamily="2" charset="2"/>
              <a:buChar char="ü"/>
            </a:pPr>
            <a:r>
              <a:rPr sz="2500" dirty="0">
                <a:solidFill>
                  <a:srgbClr val="112C16"/>
                </a:solidFill>
                <a:latin typeface="Calibri"/>
              </a:rPr>
              <a:t>Attendance, study hours, stress, and age show little link</a:t>
            </a:r>
          </a:p>
          <a:p>
            <a:pPr marL="457200" indent="-457200">
              <a:spcAft>
                <a:spcPts val="600"/>
              </a:spcAft>
              <a:buFont typeface="Wingdings" panose="05000000000000000000" pitchFamily="2" charset="2"/>
              <a:buChar char="ü"/>
            </a:pPr>
            <a:r>
              <a:rPr lang="en-US" sz="2500" dirty="0">
                <a:solidFill>
                  <a:srgbClr val="112C16"/>
                </a:solidFill>
                <a:latin typeface="Calibri"/>
              </a:rPr>
              <a:t>S</a:t>
            </a:r>
            <a:r>
              <a:rPr sz="2500" dirty="0">
                <a:solidFill>
                  <a:srgbClr val="112C16"/>
                </a:solidFill>
                <a:latin typeface="Calibri"/>
              </a:rPr>
              <a:t>cores</a:t>
            </a:r>
            <a:r>
              <a:rPr lang="en-US" sz="2500" dirty="0">
                <a:solidFill>
                  <a:srgbClr val="112C16"/>
                </a:solidFill>
                <a:latin typeface="Calibri"/>
              </a:rPr>
              <a:t> depends</a:t>
            </a:r>
            <a:r>
              <a:rPr sz="2500" dirty="0">
                <a:solidFill>
                  <a:srgbClr val="112C16"/>
                </a:solidFill>
                <a:latin typeface="Calibri"/>
              </a:rPr>
              <a:t> </a:t>
            </a:r>
            <a:r>
              <a:rPr lang="en-IN" sz="2500" dirty="0">
                <a:solidFill>
                  <a:srgbClr val="112C16"/>
                </a:solidFill>
              </a:rPr>
              <a:t>more on Academic assessments </a:t>
            </a:r>
            <a:r>
              <a:rPr sz="2500" dirty="0">
                <a:solidFill>
                  <a:srgbClr val="112C16"/>
                </a:solidFill>
                <a:latin typeface="Calibri"/>
              </a:rPr>
              <a:t>than behavior</a:t>
            </a:r>
            <a:r>
              <a:rPr lang="en-US" sz="2500" dirty="0">
                <a:solidFill>
                  <a:srgbClr val="112C16"/>
                </a:solidFill>
                <a:latin typeface="Calibri"/>
              </a:rPr>
              <a:t>al factors</a:t>
            </a:r>
            <a:endParaRPr sz="2500" dirty="0">
              <a:solidFill>
                <a:srgbClr val="112C16"/>
              </a:solidFill>
              <a:latin typeface="Calibri"/>
            </a:endParaRPr>
          </a:p>
        </p:txBody>
      </p:sp>
      <p:pic>
        <p:nvPicPr>
          <p:cNvPr id="3" name="Picture 2">
            <a:extLst>
              <a:ext uri="{FF2B5EF4-FFF2-40B4-BE49-F238E27FC236}">
                <a16:creationId xmlns:a16="http://schemas.microsoft.com/office/drawing/2014/main" id="{C1AFED3B-99B7-72B7-E904-951541F3E29A}"/>
              </a:ext>
            </a:extLst>
          </p:cNvPr>
          <p:cNvPicPr>
            <a:picLocks noChangeAspect="1"/>
          </p:cNvPicPr>
          <p:nvPr/>
        </p:nvPicPr>
        <p:blipFill>
          <a:blip r:embed="rId2">
            <a:extLst>
              <a:ext uri="{28A0092B-C50C-407E-A947-70E740481C1C}">
                <a14:useLocalDpi xmlns:a14="http://schemas.microsoft.com/office/drawing/2010/main" val="0"/>
              </a:ext>
            </a:extLst>
          </a:blip>
          <a:srcRect l="2844" t="8869" r="32152" b="2570"/>
          <a:stretch>
            <a:fillRect/>
          </a:stretch>
        </p:blipFill>
        <p:spPr>
          <a:xfrm>
            <a:off x="457201" y="2343532"/>
            <a:ext cx="10921999" cy="746152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Visualizations</a:t>
            </a:r>
            <a:endParaRPr lang="en-US" sz="6400" b="0" strike="noStrike" spc="-1">
              <a:solidFill>
                <a:srgbClr val="000000"/>
              </a:solidFill>
              <a:latin typeface="Arial"/>
            </a:endParaRPr>
          </a:p>
        </p:txBody>
      </p:sp>
      <p:sp>
        <p:nvSpPr>
          <p:cNvPr id="359" name="TextBox 358"/>
          <p:cNvSpPr txBox="1"/>
          <p:nvPr/>
        </p:nvSpPr>
        <p:spPr>
          <a:xfrm>
            <a:off x="1371600" y="2651760"/>
            <a:ext cx="15544800" cy="375487"/>
          </a:xfrm>
          <a:prstGeom prst="rect">
            <a:avLst/>
          </a:prstGeom>
          <a:noFill/>
        </p:spPr>
        <p:txBody>
          <a:bodyPr wrap="square" lIns="0" tIns="0" rIns="0" bIns="0" anchor="t">
            <a:spAutoFit/>
          </a:bodyPr>
          <a:lstStyle/>
          <a:p>
            <a:pPr algn="ctr">
              <a:spcAft>
                <a:spcPts val="600"/>
              </a:spcAft>
            </a:pPr>
            <a:r>
              <a:rPr lang="en-US" sz="2440" dirty="0">
                <a:solidFill>
                  <a:srgbClr val="112C16"/>
                </a:solidFill>
                <a:latin typeface="Calibri"/>
              </a:rPr>
              <a:t>V</a:t>
            </a:r>
            <a:r>
              <a:rPr sz="2440" b="0" dirty="0">
                <a:solidFill>
                  <a:srgbClr val="112C16"/>
                </a:solidFill>
                <a:latin typeface="Calibri"/>
              </a:rPr>
              <a:t>isuals built with Matplotlib, Seaborn and </a:t>
            </a:r>
            <a:r>
              <a:rPr sz="2440" b="0" dirty="0" err="1">
                <a:solidFill>
                  <a:srgbClr val="112C16"/>
                </a:solidFill>
                <a:latin typeface="Calibri"/>
              </a:rPr>
              <a:t>Plotly</a:t>
            </a:r>
            <a:r>
              <a:rPr sz="2440" b="0" dirty="0">
                <a:solidFill>
                  <a:srgbClr val="112C16"/>
                </a:solidFill>
                <a:latin typeface="Calibri"/>
              </a:rPr>
              <a:t>, each with titles, labels and </a:t>
            </a:r>
            <a:r>
              <a:rPr sz="2440" b="0" dirty="0" err="1">
                <a:solidFill>
                  <a:srgbClr val="112C16"/>
                </a:solidFill>
                <a:latin typeface="Calibri"/>
              </a:rPr>
              <a:t>colour</a:t>
            </a:r>
            <a:r>
              <a:rPr sz="2440" b="0" dirty="0">
                <a:solidFill>
                  <a:srgbClr val="112C16"/>
                </a:solidFill>
                <a:latin typeface="Calibri"/>
              </a:rPr>
              <a:t> schemes</a:t>
            </a:r>
          </a:p>
        </p:txBody>
      </p:sp>
      <p:sp>
        <p:nvSpPr>
          <p:cNvPr id="360" name="Rounded Rectangle 359"/>
          <p:cNvSpPr/>
          <p:nvPr/>
        </p:nvSpPr>
        <p:spPr>
          <a:xfrm>
            <a:off x="1371600" y="3657600"/>
            <a:ext cx="5029200" cy="576072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TextBox 360"/>
          <p:cNvSpPr txBox="1"/>
          <p:nvPr/>
        </p:nvSpPr>
        <p:spPr>
          <a:xfrm>
            <a:off x="1600200" y="3880842"/>
            <a:ext cx="4480560" cy="553998"/>
          </a:xfrm>
          <a:prstGeom prst="rect">
            <a:avLst/>
          </a:prstGeom>
          <a:noFill/>
        </p:spPr>
        <p:txBody>
          <a:bodyPr wrap="square" lIns="0" tIns="0" rIns="0" bIns="0" anchor="t">
            <a:spAutoFit/>
          </a:bodyPr>
          <a:lstStyle/>
          <a:p>
            <a:pPr algn="ctr">
              <a:spcAft>
                <a:spcPts val="600"/>
              </a:spcAft>
            </a:pPr>
            <a:r>
              <a:rPr sz="3600" b="1" dirty="0">
                <a:solidFill>
                  <a:srgbClr val="112C16"/>
                </a:solidFill>
                <a:latin typeface="Calibri"/>
              </a:rPr>
              <a:t>Distributions</a:t>
            </a:r>
          </a:p>
        </p:txBody>
      </p:sp>
      <p:sp>
        <p:nvSpPr>
          <p:cNvPr id="362" name="TextBox 361"/>
          <p:cNvSpPr txBox="1"/>
          <p:nvPr/>
        </p:nvSpPr>
        <p:spPr>
          <a:xfrm>
            <a:off x="1691640" y="4683606"/>
            <a:ext cx="4389120" cy="3708708"/>
          </a:xfrm>
          <a:prstGeom prst="rect">
            <a:avLst/>
          </a:prstGeom>
          <a:noFill/>
        </p:spPr>
        <p:txBody>
          <a:bodyPr wrap="square" lIns="0" tIns="0" rIns="0" bIns="0" anchor="t">
            <a:spAutoFit/>
          </a:bodyPr>
          <a:lstStyle/>
          <a:p>
            <a:pPr algn="l">
              <a:spcAft>
                <a:spcPts val="600"/>
              </a:spcAft>
            </a:pPr>
            <a:r>
              <a:rPr sz="3600" b="0" dirty="0">
                <a:solidFill>
                  <a:srgbClr val="112C16"/>
                </a:solidFill>
                <a:latin typeface="Calibri"/>
              </a:rPr>
              <a:t>- Bar plot</a:t>
            </a:r>
          </a:p>
          <a:p>
            <a:pPr algn="l">
              <a:spcAft>
                <a:spcPts val="600"/>
              </a:spcAft>
            </a:pPr>
            <a:r>
              <a:rPr sz="3600" b="0" dirty="0">
                <a:solidFill>
                  <a:srgbClr val="112C16"/>
                </a:solidFill>
                <a:latin typeface="Calibri"/>
              </a:rPr>
              <a:t>- Horizontal bar</a:t>
            </a:r>
          </a:p>
          <a:p>
            <a:pPr algn="l">
              <a:spcAft>
                <a:spcPts val="600"/>
              </a:spcAft>
            </a:pPr>
            <a:r>
              <a:rPr sz="3600" b="0" dirty="0">
                <a:solidFill>
                  <a:srgbClr val="112C16"/>
                </a:solidFill>
                <a:latin typeface="Calibri"/>
              </a:rPr>
              <a:t>- Pie chart</a:t>
            </a:r>
          </a:p>
          <a:p>
            <a:pPr algn="l">
              <a:spcAft>
                <a:spcPts val="600"/>
              </a:spcAft>
            </a:pPr>
            <a:r>
              <a:rPr sz="3600" b="0" dirty="0">
                <a:solidFill>
                  <a:srgbClr val="112C16"/>
                </a:solidFill>
                <a:latin typeface="Calibri"/>
              </a:rPr>
              <a:t>- Histogram</a:t>
            </a:r>
          </a:p>
          <a:p>
            <a:pPr algn="l">
              <a:spcAft>
                <a:spcPts val="600"/>
              </a:spcAft>
            </a:pPr>
            <a:r>
              <a:rPr sz="3600" b="0" dirty="0">
                <a:solidFill>
                  <a:srgbClr val="112C16"/>
                </a:solidFill>
                <a:latin typeface="Calibri"/>
              </a:rPr>
              <a:t>- KDE plot</a:t>
            </a:r>
          </a:p>
          <a:p>
            <a:pPr algn="l">
              <a:spcAft>
                <a:spcPts val="600"/>
              </a:spcAft>
            </a:pPr>
            <a:r>
              <a:rPr sz="3600" b="0" dirty="0">
                <a:solidFill>
                  <a:srgbClr val="112C16"/>
                </a:solidFill>
                <a:latin typeface="Calibri"/>
              </a:rPr>
              <a:t>- Count plot</a:t>
            </a:r>
          </a:p>
        </p:txBody>
      </p:sp>
      <p:sp>
        <p:nvSpPr>
          <p:cNvPr id="363" name="Rounded Rectangle 362"/>
          <p:cNvSpPr/>
          <p:nvPr/>
        </p:nvSpPr>
        <p:spPr>
          <a:xfrm>
            <a:off x="6720840" y="3657600"/>
            <a:ext cx="5029200" cy="576072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TextBox 363"/>
          <p:cNvSpPr txBox="1"/>
          <p:nvPr/>
        </p:nvSpPr>
        <p:spPr>
          <a:xfrm>
            <a:off x="6995159" y="3880842"/>
            <a:ext cx="4480560" cy="553998"/>
          </a:xfrm>
          <a:prstGeom prst="rect">
            <a:avLst/>
          </a:prstGeom>
          <a:noFill/>
        </p:spPr>
        <p:txBody>
          <a:bodyPr wrap="square" lIns="0" tIns="0" rIns="0" bIns="0" anchor="t">
            <a:spAutoFit/>
          </a:bodyPr>
          <a:lstStyle/>
          <a:p>
            <a:pPr algn="ctr">
              <a:spcAft>
                <a:spcPts val="600"/>
              </a:spcAft>
            </a:pPr>
            <a:r>
              <a:rPr sz="3600" b="1" dirty="0">
                <a:solidFill>
                  <a:srgbClr val="112C16"/>
                </a:solidFill>
                <a:latin typeface="Calibri"/>
              </a:rPr>
              <a:t>Comparisons</a:t>
            </a:r>
          </a:p>
        </p:txBody>
      </p:sp>
      <p:sp>
        <p:nvSpPr>
          <p:cNvPr id="365" name="TextBox 364"/>
          <p:cNvSpPr txBox="1"/>
          <p:nvPr/>
        </p:nvSpPr>
        <p:spPr>
          <a:xfrm>
            <a:off x="7086599" y="4683606"/>
            <a:ext cx="4389120" cy="3077766"/>
          </a:xfrm>
          <a:prstGeom prst="rect">
            <a:avLst/>
          </a:prstGeom>
          <a:noFill/>
        </p:spPr>
        <p:txBody>
          <a:bodyPr wrap="square" lIns="0" tIns="0" rIns="0" bIns="0" anchor="t">
            <a:spAutoFit/>
          </a:bodyPr>
          <a:lstStyle/>
          <a:p>
            <a:pPr>
              <a:spcAft>
                <a:spcPts val="600"/>
              </a:spcAft>
            </a:pPr>
            <a:r>
              <a:rPr sz="3600" dirty="0">
                <a:solidFill>
                  <a:srgbClr val="112C16"/>
                </a:solidFill>
                <a:latin typeface="Calibri"/>
              </a:rPr>
              <a:t>- Violin plot</a:t>
            </a:r>
          </a:p>
          <a:p>
            <a:pPr>
              <a:spcAft>
                <a:spcPts val="600"/>
              </a:spcAft>
            </a:pPr>
            <a:r>
              <a:rPr sz="3600" dirty="0">
                <a:solidFill>
                  <a:srgbClr val="112C16"/>
                </a:solidFill>
                <a:latin typeface="Calibri"/>
              </a:rPr>
              <a:t>- Grouped bar</a:t>
            </a:r>
          </a:p>
          <a:p>
            <a:pPr>
              <a:spcAft>
                <a:spcPts val="600"/>
              </a:spcAft>
            </a:pPr>
            <a:r>
              <a:rPr sz="3600" dirty="0">
                <a:solidFill>
                  <a:srgbClr val="112C16"/>
                </a:solidFill>
                <a:latin typeface="Calibri"/>
              </a:rPr>
              <a:t>- Line plot</a:t>
            </a:r>
          </a:p>
          <a:p>
            <a:pPr>
              <a:spcAft>
                <a:spcPts val="600"/>
              </a:spcAft>
            </a:pPr>
            <a:r>
              <a:rPr sz="3600" dirty="0">
                <a:solidFill>
                  <a:srgbClr val="112C16"/>
                </a:solidFill>
                <a:latin typeface="Calibri"/>
              </a:rPr>
              <a:t>- Stacked % bar</a:t>
            </a:r>
          </a:p>
          <a:p>
            <a:pPr>
              <a:spcAft>
                <a:spcPts val="600"/>
              </a:spcAft>
            </a:pPr>
            <a:r>
              <a:rPr sz="3600" dirty="0">
                <a:solidFill>
                  <a:srgbClr val="112C16"/>
                </a:solidFill>
                <a:latin typeface="Calibri"/>
              </a:rPr>
              <a:t>- Box plots</a:t>
            </a:r>
          </a:p>
        </p:txBody>
      </p:sp>
      <p:sp>
        <p:nvSpPr>
          <p:cNvPr id="366" name="Rounded Rectangle 365"/>
          <p:cNvSpPr/>
          <p:nvPr/>
        </p:nvSpPr>
        <p:spPr>
          <a:xfrm>
            <a:off x="12070080" y="3657600"/>
            <a:ext cx="5029200" cy="576072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TextBox 366"/>
          <p:cNvSpPr txBox="1"/>
          <p:nvPr/>
        </p:nvSpPr>
        <p:spPr>
          <a:xfrm>
            <a:off x="12435840" y="3840480"/>
            <a:ext cx="4480560" cy="553998"/>
          </a:xfrm>
          <a:prstGeom prst="rect">
            <a:avLst/>
          </a:prstGeom>
          <a:noFill/>
        </p:spPr>
        <p:txBody>
          <a:bodyPr wrap="square" lIns="0" tIns="0" rIns="0" bIns="0" anchor="t">
            <a:spAutoFit/>
          </a:bodyPr>
          <a:lstStyle/>
          <a:p>
            <a:pPr algn="ctr">
              <a:spcAft>
                <a:spcPts val="600"/>
              </a:spcAft>
            </a:pPr>
            <a:r>
              <a:rPr sz="3600" b="1" dirty="0">
                <a:solidFill>
                  <a:srgbClr val="112C16"/>
                </a:solidFill>
                <a:latin typeface="Calibri"/>
              </a:rPr>
              <a:t>Relationships</a:t>
            </a:r>
          </a:p>
        </p:txBody>
      </p:sp>
      <p:sp>
        <p:nvSpPr>
          <p:cNvPr id="368" name="TextBox 367"/>
          <p:cNvSpPr txBox="1"/>
          <p:nvPr/>
        </p:nvSpPr>
        <p:spPr>
          <a:xfrm>
            <a:off x="12390120" y="4683606"/>
            <a:ext cx="4389120" cy="3708708"/>
          </a:xfrm>
          <a:prstGeom prst="rect">
            <a:avLst/>
          </a:prstGeom>
          <a:noFill/>
        </p:spPr>
        <p:txBody>
          <a:bodyPr wrap="square" lIns="0" tIns="0" rIns="0" bIns="0" anchor="t">
            <a:spAutoFit/>
          </a:bodyPr>
          <a:lstStyle/>
          <a:p>
            <a:pPr>
              <a:spcAft>
                <a:spcPts val="600"/>
              </a:spcAft>
            </a:pPr>
            <a:r>
              <a:rPr sz="3600" dirty="0">
                <a:solidFill>
                  <a:srgbClr val="112C16"/>
                </a:solidFill>
                <a:latin typeface="Calibri"/>
              </a:rPr>
              <a:t>- Scatter plot</a:t>
            </a:r>
          </a:p>
          <a:p>
            <a:pPr>
              <a:spcAft>
                <a:spcPts val="600"/>
              </a:spcAft>
            </a:pPr>
            <a:r>
              <a:rPr sz="3600" dirty="0">
                <a:solidFill>
                  <a:srgbClr val="112C16"/>
                </a:solidFill>
                <a:latin typeface="Calibri"/>
              </a:rPr>
              <a:t>- Regression plot</a:t>
            </a:r>
          </a:p>
          <a:p>
            <a:pPr>
              <a:spcAft>
                <a:spcPts val="600"/>
              </a:spcAft>
            </a:pPr>
            <a:r>
              <a:rPr sz="3600" dirty="0">
                <a:solidFill>
                  <a:srgbClr val="112C16"/>
                </a:solidFill>
                <a:latin typeface="Calibri"/>
              </a:rPr>
              <a:t>- Correlation heatmap</a:t>
            </a:r>
          </a:p>
          <a:p>
            <a:pPr>
              <a:spcAft>
                <a:spcPts val="600"/>
              </a:spcAft>
            </a:pPr>
            <a:r>
              <a:rPr sz="3600" dirty="0">
                <a:solidFill>
                  <a:srgbClr val="112C16"/>
                </a:solidFill>
                <a:latin typeface="Calibri"/>
              </a:rPr>
              <a:t>- </a:t>
            </a:r>
            <a:r>
              <a:rPr sz="3600" dirty="0" err="1">
                <a:solidFill>
                  <a:srgbClr val="112C16"/>
                </a:solidFill>
                <a:latin typeface="Calibri"/>
              </a:rPr>
              <a:t>Pairplot</a:t>
            </a:r>
            <a:endParaRPr sz="3600" dirty="0">
              <a:solidFill>
                <a:srgbClr val="112C16"/>
              </a:solidFill>
              <a:latin typeface="Calibri"/>
            </a:endParaRPr>
          </a:p>
          <a:p>
            <a:pPr>
              <a:spcAft>
                <a:spcPts val="600"/>
              </a:spcAft>
            </a:pPr>
            <a:r>
              <a:rPr sz="3600" dirty="0">
                <a:solidFill>
                  <a:srgbClr val="112C16"/>
                </a:solidFill>
                <a:latin typeface="Calibri"/>
              </a:rPr>
              <a:t>- 2x2 subplots</a:t>
            </a:r>
          </a:p>
          <a:p>
            <a:pPr>
              <a:spcAft>
                <a:spcPts val="600"/>
              </a:spcAft>
            </a:pPr>
            <a:r>
              <a:rPr sz="3600" dirty="0">
                <a:solidFill>
                  <a:srgbClr val="112C16"/>
                </a:solidFill>
                <a:latin typeface="Calibri"/>
              </a:rPr>
              <a:t>- Interactive </a:t>
            </a:r>
            <a:r>
              <a:rPr sz="3600" dirty="0" err="1">
                <a:solidFill>
                  <a:srgbClr val="112C16"/>
                </a:solidFill>
                <a:latin typeface="Calibri"/>
              </a:rPr>
              <a:t>Plotly</a:t>
            </a:r>
            <a:endParaRPr sz="3600" dirty="0">
              <a:solidFill>
                <a:srgbClr val="112C16"/>
              </a:solidFill>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67" name="Group 2"/>
          <p:cNvGrpSpPr/>
          <p:nvPr/>
        </p:nvGrpSpPr>
        <p:grpSpPr>
          <a:xfrm>
            <a:off x="1028880" y="884160"/>
            <a:ext cx="16230240" cy="1360440"/>
            <a:chOff x="1028880" y="884160"/>
            <a:chExt cx="16230240" cy="1360440"/>
          </a:xfrm>
        </p:grpSpPr>
        <p:sp>
          <p:nvSpPr>
            <p:cNvPr id="368"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69"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370" name="Group 5"/>
          <p:cNvGrpSpPr/>
          <p:nvPr/>
        </p:nvGrpSpPr>
        <p:grpSpPr>
          <a:xfrm>
            <a:off x="1028880" y="3043080"/>
            <a:ext cx="5249520" cy="6109200"/>
            <a:chOff x="1028880" y="3043080"/>
            <a:chExt cx="5249520" cy="6109200"/>
          </a:xfrm>
        </p:grpSpPr>
        <p:sp>
          <p:nvSpPr>
            <p:cNvPr id="371" name="Freeform 6"/>
            <p:cNvSpPr/>
            <p:nvPr/>
          </p:nvSpPr>
          <p:spPr>
            <a:xfrm>
              <a:off x="1028880" y="3260160"/>
              <a:ext cx="5249520" cy="5892120"/>
            </a:xfrm>
            <a:custGeom>
              <a:avLst/>
              <a:gdLst>
                <a:gd name="textAreaLeft" fmla="*/ 0 w 5249520"/>
                <a:gd name="textAreaRight" fmla="*/ 5249880 w 5249520"/>
                <a:gd name="textAreaTop" fmla="*/ 0 h 5892120"/>
                <a:gd name="textAreaBottom" fmla="*/ 5892480 h 5892120"/>
              </a:gdLst>
              <a:ahLst/>
              <a:cxnLst/>
              <a:rect l="textAreaLeft" t="textAreaTop" r="textAreaRight" b="textAreaBottom"/>
              <a:pathLst>
                <a:path w="1382657" h="1551896">
                  <a:moveTo>
                    <a:pt x="78160" y="0"/>
                  </a:moveTo>
                  <a:lnTo>
                    <a:pt x="1304498" y="0"/>
                  </a:lnTo>
                  <a:cubicBezTo>
                    <a:pt x="1325227" y="0"/>
                    <a:pt x="1345107" y="8235"/>
                    <a:pt x="1359765" y="22892"/>
                  </a:cubicBezTo>
                  <a:cubicBezTo>
                    <a:pt x="1374423" y="37550"/>
                    <a:pt x="1382657" y="57431"/>
                    <a:pt x="1382657" y="78160"/>
                  </a:cubicBezTo>
                  <a:lnTo>
                    <a:pt x="1382657" y="1473737"/>
                  </a:lnTo>
                  <a:cubicBezTo>
                    <a:pt x="1382657" y="1494466"/>
                    <a:pt x="1374423" y="1514346"/>
                    <a:pt x="1359765" y="1529004"/>
                  </a:cubicBezTo>
                  <a:cubicBezTo>
                    <a:pt x="1345107" y="1543662"/>
                    <a:pt x="1325227" y="1551896"/>
                    <a:pt x="1304498" y="1551896"/>
                  </a:cubicBezTo>
                  <a:lnTo>
                    <a:pt x="78160" y="1551896"/>
                  </a:lnTo>
                  <a:cubicBezTo>
                    <a:pt x="57431" y="1551896"/>
                    <a:pt x="37550" y="1543662"/>
                    <a:pt x="22892" y="1529004"/>
                  </a:cubicBezTo>
                  <a:cubicBezTo>
                    <a:pt x="8235" y="1514346"/>
                    <a:pt x="0" y="1494466"/>
                    <a:pt x="0" y="1473737"/>
                  </a:cubicBezTo>
                  <a:lnTo>
                    <a:pt x="0" y="78160"/>
                  </a:lnTo>
                  <a:cubicBezTo>
                    <a:pt x="0" y="57431"/>
                    <a:pt x="8235" y="37550"/>
                    <a:pt x="22892" y="22892"/>
                  </a:cubicBezTo>
                  <a:cubicBezTo>
                    <a:pt x="37550" y="8235"/>
                    <a:pt x="57431" y="0"/>
                    <a:pt x="78160"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72" name="TextBox 7"/>
            <p:cNvSpPr/>
            <p:nvPr/>
          </p:nvSpPr>
          <p:spPr>
            <a:xfrm>
              <a:off x="1028880" y="3043080"/>
              <a:ext cx="5249520" cy="61088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373" name="Freeform 8"/>
          <p:cNvSpPr/>
          <p:nvPr/>
        </p:nvSpPr>
        <p:spPr>
          <a:xfrm>
            <a:off x="1320480" y="3441600"/>
            <a:ext cx="792000" cy="792000"/>
          </a:xfrm>
          <a:custGeom>
            <a:avLst/>
            <a:gdLst>
              <a:gd name="textAreaLeft" fmla="*/ 0 w 792000"/>
              <a:gd name="textAreaRight" fmla="*/ 792360 w 792000"/>
              <a:gd name="textAreaTop" fmla="*/ 0 h 792000"/>
              <a:gd name="textAreaBottom" fmla="*/ 792360 h 792000"/>
            </a:gdLst>
            <a:ahLst/>
            <a:cxnLst/>
            <a:rect l="textAreaLeft" t="textAreaTop" r="textAreaRight" b="textAreaBottom"/>
            <a:pathLst>
              <a:path w="792224" h="792224">
                <a:moveTo>
                  <a:pt x="0" y="0"/>
                </a:moveTo>
                <a:lnTo>
                  <a:pt x="792223" y="0"/>
                </a:lnTo>
                <a:lnTo>
                  <a:pt x="792223" y="792224"/>
                </a:lnTo>
                <a:lnTo>
                  <a:pt x="0" y="792224"/>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74" name="AutoShape 9"/>
          <p:cNvSpPr/>
          <p:nvPr/>
        </p:nvSpPr>
        <p:spPr>
          <a:xfrm>
            <a:off x="1028520" y="4338000"/>
            <a:ext cx="5249880" cy="360"/>
          </a:xfrm>
          <a:prstGeom prst="line">
            <a:avLst/>
          </a:prstGeom>
          <a:ln w="38100">
            <a:solidFill>
              <a:srgbClr val="112C16"/>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grpSp>
        <p:nvGrpSpPr>
          <p:cNvPr id="375" name="Group 10"/>
          <p:cNvGrpSpPr/>
          <p:nvPr/>
        </p:nvGrpSpPr>
        <p:grpSpPr>
          <a:xfrm>
            <a:off x="12009600" y="3043080"/>
            <a:ext cx="5249520" cy="6109200"/>
            <a:chOff x="12009600" y="3043080"/>
            <a:chExt cx="5249520" cy="6109200"/>
          </a:xfrm>
        </p:grpSpPr>
        <p:sp>
          <p:nvSpPr>
            <p:cNvPr id="376" name="Freeform 11"/>
            <p:cNvSpPr/>
            <p:nvPr/>
          </p:nvSpPr>
          <p:spPr>
            <a:xfrm>
              <a:off x="12009600" y="3260160"/>
              <a:ext cx="5249520" cy="5892120"/>
            </a:xfrm>
            <a:custGeom>
              <a:avLst/>
              <a:gdLst>
                <a:gd name="textAreaLeft" fmla="*/ 0 w 5249520"/>
                <a:gd name="textAreaRight" fmla="*/ 5249880 w 5249520"/>
                <a:gd name="textAreaTop" fmla="*/ 0 h 5892120"/>
                <a:gd name="textAreaBottom" fmla="*/ 5892480 h 5892120"/>
              </a:gdLst>
              <a:ahLst/>
              <a:cxnLst/>
              <a:rect l="textAreaLeft" t="textAreaTop" r="textAreaRight" b="textAreaBottom"/>
              <a:pathLst>
                <a:path w="1382657" h="1551896">
                  <a:moveTo>
                    <a:pt x="78160" y="0"/>
                  </a:moveTo>
                  <a:lnTo>
                    <a:pt x="1304498" y="0"/>
                  </a:lnTo>
                  <a:cubicBezTo>
                    <a:pt x="1325227" y="0"/>
                    <a:pt x="1345107" y="8235"/>
                    <a:pt x="1359765" y="22892"/>
                  </a:cubicBezTo>
                  <a:cubicBezTo>
                    <a:pt x="1374423" y="37550"/>
                    <a:pt x="1382657" y="57431"/>
                    <a:pt x="1382657" y="78160"/>
                  </a:cubicBezTo>
                  <a:lnTo>
                    <a:pt x="1382657" y="1473737"/>
                  </a:lnTo>
                  <a:cubicBezTo>
                    <a:pt x="1382657" y="1494466"/>
                    <a:pt x="1374423" y="1514346"/>
                    <a:pt x="1359765" y="1529004"/>
                  </a:cubicBezTo>
                  <a:cubicBezTo>
                    <a:pt x="1345107" y="1543662"/>
                    <a:pt x="1325227" y="1551896"/>
                    <a:pt x="1304498" y="1551896"/>
                  </a:cubicBezTo>
                  <a:lnTo>
                    <a:pt x="78160" y="1551896"/>
                  </a:lnTo>
                  <a:cubicBezTo>
                    <a:pt x="57431" y="1551896"/>
                    <a:pt x="37550" y="1543662"/>
                    <a:pt x="22892" y="1529004"/>
                  </a:cubicBezTo>
                  <a:cubicBezTo>
                    <a:pt x="8235" y="1514346"/>
                    <a:pt x="0" y="1494466"/>
                    <a:pt x="0" y="1473737"/>
                  </a:cubicBezTo>
                  <a:lnTo>
                    <a:pt x="0" y="78160"/>
                  </a:lnTo>
                  <a:cubicBezTo>
                    <a:pt x="0" y="57431"/>
                    <a:pt x="8235" y="37550"/>
                    <a:pt x="22892" y="22892"/>
                  </a:cubicBezTo>
                  <a:cubicBezTo>
                    <a:pt x="37550" y="8235"/>
                    <a:pt x="57431" y="0"/>
                    <a:pt x="78160"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77" name="TextBox 12"/>
            <p:cNvSpPr/>
            <p:nvPr/>
          </p:nvSpPr>
          <p:spPr>
            <a:xfrm>
              <a:off x="12009600" y="3043080"/>
              <a:ext cx="5249520" cy="61088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378" name="AutoShape 13"/>
          <p:cNvSpPr/>
          <p:nvPr/>
        </p:nvSpPr>
        <p:spPr>
          <a:xfrm>
            <a:off x="12009240" y="4338000"/>
            <a:ext cx="5249880" cy="360"/>
          </a:xfrm>
          <a:prstGeom prst="line">
            <a:avLst/>
          </a:prstGeom>
          <a:ln w="38100">
            <a:solidFill>
              <a:srgbClr val="112C16"/>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grpSp>
        <p:nvGrpSpPr>
          <p:cNvPr id="379" name="Group 14"/>
          <p:cNvGrpSpPr/>
          <p:nvPr/>
        </p:nvGrpSpPr>
        <p:grpSpPr>
          <a:xfrm>
            <a:off x="6519240" y="3043080"/>
            <a:ext cx="5249520" cy="6109200"/>
            <a:chOff x="6519240" y="3043080"/>
            <a:chExt cx="5249520" cy="6109200"/>
          </a:xfrm>
        </p:grpSpPr>
        <p:sp>
          <p:nvSpPr>
            <p:cNvPr id="380" name="Freeform 15"/>
            <p:cNvSpPr/>
            <p:nvPr/>
          </p:nvSpPr>
          <p:spPr>
            <a:xfrm>
              <a:off x="6519240" y="3260160"/>
              <a:ext cx="5249520" cy="5892120"/>
            </a:xfrm>
            <a:custGeom>
              <a:avLst/>
              <a:gdLst>
                <a:gd name="textAreaLeft" fmla="*/ 0 w 5249520"/>
                <a:gd name="textAreaRight" fmla="*/ 5249880 w 5249520"/>
                <a:gd name="textAreaTop" fmla="*/ 0 h 5892120"/>
                <a:gd name="textAreaBottom" fmla="*/ 5892480 h 5892120"/>
              </a:gdLst>
              <a:ahLst/>
              <a:cxnLst/>
              <a:rect l="textAreaLeft" t="textAreaTop" r="textAreaRight" b="textAreaBottom"/>
              <a:pathLst>
                <a:path w="1382657" h="1551896">
                  <a:moveTo>
                    <a:pt x="78160" y="0"/>
                  </a:moveTo>
                  <a:lnTo>
                    <a:pt x="1304498" y="0"/>
                  </a:lnTo>
                  <a:cubicBezTo>
                    <a:pt x="1325227" y="0"/>
                    <a:pt x="1345107" y="8235"/>
                    <a:pt x="1359765" y="22892"/>
                  </a:cubicBezTo>
                  <a:cubicBezTo>
                    <a:pt x="1374423" y="37550"/>
                    <a:pt x="1382657" y="57431"/>
                    <a:pt x="1382657" y="78160"/>
                  </a:cubicBezTo>
                  <a:lnTo>
                    <a:pt x="1382657" y="1473737"/>
                  </a:lnTo>
                  <a:cubicBezTo>
                    <a:pt x="1382657" y="1494466"/>
                    <a:pt x="1374423" y="1514346"/>
                    <a:pt x="1359765" y="1529004"/>
                  </a:cubicBezTo>
                  <a:cubicBezTo>
                    <a:pt x="1345107" y="1543662"/>
                    <a:pt x="1325227" y="1551896"/>
                    <a:pt x="1304498" y="1551896"/>
                  </a:cubicBezTo>
                  <a:lnTo>
                    <a:pt x="78160" y="1551896"/>
                  </a:lnTo>
                  <a:cubicBezTo>
                    <a:pt x="57431" y="1551896"/>
                    <a:pt x="37550" y="1543662"/>
                    <a:pt x="22892" y="1529004"/>
                  </a:cubicBezTo>
                  <a:cubicBezTo>
                    <a:pt x="8235" y="1514346"/>
                    <a:pt x="0" y="1494466"/>
                    <a:pt x="0" y="1473737"/>
                  </a:cubicBezTo>
                  <a:lnTo>
                    <a:pt x="0" y="78160"/>
                  </a:lnTo>
                  <a:cubicBezTo>
                    <a:pt x="0" y="57431"/>
                    <a:pt x="8235" y="37550"/>
                    <a:pt x="22892" y="22892"/>
                  </a:cubicBezTo>
                  <a:cubicBezTo>
                    <a:pt x="37550" y="8235"/>
                    <a:pt x="57431" y="0"/>
                    <a:pt x="78160"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81" name="TextBox 16"/>
            <p:cNvSpPr/>
            <p:nvPr/>
          </p:nvSpPr>
          <p:spPr>
            <a:xfrm>
              <a:off x="6519240" y="3043080"/>
              <a:ext cx="5249520" cy="61088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382" name="AutoShape 17"/>
          <p:cNvSpPr/>
          <p:nvPr/>
        </p:nvSpPr>
        <p:spPr>
          <a:xfrm>
            <a:off x="6518880" y="4338000"/>
            <a:ext cx="5249880" cy="360"/>
          </a:xfrm>
          <a:prstGeom prst="line">
            <a:avLst/>
          </a:prstGeom>
          <a:ln w="38100">
            <a:solidFill>
              <a:srgbClr val="112C16"/>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383" name="Freeform 18"/>
          <p:cNvSpPr/>
          <p:nvPr/>
        </p:nvSpPr>
        <p:spPr>
          <a:xfrm>
            <a:off x="12363480" y="3441600"/>
            <a:ext cx="792000" cy="792000"/>
          </a:xfrm>
          <a:custGeom>
            <a:avLst/>
            <a:gdLst>
              <a:gd name="textAreaLeft" fmla="*/ 0 w 792000"/>
              <a:gd name="textAreaRight" fmla="*/ 792360 w 792000"/>
              <a:gd name="textAreaTop" fmla="*/ 0 h 792000"/>
              <a:gd name="textAreaBottom" fmla="*/ 792360 h 792000"/>
            </a:gdLst>
            <a:ahLst/>
            <a:cxnLst/>
            <a:rect l="textAreaLeft" t="textAreaTop" r="textAreaRight" b="textAreaBottom"/>
            <a:pathLst>
              <a:path w="792224" h="792224">
                <a:moveTo>
                  <a:pt x="0" y="0"/>
                </a:moveTo>
                <a:lnTo>
                  <a:pt x="792224" y="0"/>
                </a:lnTo>
                <a:lnTo>
                  <a:pt x="792224" y="792224"/>
                </a:lnTo>
                <a:lnTo>
                  <a:pt x="0" y="79222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84" name="TextBox 19"/>
          <p:cNvSpPr/>
          <p:nvPr/>
        </p:nvSpPr>
        <p:spPr>
          <a:xfrm>
            <a:off x="2799720" y="1027440"/>
            <a:ext cx="12688560" cy="10749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dirty="0">
                <a:solidFill>
                  <a:srgbClr val="F1F0E7"/>
                </a:solidFill>
                <a:latin typeface="Anton"/>
                <a:ea typeface="Anton"/>
              </a:rPr>
              <a:t>Project </a:t>
            </a:r>
            <a:r>
              <a:rPr lang="en-US" sz="6400" spc="-1" dirty="0">
                <a:solidFill>
                  <a:srgbClr val="F1F0E7"/>
                </a:solidFill>
                <a:latin typeface="Anton"/>
                <a:ea typeface="Anton"/>
              </a:rPr>
              <a:t>Phases</a:t>
            </a:r>
            <a:r>
              <a:rPr lang="en-US" sz="6400" b="0" strike="noStrike" spc="-1" dirty="0">
                <a:solidFill>
                  <a:srgbClr val="F1F0E7"/>
                </a:solidFill>
                <a:latin typeface="Anton"/>
                <a:ea typeface="Anton"/>
              </a:rPr>
              <a:t> </a:t>
            </a:r>
            <a:endParaRPr lang="en-US" sz="6400" b="0" strike="noStrike" spc="-1" dirty="0">
              <a:solidFill>
                <a:srgbClr val="000000"/>
              </a:solidFill>
              <a:latin typeface="Arial"/>
            </a:endParaRPr>
          </a:p>
        </p:txBody>
      </p:sp>
      <p:sp>
        <p:nvSpPr>
          <p:cNvPr id="385" name="TextBox 20"/>
          <p:cNvSpPr/>
          <p:nvPr/>
        </p:nvSpPr>
        <p:spPr>
          <a:xfrm>
            <a:off x="2440800" y="3601440"/>
            <a:ext cx="348732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1" strike="noStrike" spc="-1">
                <a:solidFill>
                  <a:srgbClr val="112C16"/>
                </a:solidFill>
                <a:latin typeface="Glacial Indifference Bold"/>
                <a:ea typeface="Glacial Indifference Bold"/>
              </a:rPr>
              <a:t>TASK 1</a:t>
            </a:r>
            <a:endParaRPr lang="en-US" sz="2800" b="0" strike="noStrike" spc="-1">
              <a:solidFill>
                <a:srgbClr val="000000"/>
              </a:solidFill>
              <a:latin typeface="Arial"/>
            </a:endParaRPr>
          </a:p>
        </p:txBody>
      </p:sp>
      <p:sp>
        <p:nvSpPr>
          <p:cNvPr id="386" name="TextBox 21"/>
          <p:cNvSpPr/>
          <p:nvPr/>
        </p:nvSpPr>
        <p:spPr>
          <a:xfrm>
            <a:off x="1382760" y="4697640"/>
            <a:ext cx="45417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pPr>
            <a:r>
              <a:rPr lang="en-US" sz="2400" b="0" strike="noStrike" spc="-1">
                <a:solidFill>
                  <a:srgbClr val="112C16"/>
                </a:solidFill>
                <a:latin typeface="Glacial Indifference"/>
                <a:ea typeface="Glacial Indifference"/>
              </a:rPr>
              <a:t>Problem Definition &amp; Dataset Selection</a:t>
            </a:r>
            <a:endParaRPr lang="en-US" sz="2400" b="0" strike="noStrike" spc="-1">
              <a:solidFill>
                <a:srgbClr val="000000"/>
              </a:solidFill>
              <a:latin typeface="Arial"/>
            </a:endParaRPr>
          </a:p>
        </p:txBody>
      </p:sp>
      <p:sp>
        <p:nvSpPr>
          <p:cNvPr id="387" name="TextBox 22"/>
          <p:cNvSpPr/>
          <p:nvPr/>
        </p:nvSpPr>
        <p:spPr>
          <a:xfrm>
            <a:off x="12363480" y="4697640"/>
            <a:ext cx="454176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pPr>
            <a:r>
              <a:rPr lang="en-US" sz="2400" b="0" strike="noStrike" spc="-1">
                <a:solidFill>
                  <a:srgbClr val="112C16"/>
                </a:solidFill>
                <a:latin typeface="Glacial Indifference"/>
                <a:ea typeface="Glacial Indifference"/>
              </a:rPr>
              <a:t>Exploratory Data Analysis</a:t>
            </a:r>
            <a:endParaRPr lang="en-US" sz="2400" b="0" strike="noStrike" spc="-1">
              <a:solidFill>
                <a:srgbClr val="000000"/>
              </a:solidFill>
              <a:latin typeface="Arial"/>
            </a:endParaRPr>
          </a:p>
        </p:txBody>
      </p:sp>
      <p:sp>
        <p:nvSpPr>
          <p:cNvPr id="388" name="TextBox 23"/>
          <p:cNvSpPr/>
          <p:nvPr/>
        </p:nvSpPr>
        <p:spPr>
          <a:xfrm>
            <a:off x="7931160" y="3601440"/>
            <a:ext cx="345024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1" strike="noStrike" spc="-1">
                <a:solidFill>
                  <a:srgbClr val="112C16"/>
                </a:solidFill>
                <a:latin typeface="Glacial Indifference Bold"/>
                <a:ea typeface="Glacial Indifference Bold"/>
              </a:rPr>
              <a:t>TASK 2</a:t>
            </a:r>
            <a:endParaRPr lang="en-US" sz="2800" b="0" strike="noStrike" spc="-1">
              <a:solidFill>
                <a:srgbClr val="000000"/>
              </a:solidFill>
              <a:latin typeface="Arial"/>
            </a:endParaRPr>
          </a:p>
        </p:txBody>
      </p:sp>
      <p:sp>
        <p:nvSpPr>
          <p:cNvPr id="389" name="TextBox 24"/>
          <p:cNvSpPr/>
          <p:nvPr/>
        </p:nvSpPr>
        <p:spPr>
          <a:xfrm>
            <a:off x="6873120" y="4697640"/>
            <a:ext cx="45417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pPr>
            <a:r>
              <a:rPr lang="en-US" sz="2400" b="0" strike="noStrike" spc="-1">
                <a:solidFill>
                  <a:srgbClr val="112C16"/>
                </a:solidFill>
                <a:latin typeface="Glacial Indifference"/>
                <a:ea typeface="Glacial Indifference"/>
              </a:rPr>
              <a:t>Data Cleaning &amp; Pre-processing</a:t>
            </a:r>
            <a:endParaRPr lang="en-US" sz="2400" b="0" strike="noStrike" spc="-1">
              <a:solidFill>
                <a:srgbClr val="000000"/>
              </a:solidFill>
              <a:latin typeface="Arial"/>
            </a:endParaRPr>
          </a:p>
        </p:txBody>
      </p:sp>
      <p:sp>
        <p:nvSpPr>
          <p:cNvPr id="390" name="TextBox 25"/>
          <p:cNvSpPr/>
          <p:nvPr/>
        </p:nvSpPr>
        <p:spPr>
          <a:xfrm>
            <a:off x="1129680" y="5999040"/>
            <a:ext cx="4979880" cy="1706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000000"/>
                </a:solidFill>
                <a:latin typeface="Glacial Indifference"/>
                <a:ea typeface="Glacial Indifference"/>
              </a:rPr>
              <a:t>• Defined the problem &amp; objectives</a:t>
            </a:r>
            <a:endParaRPr lang="en-US" sz="2400" b="0" strike="noStrike" spc="-1">
              <a:solidFill>
                <a:srgbClr val="000000"/>
              </a:solidFill>
              <a:latin typeface="Arial"/>
            </a:endParaRPr>
          </a:p>
          <a:p>
            <a:pPr defTabSz="914400">
              <a:lnSpc>
                <a:spcPts val="3359"/>
              </a:lnSpc>
            </a:pPr>
            <a:r>
              <a:rPr lang="en-US" sz="2400" b="0" strike="noStrike" spc="-1">
                <a:solidFill>
                  <a:srgbClr val="000000"/>
                </a:solidFill>
                <a:latin typeface="Glacial Indifference"/>
                <a:ea typeface="Glacial Indifference"/>
              </a:rPr>
              <a:t>• Selected a relevant dataset</a:t>
            </a:r>
            <a:endParaRPr lang="en-US" sz="2400" b="0" strike="noStrike" spc="-1">
              <a:solidFill>
                <a:srgbClr val="000000"/>
              </a:solidFill>
              <a:latin typeface="Arial"/>
            </a:endParaRPr>
          </a:p>
          <a:p>
            <a:pPr defTabSz="914400">
              <a:lnSpc>
                <a:spcPts val="3359"/>
              </a:lnSpc>
            </a:pPr>
            <a:r>
              <a:rPr lang="en-US" sz="2400" b="0" strike="noStrike" spc="-1">
                <a:solidFill>
                  <a:srgbClr val="000000"/>
                </a:solidFill>
                <a:latin typeface="Glacial Indifference"/>
                <a:ea typeface="Glacial Indifference"/>
              </a:rPr>
              <a:t>• 5,000 records &amp; 23 features</a:t>
            </a:r>
            <a:endParaRPr lang="en-US" sz="2400" b="0" strike="noStrike" spc="-1">
              <a:solidFill>
                <a:srgbClr val="000000"/>
              </a:solidFill>
              <a:latin typeface="Arial"/>
            </a:endParaRPr>
          </a:p>
        </p:txBody>
      </p:sp>
      <p:sp>
        <p:nvSpPr>
          <p:cNvPr id="391" name="TextBox 26"/>
          <p:cNvSpPr/>
          <p:nvPr/>
        </p:nvSpPr>
        <p:spPr>
          <a:xfrm>
            <a:off x="6759720" y="5968440"/>
            <a:ext cx="5249520" cy="255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000000"/>
                </a:solidFill>
                <a:latin typeface="Glacial Indifference"/>
                <a:ea typeface="Glacial Indifference"/>
              </a:rPr>
              <a:t>• Handled missing values</a:t>
            </a:r>
            <a:endParaRPr lang="en-US" sz="2400" b="0" strike="noStrike" spc="-1">
              <a:solidFill>
                <a:srgbClr val="000000"/>
              </a:solidFill>
              <a:latin typeface="Arial"/>
            </a:endParaRPr>
          </a:p>
          <a:p>
            <a:pPr defTabSz="914400">
              <a:lnSpc>
                <a:spcPts val="3359"/>
              </a:lnSpc>
            </a:pPr>
            <a:r>
              <a:rPr lang="en-US" sz="2400" b="0" strike="noStrike" spc="-1">
                <a:solidFill>
                  <a:srgbClr val="000000"/>
                </a:solidFill>
                <a:latin typeface="Glacial Indifference"/>
                <a:ea typeface="Glacial Indifference"/>
              </a:rPr>
              <a:t>• Verified duplicates</a:t>
            </a:r>
            <a:endParaRPr lang="en-US" sz="2400" b="0" strike="noStrike" spc="-1">
              <a:solidFill>
                <a:srgbClr val="000000"/>
              </a:solidFill>
              <a:latin typeface="Arial"/>
            </a:endParaRPr>
          </a:p>
          <a:p>
            <a:pPr defTabSz="914400">
              <a:lnSpc>
                <a:spcPts val="3359"/>
              </a:lnSpc>
            </a:pPr>
            <a:r>
              <a:rPr lang="en-US" sz="2400" b="0" strike="noStrike" spc="-1">
                <a:solidFill>
                  <a:srgbClr val="000000"/>
                </a:solidFill>
                <a:latin typeface="Glacial Indifference"/>
                <a:ea typeface="Glacial Indifference"/>
              </a:rPr>
              <a:t>• Validated data quality</a:t>
            </a:r>
            <a:endParaRPr lang="en-US" sz="2400" b="0" strike="noStrike" spc="-1">
              <a:solidFill>
                <a:srgbClr val="000000"/>
              </a:solidFill>
              <a:latin typeface="Arial"/>
            </a:endParaRPr>
          </a:p>
          <a:p>
            <a:pPr defTabSz="914400">
              <a:lnSpc>
                <a:spcPts val="3359"/>
              </a:lnSpc>
            </a:pPr>
            <a:r>
              <a:rPr lang="en-US" sz="2400" b="0" strike="noStrike" spc="-1">
                <a:solidFill>
                  <a:srgbClr val="000000"/>
                </a:solidFill>
                <a:latin typeface="Glacial Indifference"/>
                <a:ea typeface="Glacial Indifference"/>
              </a:rPr>
              <a:t>• Corrected data types</a:t>
            </a:r>
            <a:endParaRPr lang="en-US" sz="2400" b="0" strike="noStrike" spc="-1">
              <a:solidFill>
                <a:srgbClr val="000000"/>
              </a:solidFill>
              <a:latin typeface="Arial"/>
            </a:endParaRPr>
          </a:p>
          <a:p>
            <a:pPr defTabSz="914400">
              <a:lnSpc>
                <a:spcPts val="3359"/>
              </a:lnSpc>
            </a:pPr>
            <a:r>
              <a:rPr lang="en-US" sz="2400" b="0" strike="noStrike" spc="-1">
                <a:solidFill>
                  <a:srgbClr val="000000"/>
                </a:solidFill>
                <a:latin typeface="Glacial Indifference"/>
                <a:ea typeface="Glacial Indifference"/>
              </a:rPr>
              <a:t>• Created derived features</a:t>
            </a:r>
            <a:endParaRPr lang="en-US" sz="2400" b="0" strike="noStrike" spc="-1">
              <a:solidFill>
                <a:srgbClr val="000000"/>
              </a:solidFill>
              <a:latin typeface="Arial"/>
            </a:endParaRPr>
          </a:p>
          <a:p>
            <a:pPr defTabSz="914400">
              <a:lnSpc>
                <a:spcPts val="3359"/>
              </a:lnSpc>
            </a:pPr>
            <a:r>
              <a:rPr lang="en-US" sz="2400" b="0" strike="noStrike" spc="-1">
                <a:solidFill>
                  <a:srgbClr val="000000"/>
                </a:solidFill>
                <a:latin typeface="Glacial Indifference"/>
                <a:ea typeface="Glacial Indifference"/>
              </a:rPr>
              <a:t>• Prepared analysis-ready data</a:t>
            </a:r>
            <a:endParaRPr lang="en-US" sz="2400" b="0" strike="noStrike" spc="-1">
              <a:solidFill>
                <a:srgbClr val="000000"/>
              </a:solidFill>
              <a:latin typeface="Arial"/>
            </a:endParaRPr>
          </a:p>
        </p:txBody>
      </p:sp>
      <p:sp>
        <p:nvSpPr>
          <p:cNvPr id="392" name="Freeform 27"/>
          <p:cNvSpPr/>
          <p:nvPr/>
        </p:nvSpPr>
        <p:spPr>
          <a:xfrm>
            <a:off x="6872400" y="3441600"/>
            <a:ext cx="792000" cy="792000"/>
          </a:xfrm>
          <a:custGeom>
            <a:avLst/>
            <a:gdLst>
              <a:gd name="textAreaLeft" fmla="*/ 0 w 792000"/>
              <a:gd name="textAreaRight" fmla="*/ 792360 w 792000"/>
              <a:gd name="textAreaTop" fmla="*/ 0 h 792000"/>
              <a:gd name="textAreaBottom" fmla="*/ 792360 h 792000"/>
            </a:gdLst>
            <a:ahLst/>
            <a:cxnLst/>
            <a:rect l="textAreaLeft" t="textAreaTop" r="textAreaRight" b="textAreaBottom"/>
            <a:pathLst>
              <a:path w="792224" h="792224">
                <a:moveTo>
                  <a:pt x="0" y="0"/>
                </a:moveTo>
                <a:lnTo>
                  <a:pt x="792224" y="0"/>
                </a:lnTo>
                <a:lnTo>
                  <a:pt x="792224" y="792224"/>
                </a:lnTo>
                <a:lnTo>
                  <a:pt x="0" y="792224"/>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93" name="TextBox 28"/>
          <p:cNvSpPr/>
          <p:nvPr/>
        </p:nvSpPr>
        <p:spPr>
          <a:xfrm>
            <a:off x="13393800" y="3601440"/>
            <a:ext cx="345024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1" strike="noStrike" spc="-1">
                <a:solidFill>
                  <a:srgbClr val="112C16"/>
                </a:solidFill>
                <a:latin typeface="Glacial Indifference Bold"/>
                <a:ea typeface="Glacial Indifference Bold"/>
              </a:rPr>
              <a:t>NEXT TASK</a:t>
            </a:r>
            <a:endParaRPr lang="en-US" sz="2800" b="0" strike="noStrike" spc="-1">
              <a:solidFill>
                <a:srgbClr val="000000"/>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dirty="0">
                <a:solidFill>
                  <a:srgbClr val="F1F0E7"/>
                </a:solidFill>
                <a:latin typeface="Anton"/>
                <a:ea typeface="Anton"/>
              </a:rPr>
              <a:t>Key Insights</a:t>
            </a:r>
            <a:endParaRPr lang="en-US" sz="6400" b="0" strike="noStrike" spc="-1" dirty="0">
              <a:solidFill>
                <a:srgbClr val="000000"/>
              </a:solidFill>
              <a:latin typeface="Arial"/>
            </a:endParaRPr>
          </a:p>
        </p:txBody>
      </p:sp>
      <p:sp>
        <p:nvSpPr>
          <p:cNvPr id="359" name="Rounded Rectangle 358"/>
          <p:cNvSpPr/>
          <p:nvPr/>
        </p:nvSpPr>
        <p:spPr>
          <a:xfrm>
            <a:off x="1188720" y="2651760"/>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TextBox 359"/>
          <p:cNvSpPr txBox="1"/>
          <p:nvPr/>
        </p:nvSpPr>
        <p:spPr>
          <a:xfrm>
            <a:off x="1463040" y="2829508"/>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1</a:t>
            </a:r>
            <a:r>
              <a:rPr lang="en-US" sz="2440" b="1" dirty="0">
                <a:solidFill>
                  <a:srgbClr val="112C16"/>
                </a:solidFill>
                <a:latin typeface="Calibri"/>
              </a:rPr>
              <a:t>.</a:t>
            </a:r>
            <a:r>
              <a:rPr sz="2440" b="1" dirty="0">
                <a:solidFill>
                  <a:srgbClr val="112C16"/>
                </a:solidFill>
                <a:latin typeface="Calibri"/>
              </a:rPr>
              <a:t>  </a:t>
            </a:r>
            <a:r>
              <a:rPr lang="en-IN" sz="2440" b="1" dirty="0">
                <a:solidFill>
                  <a:srgbClr val="112C16"/>
                </a:solidFill>
                <a:latin typeface="Calibri"/>
              </a:rPr>
              <a:t>Grade Matters Most</a:t>
            </a:r>
            <a:endParaRPr sz="2440" b="1" dirty="0">
              <a:solidFill>
                <a:srgbClr val="112C16"/>
              </a:solidFill>
              <a:latin typeface="Calibri"/>
            </a:endParaRPr>
          </a:p>
        </p:txBody>
      </p:sp>
      <p:sp>
        <p:nvSpPr>
          <p:cNvPr id="361" name="TextBox 360"/>
          <p:cNvSpPr txBox="1"/>
          <p:nvPr/>
        </p:nvSpPr>
        <p:spPr>
          <a:xfrm>
            <a:off x="1463040" y="3364991"/>
            <a:ext cx="7223760" cy="307777"/>
          </a:xfrm>
          <a:prstGeom prst="rect">
            <a:avLst/>
          </a:prstGeom>
          <a:noFill/>
        </p:spPr>
        <p:txBody>
          <a:bodyPr wrap="square" lIns="0" tIns="0" rIns="0" bIns="0" anchor="t">
            <a:spAutoFit/>
          </a:bodyPr>
          <a:lstStyle/>
          <a:p>
            <a:pPr>
              <a:spcAft>
                <a:spcPts val="600"/>
              </a:spcAft>
            </a:pPr>
            <a:r>
              <a:rPr lang="en-IN" sz="2000" dirty="0"/>
              <a:t>Grade the </a:t>
            </a:r>
            <a:r>
              <a:rPr lang="en-IN" sz="2000" b="1" dirty="0"/>
              <a:t>strongest indicator </a:t>
            </a:r>
            <a:r>
              <a:rPr lang="en-IN" sz="2000" dirty="0"/>
              <a:t>of overall academic performance</a:t>
            </a:r>
            <a:endParaRPr sz="1952" b="0" dirty="0">
              <a:solidFill>
                <a:srgbClr val="112C16"/>
              </a:solidFill>
              <a:latin typeface="Calibri"/>
            </a:endParaRPr>
          </a:p>
        </p:txBody>
      </p:sp>
      <p:sp>
        <p:nvSpPr>
          <p:cNvPr id="362" name="Rounded Rectangle 361"/>
          <p:cNvSpPr/>
          <p:nvPr/>
        </p:nvSpPr>
        <p:spPr>
          <a:xfrm>
            <a:off x="9372600" y="2651760"/>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TextBox 362"/>
          <p:cNvSpPr txBox="1"/>
          <p:nvPr/>
        </p:nvSpPr>
        <p:spPr>
          <a:xfrm>
            <a:off x="9646920" y="2816352"/>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2</a:t>
            </a:r>
            <a:r>
              <a:rPr lang="en-US" sz="2440" b="1" dirty="0">
                <a:solidFill>
                  <a:srgbClr val="112C16"/>
                </a:solidFill>
                <a:latin typeface="Calibri"/>
              </a:rPr>
              <a:t>. </a:t>
            </a:r>
            <a:r>
              <a:rPr lang="en-IN" sz="2440" b="1" dirty="0">
                <a:solidFill>
                  <a:srgbClr val="112C16"/>
                </a:solidFill>
                <a:latin typeface="Calibri"/>
              </a:rPr>
              <a:t>Projects Lead the Way</a:t>
            </a:r>
            <a:endParaRPr sz="2440" b="1" dirty="0">
              <a:solidFill>
                <a:srgbClr val="112C16"/>
              </a:solidFill>
              <a:latin typeface="Calibri"/>
            </a:endParaRPr>
          </a:p>
        </p:txBody>
      </p:sp>
      <p:sp>
        <p:nvSpPr>
          <p:cNvPr id="364" name="TextBox 363"/>
          <p:cNvSpPr txBox="1"/>
          <p:nvPr/>
        </p:nvSpPr>
        <p:spPr>
          <a:xfrm>
            <a:off x="9646920" y="3364991"/>
            <a:ext cx="7223760" cy="307777"/>
          </a:xfrm>
          <a:prstGeom prst="rect">
            <a:avLst/>
          </a:prstGeom>
          <a:noFill/>
        </p:spPr>
        <p:txBody>
          <a:bodyPr wrap="square" lIns="0" tIns="0" rIns="0" bIns="0" anchor="t">
            <a:spAutoFit/>
          </a:bodyPr>
          <a:lstStyle/>
          <a:p>
            <a:pPr>
              <a:spcAft>
                <a:spcPts val="600"/>
              </a:spcAft>
            </a:pPr>
            <a:r>
              <a:rPr lang="en-US" sz="2000" dirty="0"/>
              <a:t>Projects show the </a:t>
            </a:r>
            <a:r>
              <a:rPr lang="en-US" sz="2000" b="1" dirty="0"/>
              <a:t>strongest link</a:t>
            </a:r>
            <a:r>
              <a:rPr lang="en-US" sz="2000" dirty="0"/>
              <a:t> with overall performance</a:t>
            </a:r>
            <a:endParaRPr lang="en-US" sz="2000" dirty="0">
              <a:solidFill>
                <a:srgbClr val="112C16"/>
              </a:solidFill>
            </a:endParaRPr>
          </a:p>
        </p:txBody>
      </p:sp>
      <p:sp>
        <p:nvSpPr>
          <p:cNvPr id="365" name="Rounded Rectangle 364"/>
          <p:cNvSpPr/>
          <p:nvPr/>
        </p:nvSpPr>
        <p:spPr>
          <a:xfrm>
            <a:off x="1188720" y="4389120"/>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TextBox 365"/>
          <p:cNvSpPr txBox="1"/>
          <p:nvPr/>
        </p:nvSpPr>
        <p:spPr>
          <a:xfrm>
            <a:off x="1463040" y="4553712"/>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3</a:t>
            </a:r>
            <a:r>
              <a:rPr lang="en-US" sz="2440" b="1" dirty="0">
                <a:solidFill>
                  <a:srgbClr val="112C16"/>
                </a:solidFill>
                <a:latin typeface="Calibri"/>
              </a:rPr>
              <a:t>. </a:t>
            </a:r>
            <a:r>
              <a:rPr lang="en-IN" sz="2440" b="1" dirty="0">
                <a:solidFill>
                  <a:srgbClr val="112C16"/>
                </a:solidFill>
                <a:latin typeface="Calibri"/>
              </a:rPr>
              <a:t>Final Exams Matter</a:t>
            </a:r>
            <a:endParaRPr sz="2440" b="1" dirty="0">
              <a:solidFill>
                <a:srgbClr val="112C16"/>
              </a:solidFill>
              <a:latin typeface="Calibri"/>
            </a:endParaRPr>
          </a:p>
        </p:txBody>
      </p:sp>
      <p:sp>
        <p:nvSpPr>
          <p:cNvPr id="367" name="TextBox 366"/>
          <p:cNvSpPr txBox="1"/>
          <p:nvPr/>
        </p:nvSpPr>
        <p:spPr>
          <a:xfrm>
            <a:off x="1463040" y="5102352"/>
            <a:ext cx="7223760" cy="307777"/>
          </a:xfrm>
          <a:prstGeom prst="rect">
            <a:avLst/>
          </a:prstGeom>
          <a:noFill/>
        </p:spPr>
        <p:txBody>
          <a:bodyPr wrap="square" lIns="0" tIns="0" rIns="0" bIns="0" anchor="t">
            <a:spAutoFit/>
          </a:bodyPr>
          <a:lstStyle/>
          <a:p>
            <a:pPr>
              <a:spcAft>
                <a:spcPts val="600"/>
              </a:spcAft>
            </a:pPr>
            <a:r>
              <a:rPr lang="en-IN" sz="2000" dirty="0"/>
              <a:t>Final exam scores are also strongly linked to Total Score</a:t>
            </a:r>
            <a:endParaRPr sz="1952" b="0" dirty="0">
              <a:solidFill>
                <a:srgbClr val="112C16"/>
              </a:solidFill>
              <a:latin typeface="Calibri"/>
            </a:endParaRPr>
          </a:p>
        </p:txBody>
      </p:sp>
      <p:sp>
        <p:nvSpPr>
          <p:cNvPr id="368" name="Rounded Rectangle 367"/>
          <p:cNvSpPr/>
          <p:nvPr/>
        </p:nvSpPr>
        <p:spPr>
          <a:xfrm>
            <a:off x="9372600" y="4389120"/>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TextBox 368"/>
          <p:cNvSpPr txBox="1"/>
          <p:nvPr/>
        </p:nvSpPr>
        <p:spPr>
          <a:xfrm>
            <a:off x="9646920" y="4553711"/>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4</a:t>
            </a:r>
            <a:r>
              <a:rPr lang="en-US" sz="2440" b="1" dirty="0">
                <a:solidFill>
                  <a:srgbClr val="112C16"/>
                </a:solidFill>
                <a:latin typeface="Calibri"/>
              </a:rPr>
              <a:t>.</a:t>
            </a:r>
            <a:r>
              <a:rPr sz="2440" b="1" dirty="0">
                <a:solidFill>
                  <a:srgbClr val="112C16"/>
                </a:solidFill>
                <a:latin typeface="Calibri"/>
              </a:rPr>
              <a:t> </a:t>
            </a:r>
            <a:r>
              <a:rPr lang="en-IN" sz="2440" b="1" dirty="0">
                <a:solidFill>
                  <a:srgbClr val="112C16"/>
                </a:solidFill>
                <a:latin typeface="Calibri"/>
              </a:rPr>
              <a:t>Gender Makes Little Difference</a:t>
            </a:r>
            <a:endParaRPr sz="2440" b="1" dirty="0">
              <a:solidFill>
                <a:srgbClr val="112C16"/>
              </a:solidFill>
              <a:latin typeface="Calibri"/>
            </a:endParaRPr>
          </a:p>
        </p:txBody>
      </p:sp>
      <p:sp>
        <p:nvSpPr>
          <p:cNvPr id="370" name="TextBox 369"/>
          <p:cNvSpPr txBox="1"/>
          <p:nvPr/>
        </p:nvSpPr>
        <p:spPr>
          <a:xfrm>
            <a:off x="9646920" y="5102352"/>
            <a:ext cx="7223760" cy="307777"/>
          </a:xfrm>
          <a:prstGeom prst="rect">
            <a:avLst/>
          </a:prstGeom>
          <a:noFill/>
        </p:spPr>
        <p:txBody>
          <a:bodyPr wrap="square" lIns="0" tIns="0" rIns="0" bIns="0" anchor="t">
            <a:spAutoFit/>
          </a:bodyPr>
          <a:lstStyle/>
          <a:p>
            <a:pPr>
              <a:spcAft>
                <a:spcPts val="600"/>
              </a:spcAft>
            </a:pPr>
            <a:r>
              <a:rPr lang="en-IN" sz="2000" dirty="0"/>
              <a:t>Male and female students have </a:t>
            </a:r>
            <a:r>
              <a:rPr lang="en-IN" sz="2000" b="1" dirty="0"/>
              <a:t>nearly identical scores</a:t>
            </a:r>
            <a:endParaRPr sz="1952" b="0" dirty="0">
              <a:solidFill>
                <a:srgbClr val="112C16"/>
              </a:solidFill>
              <a:latin typeface="Calibri"/>
            </a:endParaRPr>
          </a:p>
        </p:txBody>
      </p:sp>
      <p:sp>
        <p:nvSpPr>
          <p:cNvPr id="371" name="Rounded Rectangle 370"/>
          <p:cNvSpPr/>
          <p:nvPr/>
        </p:nvSpPr>
        <p:spPr>
          <a:xfrm>
            <a:off x="1188720" y="6126479"/>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TextBox 371"/>
          <p:cNvSpPr txBox="1"/>
          <p:nvPr/>
        </p:nvSpPr>
        <p:spPr>
          <a:xfrm>
            <a:off x="1417320" y="6246263"/>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5</a:t>
            </a:r>
            <a:r>
              <a:rPr lang="en-US" sz="2440" b="1" dirty="0">
                <a:solidFill>
                  <a:srgbClr val="112C16"/>
                </a:solidFill>
                <a:latin typeface="Calibri"/>
              </a:rPr>
              <a:t>.</a:t>
            </a:r>
            <a:r>
              <a:rPr sz="2440" b="1" dirty="0">
                <a:solidFill>
                  <a:srgbClr val="112C16"/>
                </a:solidFill>
                <a:latin typeface="Calibri"/>
              </a:rPr>
              <a:t> </a:t>
            </a:r>
            <a:r>
              <a:rPr lang="en-IN" sz="2440" b="1" dirty="0">
                <a:solidFill>
                  <a:srgbClr val="112C16"/>
                </a:solidFill>
                <a:latin typeface="Calibri"/>
              </a:rPr>
              <a:t>Department Has Limited Impact</a:t>
            </a:r>
            <a:endParaRPr sz="2440" b="1" dirty="0">
              <a:solidFill>
                <a:srgbClr val="112C16"/>
              </a:solidFill>
              <a:latin typeface="Calibri"/>
            </a:endParaRPr>
          </a:p>
        </p:txBody>
      </p:sp>
      <p:sp>
        <p:nvSpPr>
          <p:cNvPr id="373" name="TextBox 372"/>
          <p:cNvSpPr txBox="1"/>
          <p:nvPr/>
        </p:nvSpPr>
        <p:spPr>
          <a:xfrm>
            <a:off x="1463040" y="6839712"/>
            <a:ext cx="7223760" cy="307777"/>
          </a:xfrm>
          <a:prstGeom prst="rect">
            <a:avLst/>
          </a:prstGeom>
          <a:noFill/>
        </p:spPr>
        <p:txBody>
          <a:bodyPr wrap="square" lIns="0" tIns="0" rIns="0" bIns="0" anchor="t">
            <a:spAutoFit/>
          </a:bodyPr>
          <a:lstStyle/>
          <a:p>
            <a:pPr>
              <a:spcAft>
                <a:spcPts val="600"/>
              </a:spcAft>
            </a:pPr>
            <a:r>
              <a:rPr lang="en-IN" sz="2000" dirty="0"/>
              <a:t>Average scores remain </a:t>
            </a:r>
            <a:r>
              <a:rPr lang="en-IN" sz="2000" b="1" dirty="0"/>
              <a:t>close across departments</a:t>
            </a:r>
            <a:endParaRPr sz="1952" b="0" dirty="0">
              <a:solidFill>
                <a:srgbClr val="112C16"/>
              </a:solidFill>
              <a:latin typeface="Calibri"/>
            </a:endParaRPr>
          </a:p>
        </p:txBody>
      </p:sp>
      <p:sp>
        <p:nvSpPr>
          <p:cNvPr id="374" name="Rounded Rectangle 373"/>
          <p:cNvSpPr/>
          <p:nvPr/>
        </p:nvSpPr>
        <p:spPr>
          <a:xfrm>
            <a:off x="9372600" y="6126479"/>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TextBox 374"/>
          <p:cNvSpPr txBox="1"/>
          <p:nvPr/>
        </p:nvSpPr>
        <p:spPr>
          <a:xfrm>
            <a:off x="9646920" y="6291071"/>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6</a:t>
            </a:r>
            <a:r>
              <a:rPr lang="en-US" sz="2440" b="1" dirty="0">
                <a:solidFill>
                  <a:srgbClr val="112C16"/>
                </a:solidFill>
                <a:latin typeface="Calibri"/>
              </a:rPr>
              <a:t>.</a:t>
            </a:r>
            <a:r>
              <a:rPr sz="2440" b="1" dirty="0">
                <a:solidFill>
                  <a:srgbClr val="112C16"/>
                </a:solidFill>
                <a:latin typeface="Calibri"/>
              </a:rPr>
              <a:t> </a:t>
            </a:r>
            <a:r>
              <a:rPr lang="en-IN" sz="2440" b="1" dirty="0">
                <a:solidFill>
                  <a:srgbClr val="112C16"/>
                </a:solidFill>
                <a:latin typeface="Calibri"/>
              </a:rPr>
              <a:t>Attendance Isn’t a Strong Driver</a:t>
            </a:r>
            <a:endParaRPr sz="2440" b="1" dirty="0">
              <a:solidFill>
                <a:srgbClr val="112C16"/>
              </a:solidFill>
              <a:latin typeface="Calibri"/>
            </a:endParaRPr>
          </a:p>
        </p:txBody>
      </p:sp>
      <p:sp>
        <p:nvSpPr>
          <p:cNvPr id="376" name="TextBox 375"/>
          <p:cNvSpPr txBox="1"/>
          <p:nvPr/>
        </p:nvSpPr>
        <p:spPr>
          <a:xfrm>
            <a:off x="9646920" y="6839712"/>
            <a:ext cx="7223760" cy="307777"/>
          </a:xfrm>
          <a:prstGeom prst="rect">
            <a:avLst/>
          </a:prstGeom>
          <a:noFill/>
        </p:spPr>
        <p:txBody>
          <a:bodyPr wrap="square" lIns="0" tIns="0" rIns="0" bIns="0" anchor="t">
            <a:spAutoFit/>
          </a:bodyPr>
          <a:lstStyle/>
          <a:p>
            <a:pPr>
              <a:spcAft>
                <a:spcPts val="600"/>
              </a:spcAft>
            </a:pPr>
            <a:r>
              <a:rPr lang="en-IN" sz="2000" dirty="0"/>
              <a:t>Attendance shows </a:t>
            </a:r>
            <a:r>
              <a:rPr lang="en-IN" sz="2000" b="1" dirty="0"/>
              <a:t>almost no link</a:t>
            </a:r>
            <a:r>
              <a:rPr lang="en-IN" sz="2000" dirty="0"/>
              <a:t> with Total Score</a:t>
            </a:r>
            <a:endParaRPr sz="1952" b="0" dirty="0">
              <a:solidFill>
                <a:srgbClr val="112C16"/>
              </a:solidFill>
              <a:latin typeface="Calibri"/>
            </a:endParaRPr>
          </a:p>
        </p:txBody>
      </p:sp>
      <p:sp>
        <p:nvSpPr>
          <p:cNvPr id="377" name="Rounded Rectangle 376"/>
          <p:cNvSpPr/>
          <p:nvPr/>
        </p:nvSpPr>
        <p:spPr>
          <a:xfrm>
            <a:off x="1188720" y="7863840"/>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TextBox 377"/>
          <p:cNvSpPr txBox="1"/>
          <p:nvPr/>
        </p:nvSpPr>
        <p:spPr>
          <a:xfrm>
            <a:off x="1417320" y="7992260"/>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7</a:t>
            </a:r>
            <a:r>
              <a:rPr lang="en-US" sz="2440" b="1" dirty="0">
                <a:solidFill>
                  <a:srgbClr val="112C16"/>
                </a:solidFill>
                <a:latin typeface="Calibri"/>
              </a:rPr>
              <a:t>.</a:t>
            </a:r>
            <a:r>
              <a:rPr sz="2440" b="1" dirty="0">
                <a:solidFill>
                  <a:srgbClr val="112C16"/>
                </a:solidFill>
                <a:latin typeface="Calibri"/>
              </a:rPr>
              <a:t> </a:t>
            </a:r>
            <a:r>
              <a:rPr lang="en-IN" sz="2440" b="1" dirty="0">
                <a:solidFill>
                  <a:srgbClr val="112C16"/>
                </a:solidFill>
                <a:latin typeface="Calibri"/>
              </a:rPr>
              <a:t>Study Time Isn’t Everything </a:t>
            </a:r>
            <a:endParaRPr sz="2440" b="1" dirty="0">
              <a:solidFill>
                <a:srgbClr val="112C16"/>
              </a:solidFill>
              <a:latin typeface="Calibri"/>
            </a:endParaRPr>
          </a:p>
        </p:txBody>
      </p:sp>
      <p:sp>
        <p:nvSpPr>
          <p:cNvPr id="379" name="TextBox 378"/>
          <p:cNvSpPr txBox="1"/>
          <p:nvPr/>
        </p:nvSpPr>
        <p:spPr>
          <a:xfrm>
            <a:off x="1463040" y="8577072"/>
            <a:ext cx="7223760" cy="307777"/>
          </a:xfrm>
          <a:prstGeom prst="rect">
            <a:avLst/>
          </a:prstGeom>
          <a:noFill/>
        </p:spPr>
        <p:txBody>
          <a:bodyPr wrap="square" lIns="0" tIns="0" rIns="0" bIns="0" anchor="t">
            <a:spAutoFit/>
          </a:bodyPr>
          <a:lstStyle/>
          <a:p>
            <a:pPr>
              <a:spcAft>
                <a:spcPts val="600"/>
              </a:spcAft>
            </a:pPr>
            <a:r>
              <a:rPr lang="en-IN" sz="2000" dirty="0"/>
              <a:t>Study hours show </a:t>
            </a:r>
            <a:r>
              <a:rPr lang="en-IN" sz="2000" b="1" dirty="0"/>
              <a:t>very little relationship</a:t>
            </a:r>
            <a:r>
              <a:rPr lang="en-IN" sz="2000" dirty="0"/>
              <a:t> with scores</a:t>
            </a:r>
            <a:endParaRPr sz="1952" b="0" dirty="0">
              <a:solidFill>
                <a:srgbClr val="112C16"/>
              </a:solidFill>
              <a:latin typeface="Calibri"/>
            </a:endParaRPr>
          </a:p>
        </p:txBody>
      </p:sp>
      <p:sp>
        <p:nvSpPr>
          <p:cNvPr id="380" name="Rounded Rectangle 379"/>
          <p:cNvSpPr/>
          <p:nvPr/>
        </p:nvSpPr>
        <p:spPr>
          <a:xfrm>
            <a:off x="9372600" y="7863840"/>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TextBox 380"/>
          <p:cNvSpPr txBox="1"/>
          <p:nvPr/>
        </p:nvSpPr>
        <p:spPr>
          <a:xfrm>
            <a:off x="9646920" y="8028431"/>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8</a:t>
            </a:r>
            <a:r>
              <a:rPr lang="en-US" sz="2440" b="1" dirty="0">
                <a:solidFill>
                  <a:srgbClr val="112C16"/>
                </a:solidFill>
                <a:latin typeface="Calibri"/>
              </a:rPr>
              <a:t>. </a:t>
            </a:r>
            <a:r>
              <a:rPr lang="en-IN" sz="2440" b="1" dirty="0">
                <a:solidFill>
                  <a:srgbClr val="112C16"/>
                </a:solidFill>
                <a:latin typeface="Calibri"/>
              </a:rPr>
              <a:t>Well-being Shows Small Differences</a:t>
            </a:r>
            <a:endParaRPr sz="2440" b="1" dirty="0">
              <a:solidFill>
                <a:srgbClr val="112C16"/>
              </a:solidFill>
              <a:latin typeface="Calibri"/>
            </a:endParaRPr>
          </a:p>
        </p:txBody>
      </p:sp>
      <p:sp>
        <p:nvSpPr>
          <p:cNvPr id="382" name="TextBox 381"/>
          <p:cNvSpPr txBox="1"/>
          <p:nvPr/>
        </p:nvSpPr>
        <p:spPr>
          <a:xfrm>
            <a:off x="9646920" y="8577072"/>
            <a:ext cx="7223760" cy="615553"/>
          </a:xfrm>
          <a:prstGeom prst="rect">
            <a:avLst/>
          </a:prstGeom>
          <a:noFill/>
        </p:spPr>
        <p:txBody>
          <a:bodyPr wrap="square" lIns="0" tIns="0" rIns="0" bIns="0" anchor="t">
            <a:spAutoFit/>
          </a:bodyPr>
          <a:lstStyle/>
          <a:p>
            <a:pPr>
              <a:spcAft>
                <a:spcPts val="600"/>
              </a:spcAft>
            </a:pPr>
            <a:r>
              <a:rPr lang="en-IN" sz="2000" dirty="0"/>
              <a:t>Stress and sleep levels </a:t>
            </a:r>
            <a:r>
              <a:rPr lang="en-IN" sz="2000" b="1" dirty="0"/>
              <a:t>change only slightly</a:t>
            </a:r>
            <a:r>
              <a:rPr lang="en-IN" sz="2000" dirty="0"/>
              <a:t> across performance groups</a:t>
            </a:r>
            <a:endParaRPr sz="1952" b="0" dirty="0">
              <a:solidFill>
                <a:srgbClr val="112C16"/>
              </a:solidFill>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Recommendations</a:t>
            </a:r>
            <a:endParaRPr lang="en-US" sz="6400" b="0" strike="noStrike" spc="-1">
              <a:solidFill>
                <a:srgbClr val="000000"/>
              </a:solidFill>
              <a:latin typeface="Arial"/>
            </a:endParaRPr>
          </a:p>
        </p:txBody>
      </p:sp>
      <p:sp>
        <p:nvSpPr>
          <p:cNvPr id="359" name="Rounded Rectangle 358"/>
          <p:cNvSpPr/>
          <p:nvPr/>
        </p:nvSpPr>
        <p:spPr>
          <a:xfrm>
            <a:off x="1371600" y="2743200"/>
            <a:ext cx="7680960" cy="667512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TextBox 359"/>
          <p:cNvSpPr txBox="1"/>
          <p:nvPr/>
        </p:nvSpPr>
        <p:spPr>
          <a:xfrm>
            <a:off x="1645920" y="3187320"/>
            <a:ext cx="7132320" cy="457200"/>
          </a:xfrm>
          <a:prstGeom prst="rect">
            <a:avLst/>
          </a:prstGeom>
          <a:noFill/>
        </p:spPr>
        <p:txBody>
          <a:bodyPr wrap="square" lIns="0" tIns="0" rIns="0" bIns="0" anchor="t">
            <a:spAutoFit/>
          </a:bodyPr>
          <a:lstStyle/>
          <a:p>
            <a:pPr algn="ctr">
              <a:spcAft>
                <a:spcPts val="600"/>
              </a:spcAft>
            </a:pPr>
            <a:r>
              <a:rPr sz="2928" b="1" dirty="0">
                <a:solidFill>
                  <a:srgbClr val="112C16"/>
                </a:solidFill>
                <a:latin typeface="Calibri"/>
              </a:rPr>
              <a:t>Recommendations</a:t>
            </a:r>
          </a:p>
        </p:txBody>
      </p:sp>
      <p:sp>
        <p:nvSpPr>
          <p:cNvPr id="361" name="TextBox 360"/>
          <p:cNvSpPr txBox="1"/>
          <p:nvPr/>
        </p:nvSpPr>
        <p:spPr>
          <a:xfrm>
            <a:off x="1645920" y="4104639"/>
            <a:ext cx="7132320" cy="3693319"/>
          </a:xfrm>
          <a:prstGeom prst="rect">
            <a:avLst/>
          </a:prstGeom>
          <a:noFill/>
        </p:spPr>
        <p:txBody>
          <a:bodyPr wrap="square" lIns="0" tIns="0" rIns="0" bIns="0" anchor="t">
            <a:spAutoFit/>
          </a:bodyPr>
          <a:lstStyle/>
          <a:p>
            <a:pPr marL="342900" lvl="0" indent="-342900">
              <a:buFont typeface="Wingdings" panose="05000000000000000000" pitchFamily="2" charset="2"/>
              <a:buChar char="Ø"/>
            </a:pPr>
            <a:r>
              <a:rPr lang="en-IN" sz="2400" b="1" dirty="0"/>
              <a:t>Focus on Projects</a:t>
            </a:r>
            <a:r>
              <a:rPr lang="en-IN" sz="2400" dirty="0"/>
              <a:t> – Use more practical projects to strengthen learning and performance </a:t>
            </a:r>
          </a:p>
          <a:p>
            <a:pPr marL="342900" lvl="0" indent="-342900">
              <a:buFont typeface="Wingdings" panose="05000000000000000000" pitchFamily="2" charset="2"/>
              <a:buChar char="Ø"/>
            </a:pPr>
            <a:r>
              <a:rPr lang="en-IN" sz="2400" b="1" dirty="0"/>
              <a:t>Support Final Exam Preparation</a:t>
            </a:r>
            <a:r>
              <a:rPr lang="en-IN" sz="2400" dirty="0"/>
              <a:t> – Provide revision plans and practice assessments </a:t>
            </a:r>
          </a:p>
          <a:p>
            <a:pPr marL="342900" lvl="0" indent="-342900">
              <a:buFont typeface="Wingdings" panose="05000000000000000000" pitchFamily="2" charset="2"/>
              <a:buChar char="Ø"/>
            </a:pPr>
            <a:r>
              <a:rPr lang="en-IN" sz="2400" b="1" dirty="0"/>
              <a:t>Identify Struggling Students Early</a:t>
            </a:r>
            <a:r>
              <a:rPr lang="en-IN" sz="2400" dirty="0"/>
              <a:t> – Monitor students with consistently low grades</a:t>
            </a:r>
          </a:p>
          <a:p>
            <a:pPr marL="342900" lvl="0" indent="-342900">
              <a:buFont typeface="Wingdings" panose="05000000000000000000" pitchFamily="2" charset="2"/>
              <a:buChar char="Ø"/>
            </a:pPr>
            <a:r>
              <a:rPr lang="en-IN" sz="2400" b="1" dirty="0"/>
              <a:t>Encourage Consistent Academic Work</a:t>
            </a:r>
            <a:r>
              <a:rPr lang="en-IN" sz="2400" dirty="0"/>
              <a:t> – Give regular assignments, quizzes, and feedback </a:t>
            </a:r>
          </a:p>
          <a:p>
            <a:pPr marL="342900" lvl="0" indent="-342900">
              <a:buFont typeface="Wingdings" panose="05000000000000000000" pitchFamily="2" charset="2"/>
              <a:buChar char="Ø"/>
            </a:pPr>
            <a:r>
              <a:rPr lang="en-IN" sz="2400" b="1" dirty="0"/>
              <a:t>Monitor Student Well-being</a:t>
            </a:r>
            <a:r>
              <a:rPr lang="en-IN" sz="2400" dirty="0"/>
              <a:t> – Keep track of stress and sleep as supporting factors</a:t>
            </a:r>
          </a:p>
        </p:txBody>
      </p:sp>
      <p:sp>
        <p:nvSpPr>
          <p:cNvPr id="362" name="Rounded Rectangle 361"/>
          <p:cNvSpPr/>
          <p:nvPr/>
        </p:nvSpPr>
        <p:spPr>
          <a:xfrm>
            <a:off x="9418320" y="2743200"/>
            <a:ext cx="7680960" cy="6675120"/>
          </a:xfrm>
          <a:prstGeom prst="roundRect">
            <a:avLst>
              <a:gd name="adj" fmla="val 8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TextBox 362"/>
          <p:cNvSpPr txBox="1"/>
          <p:nvPr/>
        </p:nvSpPr>
        <p:spPr>
          <a:xfrm>
            <a:off x="9692640" y="3187320"/>
            <a:ext cx="7132320" cy="457200"/>
          </a:xfrm>
          <a:prstGeom prst="rect">
            <a:avLst/>
          </a:prstGeom>
          <a:noFill/>
        </p:spPr>
        <p:txBody>
          <a:bodyPr wrap="square" lIns="0" tIns="0" rIns="0" bIns="0" anchor="t">
            <a:spAutoFit/>
          </a:bodyPr>
          <a:lstStyle/>
          <a:p>
            <a:pPr algn="ctr">
              <a:spcAft>
                <a:spcPts val="600"/>
              </a:spcAft>
            </a:pPr>
            <a:r>
              <a:rPr sz="2928" b="1" dirty="0">
                <a:solidFill>
                  <a:srgbClr val="112C16"/>
                </a:solidFill>
                <a:latin typeface="Calibri"/>
              </a:rPr>
              <a:t>Next Steps</a:t>
            </a:r>
          </a:p>
        </p:txBody>
      </p:sp>
      <p:sp>
        <p:nvSpPr>
          <p:cNvPr id="364" name="TextBox 363"/>
          <p:cNvSpPr txBox="1"/>
          <p:nvPr/>
        </p:nvSpPr>
        <p:spPr>
          <a:xfrm>
            <a:off x="9784080" y="4104639"/>
            <a:ext cx="7132320" cy="3693319"/>
          </a:xfrm>
          <a:prstGeom prst="rect">
            <a:avLst/>
          </a:prstGeom>
          <a:noFill/>
        </p:spPr>
        <p:txBody>
          <a:bodyPr wrap="square" lIns="0" tIns="0" rIns="0" bIns="0" anchor="t">
            <a:spAutoFit/>
          </a:bodyPr>
          <a:lstStyle/>
          <a:p>
            <a:pPr marL="342900" lvl="0" indent="-342900">
              <a:buFont typeface="Wingdings" panose="05000000000000000000" pitchFamily="2" charset="2"/>
              <a:buChar char="Ø"/>
            </a:pPr>
            <a:r>
              <a:rPr lang="en-IN" sz="2400" b="1" dirty="0"/>
              <a:t>Build an Early-Warning System</a:t>
            </a:r>
            <a:r>
              <a:rPr lang="en-IN" sz="2400" dirty="0"/>
              <a:t> – Identify students who may need academic support. </a:t>
            </a:r>
          </a:p>
          <a:p>
            <a:pPr marL="342900" lvl="0" indent="-342900">
              <a:buFont typeface="Wingdings" panose="05000000000000000000" pitchFamily="2" charset="2"/>
              <a:buChar char="Ø"/>
            </a:pPr>
            <a:r>
              <a:rPr lang="en-IN" sz="2400" b="1" dirty="0"/>
              <a:t>Track Performance Over Time</a:t>
            </a:r>
            <a:r>
              <a:rPr lang="en-IN" sz="2400" dirty="0"/>
              <a:t> – Compare student progress across semesters. </a:t>
            </a:r>
          </a:p>
          <a:p>
            <a:pPr marL="342900" lvl="0" indent="-342900">
              <a:buFont typeface="Wingdings" panose="05000000000000000000" pitchFamily="2" charset="2"/>
              <a:buChar char="Ø"/>
            </a:pPr>
            <a:r>
              <a:rPr lang="en-IN" sz="2400" b="1" dirty="0"/>
              <a:t>Explore More Factors</a:t>
            </a:r>
            <a:r>
              <a:rPr lang="en-IN" sz="2400" dirty="0"/>
              <a:t> – Analyse factors such as learning methods, motivation, and family support. </a:t>
            </a:r>
          </a:p>
          <a:p>
            <a:pPr marL="342900" lvl="0" indent="-342900">
              <a:buFont typeface="Wingdings" panose="05000000000000000000" pitchFamily="2" charset="2"/>
              <a:buChar char="Ø"/>
            </a:pPr>
            <a:r>
              <a:rPr lang="en-IN" sz="2400" b="1" dirty="0"/>
              <a:t>Create Personalized Support</a:t>
            </a:r>
            <a:r>
              <a:rPr lang="en-IN" sz="2400" dirty="0"/>
              <a:t> – Use student-level insights to plan targeted interventions. </a:t>
            </a:r>
          </a:p>
          <a:p>
            <a:pPr marL="342900" lvl="0" indent="-342900">
              <a:buFont typeface="Wingdings" panose="05000000000000000000" pitchFamily="2" charset="2"/>
              <a:buChar char="Ø"/>
            </a:pPr>
            <a:r>
              <a:rPr lang="en-IN" sz="2400" b="1" dirty="0"/>
              <a:t>Collect More Data</a:t>
            </a:r>
            <a:r>
              <a:rPr lang="en-IN" sz="2400" dirty="0"/>
              <a:t> – Add future-semester data to validate and improve the findings.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Conclusion</a:t>
            </a:r>
            <a:endParaRPr lang="en-US" sz="6400" b="0" strike="noStrike" spc="-1">
              <a:solidFill>
                <a:srgbClr val="000000"/>
              </a:solidFill>
              <a:latin typeface="Arial"/>
            </a:endParaRPr>
          </a:p>
        </p:txBody>
      </p:sp>
      <p:sp>
        <p:nvSpPr>
          <p:cNvPr id="359" name="TextBox 358"/>
          <p:cNvSpPr txBox="1"/>
          <p:nvPr/>
        </p:nvSpPr>
        <p:spPr>
          <a:xfrm>
            <a:off x="1828800" y="2743200"/>
            <a:ext cx="14630400" cy="1477328"/>
          </a:xfrm>
          <a:prstGeom prst="rect">
            <a:avLst/>
          </a:prstGeom>
          <a:noFill/>
        </p:spPr>
        <p:txBody>
          <a:bodyPr wrap="square" lIns="0" tIns="0" rIns="0" bIns="0" anchor="t">
            <a:spAutoFit/>
          </a:bodyPr>
          <a:lstStyle/>
          <a:p>
            <a:pPr algn="ctr">
              <a:spcAft>
                <a:spcPts val="600"/>
              </a:spcAft>
            </a:pPr>
            <a:r>
              <a:rPr lang="en-IN" sz="3200" dirty="0"/>
              <a:t>This analysis highlights the key academic and student factors linked with performance and shows how data can support early identification, targeted support, and better learning outcomes</a:t>
            </a:r>
            <a:endParaRPr sz="2928" dirty="0">
              <a:solidFill>
                <a:srgbClr val="112C16"/>
              </a:solidFill>
              <a:latin typeface="Calibri"/>
            </a:endParaRPr>
          </a:p>
        </p:txBody>
      </p:sp>
      <p:sp>
        <p:nvSpPr>
          <p:cNvPr id="360" name="Rounded Rectangle 359"/>
          <p:cNvSpPr/>
          <p:nvPr/>
        </p:nvSpPr>
        <p:spPr>
          <a:xfrm>
            <a:off x="1371600" y="6035040"/>
            <a:ext cx="3749039" cy="219456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TextBox 360"/>
          <p:cNvSpPr txBox="1"/>
          <p:nvPr/>
        </p:nvSpPr>
        <p:spPr>
          <a:xfrm>
            <a:off x="1554480" y="6217920"/>
            <a:ext cx="3383279" cy="109728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5,000</a:t>
            </a:r>
          </a:p>
        </p:txBody>
      </p:sp>
      <p:sp>
        <p:nvSpPr>
          <p:cNvPr id="362" name="TextBox 361"/>
          <p:cNvSpPr txBox="1"/>
          <p:nvPr/>
        </p:nvSpPr>
        <p:spPr>
          <a:xfrm>
            <a:off x="1554480" y="7307884"/>
            <a:ext cx="3383279" cy="833932"/>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Records analysed</a:t>
            </a:r>
          </a:p>
        </p:txBody>
      </p:sp>
      <p:sp>
        <p:nvSpPr>
          <p:cNvPr id="363" name="Rounded Rectangle 362"/>
          <p:cNvSpPr/>
          <p:nvPr/>
        </p:nvSpPr>
        <p:spPr>
          <a:xfrm>
            <a:off x="5394960" y="6035040"/>
            <a:ext cx="3749039" cy="219456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TextBox 363"/>
          <p:cNvSpPr txBox="1"/>
          <p:nvPr/>
        </p:nvSpPr>
        <p:spPr>
          <a:xfrm>
            <a:off x="5577840" y="6217920"/>
            <a:ext cx="3383279" cy="109728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29</a:t>
            </a:r>
          </a:p>
        </p:txBody>
      </p:sp>
      <p:sp>
        <p:nvSpPr>
          <p:cNvPr id="365" name="TextBox 364"/>
          <p:cNvSpPr txBox="1"/>
          <p:nvPr/>
        </p:nvSpPr>
        <p:spPr>
          <a:xfrm>
            <a:off x="5577840" y="7307884"/>
            <a:ext cx="3383279" cy="833932"/>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Columns after cleaning</a:t>
            </a:r>
          </a:p>
        </p:txBody>
      </p:sp>
      <p:sp>
        <p:nvSpPr>
          <p:cNvPr id="366" name="Rounded Rectangle 365"/>
          <p:cNvSpPr/>
          <p:nvPr/>
        </p:nvSpPr>
        <p:spPr>
          <a:xfrm>
            <a:off x="9418320" y="6035040"/>
            <a:ext cx="3749039" cy="219456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TextBox 366"/>
          <p:cNvSpPr txBox="1"/>
          <p:nvPr/>
        </p:nvSpPr>
        <p:spPr>
          <a:xfrm>
            <a:off x="9601200" y="6297200"/>
            <a:ext cx="3383279" cy="938719"/>
          </a:xfrm>
          <a:prstGeom prst="rect">
            <a:avLst/>
          </a:prstGeom>
          <a:noFill/>
        </p:spPr>
        <p:txBody>
          <a:bodyPr wrap="square" lIns="0" tIns="0" rIns="0" bIns="0" anchor="ctr">
            <a:spAutoFit/>
          </a:bodyPr>
          <a:lstStyle/>
          <a:p>
            <a:pPr algn="ctr">
              <a:spcAft>
                <a:spcPts val="600"/>
              </a:spcAft>
            </a:pPr>
            <a:r>
              <a:rPr lang="en-US" sz="6100" b="1" dirty="0">
                <a:solidFill>
                  <a:srgbClr val="F1F0E7"/>
                </a:solidFill>
                <a:latin typeface="Calibri"/>
              </a:rPr>
              <a:t>20</a:t>
            </a:r>
            <a:endParaRPr sz="6100" b="1" dirty="0">
              <a:solidFill>
                <a:srgbClr val="F1F0E7"/>
              </a:solidFill>
              <a:latin typeface="Calibri"/>
            </a:endParaRPr>
          </a:p>
        </p:txBody>
      </p:sp>
      <p:sp>
        <p:nvSpPr>
          <p:cNvPr id="368" name="TextBox 367"/>
          <p:cNvSpPr txBox="1"/>
          <p:nvPr/>
        </p:nvSpPr>
        <p:spPr>
          <a:xfrm>
            <a:off x="9601200" y="7307884"/>
            <a:ext cx="3383279" cy="833932"/>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Visualizations</a:t>
            </a:r>
          </a:p>
        </p:txBody>
      </p:sp>
      <p:sp>
        <p:nvSpPr>
          <p:cNvPr id="369" name="Rounded Rectangle 368"/>
          <p:cNvSpPr/>
          <p:nvPr/>
        </p:nvSpPr>
        <p:spPr>
          <a:xfrm>
            <a:off x="13441680" y="6035040"/>
            <a:ext cx="3749039" cy="219456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TextBox 369"/>
          <p:cNvSpPr txBox="1"/>
          <p:nvPr/>
        </p:nvSpPr>
        <p:spPr>
          <a:xfrm>
            <a:off x="13624560" y="6217920"/>
            <a:ext cx="3383279" cy="109728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8</a:t>
            </a:r>
          </a:p>
        </p:txBody>
      </p:sp>
      <p:sp>
        <p:nvSpPr>
          <p:cNvPr id="371" name="TextBox 370"/>
          <p:cNvSpPr txBox="1"/>
          <p:nvPr/>
        </p:nvSpPr>
        <p:spPr>
          <a:xfrm>
            <a:off x="13624560" y="7307884"/>
            <a:ext cx="3383279" cy="833932"/>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Key insights</a:t>
            </a:r>
          </a:p>
        </p:txBody>
      </p:sp>
      <p:sp>
        <p:nvSpPr>
          <p:cNvPr id="372" name="TextBox 371"/>
          <p:cNvSpPr txBox="1"/>
          <p:nvPr/>
        </p:nvSpPr>
        <p:spPr>
          <a:xfrm>
            <a:off x="1828800" y="8686800"/>
            <a:ext cx="14630400" cy="731520"/>
          </a:xfrm>
          <a:prstGeom prst="rect">
            <a:avLst/>
          </a:prstGeom>
          <a:noFill/>
        </p:spPr>
        <p:txBody>
          <a:bodyPr wrap="square" lIns="0" tIns="0" rIns="0" bIns="0" anchor="t">
            <a:spAutoFit/>
          </a:bodyPr>
          <a:lstStyle/>
          <a:p>
            <a:pPr algn="ctr">
              <a:spcAft>
                <a:spcPts val="600"/>
              </a:spcAft>
            </a:pPr>
            <a:r>
              <a:rPr sz="3660" b="1">
                <a:solidFill>
                  <a:srgbClr val="112C16"/>
                </a:solidFill>
                <a:latin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569</TotalTime>
  <Words>1320</Words>
  <Application>Microsoft Office PowerPoint</Application>
  <PresentationFormat>Custom</PresentationFormat>
  <Paragraphs>247</Paragraphs>
  <Slides>22</Slides>
  <Notes>0</Notes>
  <HiddenSlides>0</HiddenSlides>
  <MMClips>0</MMClips>
  <ScaleCrop>false</ScaleCrop>
  <HeadingPairs>
    <vt:vector size="6" baseType="variant">
      <vt:variant>
        <vt:lpstr>Fonts Used</vt:lpstr>
      </vt:variant>
      <vt:variant>
        <vt:i4>11</vt:i4>
      </vt:variant>
      <vt:variant>
        <vt:lpstr>Theme</vt:lpstr>
      </vt:variant>
      <vt:variant>
        <vt:i4>11</vt:i4>
      </vt:variant>
      <vt:variant>
        <vt:lpstr>Slide Titles</vt:lpstr>
      </vt:variant>
      <vt:variant>
        <vt:i4>22</vt:i4>
      </vt:variant>
    </vt:vector>
  </HeadingPairs>
  <TitlesOfParts>
    <vt:vector size="44" baseType="lpstr">
      <vt:lpstr>Anton</vt:lpstr>
      <vt:lpstr>Arial</vt:lpstr>
      <vt:lpstr>Calibri</vt:lpstr>
      <vt:lpstr>Glacial Indifference</vt:lpstr>
      <vt:lpstr>Glacial Indifference Bold</vt:lpstr>
      <vt:lpstr>Montserrat Bold</vt:lpstr>
      <vt:lpstr>Open Sans</vt:lpstr>
      <vt:lpstr>Open Sans Bold</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Arya R</cp:lastModifiedBy>
  <cp:revision>2</cp:revision>
  <dcterms:modified xsi:type="dcterms:W3CDTF">2026-10-06T15:50:22Z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DAHVcquoPwo</dc:identifier>
  <dc:language>en-US</dc:language>
  <cp:lastModifiedBy>Arya R</cp:lastModifiedBy>
  <dcterms:modified xsi:type="dcterms:W3CDTF">2026-09-22T16:10:26Z</dcterms:modified>
  <cp:revision>2</cp:revision>
  <dc:subject/>
  <dc:title>Green and Cream Modern Data Analyst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r8>12</vt:r8>
  </property>
</Properties>
</file>